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315200" y="-914400"/>
            <a:ext cx="5486400" cy="54864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54880" y="1371600"/>
            <a:ext cx="2743200" cy="36576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SOFTWARE CUP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AlgoPilot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Microsoft YaHei"/>
              </a:defRPr>
            </a:pPr>
            <a:r>
              <a:t>多智能体驱动的算法个性化学习平台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基于 22+ AI 智能体协作 · 6维学生画像 · 自研DAG编排引擎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4343400"/>
            <a:ext cx="1920239" cy="32004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18CF8"/>
                </a:solidFill>
                <a:latin typeface="Microsoft YaHei"/>
              </a:defRPr>
            </a:pPr>
            <a:r>
              <a:t>Vue 3 + FastAPI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399" y="4389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|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59" y="4343400"/>
            <a:ext cx="2139696" cy="32004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18CF8"/>
                </a:solidFill>
                <a:latin typeface="Microsoft YaHei"/>
              </a:defRPr>
            </a:pPr>
            <a:r>
              <a:t>iFlytek Spark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5" y="43891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|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49055" y="4343400"/>
            <a:ext cx="1810512" cy="32004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818CF8"/>
                </a:solidFill>
                <a:latin typeface="Microsoft YaHei"/>
              </a:defRPr>
            </a:pPr>
            <a:r>
              <a:t>Multi-Agent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DSA 教学面临的困境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数据结构与算法课程的教学现状与挑战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123444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Microsoft YaHei"/>
              </a:defRPr>
            </a:pPr>
            <a:r>
              <a:t>千人一面的教学模式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传统课堂统一进度，无法适应不同基础学生的个性化需求。64课时覆盖14章内容，学困生跟不上，优等生吃不饱。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788920"/>
            <a:ext cx="5303520" cy="123444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Microsoft YaHei"/>
              </a:defRPr>
            </a:pPr>
            <a:r>
              <a:t>代码执行的"黑盒"困境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学生写完代码只看到"通过"或"错误"，无法直观理解算法执行过程。链表指针如何移动？递归栈如何展开？全凭想象。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06240"/>
            <a:ext cx="5303520" cy="123444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343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Microsoft YaHei"/>
              </a:defRPr>
            </a:pPr>
            <a:r>
              <a:t>AI 辅导缺乏可信度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通用AI助手容易产生幻觉，生成错误的算法解释或虚假的LeetCode题目，学生难以辨别内容可靠性。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371600"/>
            <a:ext cx="5303520" cy="123444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08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Microsoft YaHei"/>
              </a:defRPr>
            </a:pPr>
            <a:r>
              <a:t>诊断反馈浅层化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82880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Online Judge 只告知"Wrong Answer"，无法定位错误根源、分析复杂度、提供针对性修复建议。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788920"/>
            <a:ext cx="5303520" cy="123444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29260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97316"/>
                </a:solidFill>
                <a:latin typeface="Microsoft YaHei"/>
              </a:defRPr>
            </a:pPr>
            <a:r>
              <a:t>学习过程不可追踪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24612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学生的学习轨迹、知识掌握度、薄弱环节缺乏系统化记录，教师无法获取班级级学情分析。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51960"/>
            <a:ext cx="5303520" cy="1645920"/>
          </a:xfrm>
          <a:prstGeom prst="roundRect">
            <a:avLst/>
          </a:prstGeom>
          <a:solidFill>
            <a:srgbClr val="1A15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Microsoft YaHei"/>
              </a:defRPr>
            </a:pPr>
            <a:r>
              <a:t>核心矛盾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75488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2E8F0"/>
                </a:solidFill>
                <a:latin typeface="Microsoft YaHei"/>
              </a:defRPr>
            </a:pPr>
            <a:r>
              <a:t>DSA课程需要深度个性化辅导，但高校师资配比难以实现"一对一"教学。</a:t>
            </a:r>
            <a:br/>
            <a:r>
              <a:t>AI + 多智能体协作是破解这一矛盾的关键路径。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AlgoPilot 是什么？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一句话定义 · 核心价值主张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247120" cy="1188720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基于多智能体协作的 AI 驱动数据结构与算法个性化学习平台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22+ 专业 AI 智能体协同工作，覆盖 画像→路径→资源→评测→诊断→记忆 全流程，实现真正的"千人千面"个性化学习。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834640"/>
            <a:ext cx="2651760" cy="1645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多智能体协作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94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22+ AI 智能体分层协作</a:t>
            </a:r>
            <a:br/>
            <a:r>
              <a:t>自研DAG编排引擎统一调度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834640"/>
            <a:ext cx="2651760" cy="1645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1188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429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千人千面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3794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6维学生画像 + DAG路径规划</a:t>
            </a:r>
            <a:br/>
            <a:r>
              <a:t>智能资源推荐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834640"/>
            <a:ext cx="2651760" cy="1645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29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代码可视化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94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14种数据结构追踪组件</a:t>
            </a:r>
            <a:br/>
            <a:r>
              <a:t>Python/C++双语支持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280" y="2834640"/>
            <a:ext cx="2651760" cy="1645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297180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4290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安全可信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3794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三层防护体系</a:t>
            </a:r>
            <a:br/>
            <a:r>
              <a:t>反幻觉管线 + Fail-closed策略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754880"/>
            <a:ext cx="1280160" cy="91440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846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18CF8"/>
                </a:solidFill>
                <a:latin typeface="Microsoft YaHei"/>
              </a:defRPr>
            </a:pPr>
            <a:r>
              <a:t>22+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57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AI 智能体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01952" y="4754880"/>
            <a:ext cx="1280160" cy="91440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01952" y="4846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18CF8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01952" y="5257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课程章节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46704" y="4754880"/>
            <a:ext cx="1280160" cy="91440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6704" y="4846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18CF8"/>
                </a:solidFill>
                <a:latin typeface="Microsoft YaHei"/>
              </a:defRPr>
            </a:pPr>
            <a:r>
              <a:t>120+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46704" y="5257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算法题目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91456" y="4754880"/>
            <a:ext cx="1280160" cy="91440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91456" y="4846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18CF8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1456" y="5257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互动游戏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8" y="4754880"/>
            <a:ext cx="1280160" cy="91440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36208" y="4846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18CF8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36208" y="5257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资源类型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680960" y="4754880"/>
            <a:ext cx="1280160" cy="91440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80960" y="4846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18CF8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0" y="5257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画像维度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25712" y="4754880"/>
            <a:ext cx="1280160" cy="91440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846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18CF8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25712" y="5257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追踪组件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570464" y="4754880"/>
            <a:ext cx="1280160" cy="91440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70464" y="4846320"/>
            <a:ext cx="1280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818CF8"/>
                </a:solidFill>
                <a:latin typeface="Microsoft YaHei"/>
              </a:defRPr>
            </a:pPr>
            <a:r>
              <a:t>30+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70464" y="52578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自动化测试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6366F1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智能体应用价值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Multi-Agent Application Value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22+ 智能体 · 6 大层级架构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每个智能体专注单一职责，通过 DAG 编排引擎协同工作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645920" cy="685800"/>
          </a:xfrm>
          <a:prstGeom prst="roundRect">
            <a:avLst/>
          </a:prstGeom>
          <a:solidFill>
            <a:srgbClr val="2F0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EC4899"/>
                </a:solidFill>
                <a:latin typeface="Microsoft YaHei"/>
              </a:defRPr>
            </a:pPr>
            <a:r>
              <a:t>Profiling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1463040"/>
            <a:ext cx="2587751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ProfilingAgent - 6维画像构建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194560"/>
            <a:ext cx="1645920" cy="685800"/>
          </a:xfrm>
          <a:prstGeom prst="roundRect">
            <a:avLst/>
          </a:prstGeom>
          <a:solidFill>
            <a:srgbClr val="131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6366F1"/>
                </a:solidFill>
                <a:latin typeface="Microsoft YaHei"/>
              </a:defRPr>
            </a:pPr>
            <a:r>
              <a:t>Resource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286000"/>
            <a:ext cx="1783080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ConceptAgent 讲解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42232" y="2286000"/>
            <a:ext cx="1783080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GraphAgent 思维导图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8464" y="2286000"/>
            <a:ext cx="1581912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QuizAgent 练习题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53528" y="2286000"/>
            <a:ext cx="2084831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ScenarioAgent 代码场景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11511" y="2286000"/>
            <a:ext cx="1783080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TraceAgent 追踪动画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667743" y="2286000"/>
            <a:ext cx="1984248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ReadingAgent 阅读材料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25143" y="2286000"/>
            <a:ext cx="1581912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PptAgent 演示文稿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380207" y="2286000"/>
            <a:ext cx="2386584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VideoScriptAgent 视频脚本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017520"/>
            <a:ext cx="1645920" cy="685800"/>
          </a:xfrm>
          <a:prstGeom prst="roundRect">
            <a:avLst/>
          </a:prstGeom>
          <a:solidFill>
            <a:srgbClr val="01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6B6D4"/>
                </a:solidFill>
                <a:latin typeface="Microsoft YaHei"/>
              </a:defRPr>
            </a:pPr>
            <a:r>
              <a:t>Path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3108960"/>
            <a:ext cx="1984248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PlannerAgent 路径规划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108960"/>
            <a:ext cx="2587751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LearningPathAgent DAG排序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1645920" cy="685800"/>
          </a:xfrm>
          <a:prstGeom prst="roundRect">
            <a:avLst/>
          </a:prstGeom>
          <a:solidFill>
            <a:srgbClr val="0627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22C55E"/>
                </a:solidFill>
                <a:latin typeface="Microsoft YaHei"/>
              </a:defRPr>
            </a:pPr>
            <a:r>
              <a:t>Tutor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931920"/>
            <a:ext cx="1783080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TutorAgent AI辅导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42232" y="3931920"/>
            <a:ext cx="2386584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OjAssistantAgent OJ助手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01968" y="3931920"/>
            <a:ext cx="2386584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OjDiagnosisAgent 深度诊断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663440"/>
            <a:ext cx="1645920" cy="685800"/>
          </a:xfrm>
          <a:prstGeom prst="roundRect">
            <a:avLst/>
          </a:prstGeom>
          <a:solidFill>
            <a:srgbClr val="3117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97316"/>
                </a:solidFill>
                <a:latin typeface="Microsoft YaHei"/>
              </a:defRPr>
            </a:pPr>
            <a:r>
              <a:t>Safety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286000" y="4754880"/>
            <a:ext cx="2386584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ASTAnalyzerAgent 静态分析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45736" y="4754880"/>
            <a:ext cx="2788920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ContentVerifierAgent 内容验证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07808" y="4754880"/>
            <a:ext cx="1883664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SafetyAgent 安全审计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564624" y="4754880"/>
            <a:ext cx="2587751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KnowledgeRetriever 知识检索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486400"/>
            <a:ext cx="1645920" cy="685800"/>
          </a:xfrm>
          <a:prstGeom prst="roundRect">
            <a:avLst/>
          </a:prstGeom>
          <a:solidFill>
            <a:srgbClr val="2111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A855F7"/>
                </a:solidFill>
                <a:latin typeface="Microsoft YaHei"/>
              </a:defRPr>
            </a:pPr>
            <a:r>
              <a:t>Eval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5577840"/>
            <a:ext cx="2286000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EvaluationAgent 效果评估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45152" y="5577840"/>
            <a:ext cx="2084831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MasteryAgent 掌握度评估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03135" y="5577840"/>
            <a:ext cx="2185415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EvaluatorAgent 挣扎检测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61702" y="5577840"/>
            <a:ext cx="1581912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D3A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E2E8F0"/>
                </a:solidFill>
                <a:latin typeface="Microsoft YaHei"/>
              </a:defRPr>
            </a:pPr>
            <a:r>
              <a:t>EventBus 事件编排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智能体如何创造教育价值？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从"通用AI问答"到"专业教育智能体协作"的范式升级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2103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精准画像 — 知道学生是谁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ProfilingAgent 通过对话式交互，自动构建6维学生画像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566160" cy="2103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🗺️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智能路径 — 知道学什么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PlannerAgent 基于DAG拓扑排序+LLM润色，个性化学习路径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566160" cy="2103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54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按需生成 — 知道怎么学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37744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8个资源生成智能体按需产出讲义、导图、练习题、代码示例等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3566160" cy="2103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480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深度诊断 — 知道错在哪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OjDiagnosisAgent 执行8步诊断管线，从边界用例到修复建议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840480"/>
            <a:ext cx="3566160" cy="2103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480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安全守护 — 知道是否可信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三层防护确保AI生成内容的准确性和安全性，Fail-closed策略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840480"/>
            <a:ext cx="3566160" cy="2103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0233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4805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持续进化 — 知道如何进步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84632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EventBus事件驱动闭环：学习行为→掌握度重算→路径调整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6B6D4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前沿AI技术融合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Cutting-Edge AI Technology Integration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自研 DAG 编排引擎 — 零依赖的 LangGraph 同构实现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核心创新：从零构建轻量级多智能体工作流编排系统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029200" cy="1097280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18CF8"/>
                </a:solidFill>
                <a:latin typeface="Microsoft YaHei"/>
              </a:defRPr>
            </a:pPr>
            <a:r>
              <a:t>为什么自研？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LangGraph等框架依赖链重、部署复杂。我们从零实现了一个LangGraph同构的DAG编排引擎，零外部依赖，核心仅1649行代码。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●  DAG 有向无环图工作流定义与执行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035808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●  并行阶段支持 (PARALLEL_PHASES)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19856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●  流水线上下文共享 (Pipeline Context)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803904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●  失败关闭策略 (Fail-closed)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8795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●  重试机制 (最多2次) + 降级回退模板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5720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●  SSE 流式响应，实时进度推送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3716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Microsoft YaHei"/>
              </a:defRPr>
            </a:pPr>
            <a:r>
              <a:t>资源生成 DAG 工作流 — 5 阶段管线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1828800"/>
            <a:ext cx="5760720" cy="6858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8745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366F1"/>
                </a:solidFill>
                <a:latin typeface="Microsoft YaHei"/>
              </a:defRPr>
            </a:pPr>
            <a:r>
              <a:t>Phase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1031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RAG 检索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1031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BM25语义搜索 + 同义词扩展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68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697480"/>
            <a:ext cx="5760720" cy="6858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74320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2C55E"/>
                </a:solidFill>
                <a:latin typeface="Microsoft YaHei"/>
              </a:defRPr>
            </a:pPr>
            <a:r>
              <a:t>Phase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29718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Agent 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971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角色智能体 + 个性化内容生成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3375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3566160"/>
            <a:ext cx="5760720" cy="6858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3611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Microsoft YaHei"/>
              </a:defRPr>
            </a:pPr>
            <a:r>
              <a:t>Phase 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38404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内容验证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3840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反幻觉校验 + 知识库比对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206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4434839"/>
            <a:ext cx="5760720" cy="6858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480559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Microsoft YaHei"/>
              </a:defRPr>
            </a:pPr>
            <a: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470915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安全审计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7091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敏感词过滤 + Prompt注入检测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5074919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943600" y="5303520"/>
            <a:ext cx="5760720" cy="6858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0" y="5349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Microsoft YaHei"/>
              </a:defRPr>
            </a:pPr>
            <a:r>
              <a:t>Phase 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577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持久化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55778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发布/草稿 + 证据链记录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前沿 AI 技术融合思路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六大核心技术融合，构建可信赖的教育AI系统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2103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RAG 检索增强生成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自研 Okapi BM25 关键词检索 + 中英文同义词扩展，无需向量数据库，零外部依赖。97KB 预分块知识库。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103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Multi-Agent 协作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22+ 专业智能体分层协作，每个智能体专注单一职责。自研 DAG 编排引擎统一调度。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71600"/>
            <a:ext cx="3566160" cy="2103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544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反幻觉验证管线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01168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ContentVerifierAgent 通过知识库比对验证AI生成内容的准确性。Fail-closed策略确保质量。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3566160" cy="2103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代码追踪可视化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805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Python sys.settrace + C++ GDB MI 接口提取 STL 容器状态。14种数据结构追踪组件。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3840480"/>
            <a:ext cx="3566160" cy="2103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贝叶斯知识追踪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4805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BKT-lite 模型追踪学生知识掌握概率与趋势。6维加权评分动态调整学习路径。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840480"/>
            <a:ext cx="3566160" cy="21031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4023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事件驱动架构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480560"/>
            <a:ext cx="30175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EventBus 闭环协调：OJ提交失败→诊断→记忆写入→掌握度重算→路径调整。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代码追踪与可视化 — 打破代码执行"黑盒"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14 种数据结构追踪组件，让算法执行过程"看得见"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23444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LinkedList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链表节点追踪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1371600"/>
            <a:ext cx="123444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828800" y="14630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Tree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1031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二叉树遍历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0" y="1371600"/>
            <a:ext cx="123444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14630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8288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Matrix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1031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矩阵网格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0" y="1371600"/>
            <a:ext cx="123444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4630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🗂️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Dict/Hash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1031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哈希表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743200"/>
            <a:ext cx="123444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8346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2004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Stack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747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栈操作场景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28800" y="2743200"/>
            <a:ext cx="123444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0" y="28346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2004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Queue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34747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队列操作场景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2743200"/>
            <a:ext cx="123444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00400" y="28346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32004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SlidingWindow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0" y="34747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滑动窗口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0" y="2743200"/>
            <a:ext cx="123444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0" y="2834640"/>
            <a:ext cx="1234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320040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Memory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34747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内存布局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●  Python 追踪：sys.settrace 逐行记录变量变化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18745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●  C++ 追踪：GDB MI 接口提取 STL 容器状态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2377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●  14种可视化组件：覆盖主要数据结构类型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28803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●  逐步回放：支持暂停、快进、跳转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33832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●  叙述生成：模板+LLM双模式自然语言描述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114800"/>
            <a:ext cx="5303520" cy="1097280"/>
          </a:xfrm>
          <a:prstGeom prst="roundRect">
            <a:avLst/>
          </a:prstGeom>
          <a:solidFill>
            <a:srgbClr val="0A182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Microsoft YaHei"/>
              </a:defRPr>
            </a:pPr>
            <a:r>
              <a:t>技术亮点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452628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C++ GDB追踪通过Python pretty-printer提取STL内部状态，这在教育类工具中极为罕见。支持 vector/list/map/set/stack/queue 等容器。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2C55E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核心功能展示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Core Feature Showcase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6D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6 维学生画像系统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从对话到数据，构建每个学生的个性化数字画像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知识基础 / Knowledge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已掌握的DSA概念与算法知识水平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03120"/>
            <a:ext cx="2926080" cy="1097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2103120"/>
            <a:ext cx="2048256" cy="1097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97680" y="1371600"/>
            <a:ext cx="356616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8056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认知风格 / Cognitive Style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偏好视觉/文本/实践的学习方式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2103120"/>
            <a:ext cx="2926080" cy="1097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480560" y="2103120"/>
            <a:ext cx="1609344" cy="109728"/>
          </a:xfrm>
          <a:prstGeom prst="round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56616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编码能力 / Coding 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1737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代码编写熟练度与调试能力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103120"/>
            <a:ext cx="2926080" cy="1097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321040" y="2103120"/>
            <a:ext cx="1316736" cy="109728"/>
          </a:xfrm>
          <a:prstGeom prst="round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2834640"/>
            <a:ext cx="356616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学习目标 / Learning Goals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短期目标与长期职业规划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566160"/>
            <a:ext cx="2926080" cy="1097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" y="3566160"/>
            <a:ext cx="1755648" cy="109728"/>
          </a:xfrm>
          <a:prstGeom prst="round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297680" y="2834640"/>
            <a:ext cx="356616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8056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错误偏好 / Error Preference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常见错误类型与应对策略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80560" y="3566160"/>
            <a:ext cx="2926080" cy="1097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480560" y="3566160"/>
            <a:ext cx="1170432" cy="109728"/>
          </a:xfrm>
          <a:prstGeom prst="roundRect">
            <a:avLst/>
          </a:prstGeom>
          <a:solidFill>
            <a:srgbClr val="EC48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138160" y="2834640"/>
            <a:ext cx="3566160" cy="11887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2926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毅力水平 / Grit Level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32004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面对困难的坚持程度与学习动力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566160"/>
            <a:ext cx="2926080" cy="109728"/>
          </a:xfrm>
          <a:prstGeom prst="round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321040" y="3566160"/>
            <a:ext cx="2194560" cy="109728"/>
          </a:xfrm>
          <a:prstGeom prst="roundRect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457200" y="4572000"/>
            <a:ext cx="2103120" cy="7315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C4899"/>
                </a:solidFill>
                <a:latin typeface="Microsoft YaHei"/>
              </a:defRPr>
            </a:pPr>
            <a:r>
              <a:t>对话式采集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AI对话Interview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60320" y="4709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788920" y="4572000"/>
            <a:ext cx="2103120" cy="7315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2608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6366F1"/>
                </a:solidFill>
                <a:latin typeface="Microsoft YaHei"/>
              </a:defRPr>
            </a:pPr>
            <a:r>
              <a:t>自动提取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结构化JSON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92040" y="4709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120640" y="4572000"/>
            <a:ext cx="2103120" cy="7315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25780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C55E"/>
                </a:solidFill>
                <a:latin typeface="Microsoft YaHei"/>
              </a:defRPr>
            </a:pPr>
            <a:r>
              <a:t>增量更新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5780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行为信号patch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23760" y="4709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2359" y="4572000"/>
            <a:ext cx="2103120" cy="7315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19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B6D4"/>
                </a:solidFill>
                <a:latin typeface="Microsoft YaHei"/>
              </a:defRPr>
            </a:pPr>
            <a:r>
              <a:t>指纹去重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9519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变化阈值跳过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555479" y="47091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18CF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84080" y="4572000"/>
            <a:ext cx="2103120" cy="7315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21240" y="4663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5F7"/>
                </a:solidFill>
                <a:latin typeface="Microsoft YaHei"/>
              </a:defRPr>
            </a:pPr>
            <a:r>
              <a:t>降级回退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1240" y="4937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确定性基线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个性化学习路径 — DAG拓扑排序 + LLM润色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基于先决条件的有向图，为每个学生规划最优学习顺序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●  基于模块先决条件构建 DAG 有向图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810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●  启发式拓扑排序确定学习顺序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94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●  LLM 润色生成个性化理由与摘要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883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●  根据掌握度自动插入补救节点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272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●  支持路径重规划 (replan) 与差异可视化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749039"/>
            <a:ext cx="5029200" cy="1097280"/>
          </a:xfrm>
          <a:prstGeom prst="roundRect">
            <a:avLst/>
          </a:prstGeom>
          <a:solidFill>
            <a:srgbClr val="0A180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840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Microsoft YaHei"/>
              </a:defRPr>
            </a:pPr>
            <a:r>
              <a:t>动态调整机制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605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当学生在某个知识点持续挣扎时，系统自动触发路径重规划，插入补救学习节点，并通过差异可视化让学生清楚看到路径变化。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371600"/>
            <a:ext cx="5760720" cy="82296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1463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Foundation 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7830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数组 / 链表 / 哈希表 / 字符串 / 双指针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1488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2423160"/>
            <a:ext cx="5760720" cy="82296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514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Technique 技巧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栈与队列 / 单调栈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200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06B6D4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0" y="3474720"/>
            <a:ext cx="5760720" cy="82296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5661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🟣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566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Tree &amp; 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8862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二叉树 / 回溯算法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519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366F1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0" y="4526279"/>
            <a:ext cx="5760720" cy="82296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461771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617719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Advanced 进阶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493775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贪心 / 动态规划 / 图论 / 排序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OJ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在线评测系统 — Python/C++ 双语 + AI 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从提交到诊断的完整评测闭环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029200" cy="18288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97316"/>
                </a:solidFill>
                <a:latin typeface="Microsoft YaHei"/>
              </a:defRPr>
            </a:pPr>
            <a:r>
              <a:t>执行引擎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Python：subprocess 沙箱执行 + sys.settrace 追踪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C++：g++ 编译 + GDB MI 机器接口追踪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688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双模式：stdio (标准IO) / leetcode (方法入口)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8891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AST 静态分析：死循环检测 / 指针更新检查 / 溢出预警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383280"/>
            <a:ext cx="5029200" cy="146304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Microsoft YaHei"/>
              </a:defRPr>
            </a:pPr>
            <a:r>
              <a:t>AI 诊断管线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边界用例自动生成 (LLM驱动)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96512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Trace Bug Origin 定位 — 找到错误起始步骤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5254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复杂度分析报告 (时间/空间)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08576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结构化修复建议与学习资源推荐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3716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4A3B8"/>
                </a:solidFill>
                <a:latin typeface="Microsoft YaHei"/>
              </a:defRPr>
            </a:pPr>
            <a:r>
              <a:t>OJ 工作流闭环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737360"/>
            <a:ext cx="5760720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0" y="182880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184708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Run — 运行样例测试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1945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2377440"/>
            <a:ext cx="5760720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246888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6366F1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8716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Submit — 全量提交评测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346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0" y="3017520"/>
            <a:ext cx="5760720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310896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312724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Trace — 代码执行追踪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4747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657599"/>
            <a:ext cx="5760720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749039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767327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Diagnose — AI 深度诊断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4114799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0" y="4297680"/>
            <a:ext cx="5760720" cy="5029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4389120"/>
            <a:ext cx="36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C4899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4407408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Tutor — AI 个性化辅导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5029200"/>
            <a:ext cx="5760720" cy="640080"/>
          </a:xfrm>
          <a:prstGeom prst="roundRect">
            <a:avLst/>
          </a:prstGeom>
          <a:solidFill>
            <a:srgbClr val="1A151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51206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Microsoft YaHei"/>
              </a:defRPr>
            </a:pPr>
            <a:r>
              <a:t>分层提示系统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394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L1 概念提示 → L2 伪代码 → L3 关键行 → L4 完整方案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深度 AI 诊断 — 8 步诊断管线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从错误发现到修复建议的完整诊断链路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371600"/>
            <a:ext cx="1280160" cy="13716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18CF8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边界用例生成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LLM自动生成</a:t>
            </a:r>
            <a:br/>
            <a:r>
              <a:t>corner case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18CF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37360" y="1371600"/>
            <a:ext cx="1280160" cy="13716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18CF8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用例执行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148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对新用例运行</a:t>
            </a:r>
            <a:br/>
            <a:r>
              <a:t>用户代码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18CF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1371600"/>
            <a:ext cx="1280160" cy="13716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18CF8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追踪记录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2148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获取完整</a:t>
            </a:r>
            <a:br/>
            <a:r>
              <a:t>执行trace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18CF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663440" y="1371600"/>
            <a:ext cx="1280160" cy="13716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18CF8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叙述生成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2148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自然语言</a:t>
            </a:r>
            <a:br/>
            <a:r>
              <a:t>描述每步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18CF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1371600"/>
            <a:ext cx="1280160" cy="13716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2648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18CF8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复杂度分析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148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时间/空间</a:t>
            </a:r>
            <a:br/>
            <a:r>
              <a:t>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18CF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589520" y="1371600"/>
            <a:ext cx="1280160" cy="13716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2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18CF8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错误定位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0" y="2148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找到bug</a:t>
            </a:r>
            <a:br/>
            <a:r>
              <a:t>起始步骤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2396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18CF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1371600"/>
            <a:ext cx="1280160" cy="13716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5256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18CF8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修复建议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0" y="2148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结构化</a:t>
            </a:r>
            <a:br/>
            <a:r>
              <a:t>修复方案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87000" y="18288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18CF8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1371600"/>
            <a:ext cx="1280160" cy="137160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14630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18CF8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07040" y="1828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学习记录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2148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64748B"/>
                </a:solidFill>
                <a:latin typeface="Microsoft YaHei"/>
              </a:defRPr>
            </a:pPr>
            <a:r>
              <a:t>写入记忆</a:t>
            </a:r>
            <a:br/>
            <a:r>
              <a:t>+掌握度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3017520"/>
            <a:ext cx="5029200" cy="16459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3108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8 大错误分类体系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66F1"/>
                </a:solidFill>
                <a:latin typeface="Microsoft YaHei"/>
              </a:defRPr>
            </a:pPr>
            <a:r>
              <a:t>pointer_update_error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20240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C55E"/>
                </a:solidFill>
                <a:latin typeface="Microsoft YaHei"/>
              </a:defRPr>
            </a:pPr>
            <a:r>
              <a:t>initialization_error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08960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B6D4"/>
                </a:solidFill>
                <a:latin typeface="Microsoft YaHei"/>
              </a:defRPr>
            </a:pPr>
            <a:r>
              <a:t>state_transition_error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297680" y="34747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F97316"/>
                </a:solidFill>
                <a:latin typeface="Microsoft YaHei"/>
              </a:defRPr>
            </a:pPr>
            <a:r>
              <a:t>boundary_error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3152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EC4899"/>
                </a:solidFill>
                <a:latin typeface="Microsoft YaHei"/>
              </a:defRPr>
            </a:pPr>
            <a:r>
              <a:t>infinite_loop_error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92024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366F1"/>
                </a:solidFill>
                <a:latin typeface="Microsoft YaHei"/>
              </a:defRPr>
            </a:pPr>
            <a:r>
              <a:t>memory_error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0896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22C55E"/>
                </a:solidFill>
                <a:latin typeface="Microsoft YaHei"/>
              </a:defRPr>
            </a:pPr>
            <a:r>
              <a:t>logic_error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297680" y="38404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06B6D4"/>
                </a:solidFill>
                <a:latin typeface="Microsoft YaHei"/>
              </a:defRPr>
            </a:pPr>
            <a:r>
              <a:t>type_error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943600" y="3017520"/>
            <a:ext cx="5760720" cy="164592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17920" y="3108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学习闭环集成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7920" y="34747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诊断结果自动写入学习记忆 (StudentLearningMemory)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17920" y="37490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错误模式分类存档，支持长期追踪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7920" y="40233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掌握度实时更新反馈到 BKT-lite 模型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17920" y="429767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挣扎检测触发路径重规划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三层安全防护体系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确保 AI 生成内容的准确性与安全性 — Fail-closed 策略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34747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6366F1"/>
                </a:solidFill>
                <a:latin typeface="Microsoft YaHei"/>
              </a:defRPr>
            </a:pPr>
            <a:r>
              <a:t>Layer 1: AST 静态分析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死循环检测 (while True)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指针未更新检查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无限递归检测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89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缓冲区溢出预警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沙箱执行前拦截</a:t>
            </a:r>
            <a:br/>
            <a:r>
              <a:t>Act as 熔断器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371600"/>
            <a:ext cx="3566160" cy="34747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2C55E"/>
                </a:solidFill>
                <a:latin typeface="Microsoft YaHei"/>
              </a:defRPr>
            </a:pPr>
            <a:r>
              <a:t>Layer 2: 内容验证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ContentVerifierAgent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反幻觉：知识库比对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假 LeetCode 题号检测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289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未支撑声明标记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931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Fail-closed 策略</a:t>
            </a:r>
            <a:br/>
            <a:r>
              <a:t>最多2次重试修正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38160" y="1371600"/>
            <a:ext cx="3566160" cy="34747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0" y="15544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011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97316"/>
                </a:solidFill>
                <a:latin typeface="Microsoft YaHei"/>
              </a:defRPr>
            </a:pPr>
            <a:r>
              <a:t>Layer 3: 安全审计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46888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敏感关键词检测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7889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Prompt 注入防御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108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幻觉内容警告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42899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●  结构化审计报告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93192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publish / draft / blocked</a:t>
            </a:r>
            <a:br/>
            <a:r>
              <a:t>证据链完整记录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120640"/>
            <a:ext cx="11247120" cy="640080"/>
          </a:xfrm>
          <a:prstGeom prst="roundRect">
            <a:avLst/>
          </a:prstGeom>
          <a:solidFill>
            <a:srgbClr val="0A180A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212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核心原则：Fail-closed — 内容验证或安全审计不通过则标记为草稿，绝不发布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13 个互动游戏 — 算法概念趣味化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每个游戏包含多个关卡，关卡与课程章节对应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651760" cy="109728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寻宝搜索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二分查找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371600"/>
            <a:ext cx="2651760" cy="109728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断链修理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链表操作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371600"/>
            <a:ext cx="2651760" cy="109728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874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快递柜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哈希表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371600"/>
            <a:ext cx="2651760" cy="109728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60" y="15087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18745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回文游戏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116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字符串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2651760"/>
            <a:ext cx="2651760" cy="109728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双指针赛跑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429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双指针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37560" y="2651760"/>
            <a:ext cx="2651760" cy="109728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2044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食堂排队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40" y="3429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栈与队列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2651760"/>
            <a:ext cx="2651760" cy="109728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🏔️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地震屏障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429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单调栈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2651760"/>
            <a:ext cx="2651760" cy="109728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281160" y="2788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🌲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81160" y="3154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树洞探险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42900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二叉树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3931920"/>
            <a:ext cx="2651760" cy="109728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回溯密室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709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回溯算法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37560" y="3931920"/>
            <a:ext cx="2651760" cy="109728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52044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2044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贪心快递员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20440" y="4709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贪心算法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17920" y="3931920"/>
            <a:ext cx="2651760" cy="109728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🎒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背包Lite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709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动态规划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98280" y="3931920"/>
            <a:ext cx="2651760" cy="109728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81160" y="4069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🗺️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81160" y="44348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图谱探索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81160" y="47091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图论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5303520"/>
            <a:ext cx="11247120" cy="548640"/>
          </a:xfrm>
          <a:prstGeom prst="roundRect">
            <a:avLst/>
          </a:prstGeom>
          <a:solidFill>
            <a:srgbClr val="1A101A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3949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🔗  游戏进度与学习进度联动追踪 — 每个游戏的完成情况自动记录到学生画像，影响路径规划和资源推荐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A855F7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创新价值与竞争优势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Microsoft YaHei"/>
              </a:defRPr>
            </a:pPr>
            <a:r>
              <a:t>Innovation Value &amp; Competitive Advantages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INNOV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项目核心创新价值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六大维度总结 AlgoPilot 的创新与价值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566160" cy="192024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教育创新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将多智能体 AI 技术首次系统化应用于 DSA 教学，实现真正的个性化"千人千面"学习。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71600"/>
            <a:ext cx="3566160" cy="192024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⚙️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技术深度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86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自研 DAG 编排引擎 + BM25 检索 + BKT-lite 掌握度模型。无外部向量数据库依赖。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71600"/>
            <a:ext cx="3566160" cy="192024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08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🛡️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920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安全可靠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286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三层防护：AST 分析 + 内容验证 + 安全审计。Fail-closed 策略确保质量。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3566160" cy="192024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94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完整闭环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画像→路径→学习→评测→诊断→记忆→掌握度→路径重规划。端到端学习闭环。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657600"/>
            <a:ext cx="3566160" cy="192024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0" y="3794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用户体验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572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暗色IDE主题 + 流畅动画 + 13个互动游戏。代码追踪可视化让算法执行"看得见"。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657600"/>
            <a:ext cx="3566160" cy="192024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3794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2062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可部署性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7200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PyInstaller 单文件打包，start.bat 一键启动。零配置部署，降低使用门槛。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760720"/>
            <a:ext cx="11247120" cy="457200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818CF8"/>
                </a:solidFill>
                <a:latin typeface="Microsoft YaHei"/>
              </a:defRPr>
            </a:pPr>
            <a:r>
              <a:t>核心竞争力：自研多智能体编排引擎 + 反幻觉验证管线 + 代码追踪可视化 = 可信赖的 AI 教育系统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技术架构全景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五层分离设计 + 全栈技术选型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029200" cy="11887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18CF8"/>
                </a:solidFill>
                <a:latin typeface="Microsoft YaHei"/>
              </a:defRPr>
            </a:pPr>
            <a:r>
              <a:t>Frontend 前端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758952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28800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18CF8"/>
                </a:solidFill>
                <a:latin typeface="Microsoft YaHei"/>
              </a:defRPr>
            </a:pPr>
            <a:r>
              <a:t>Vue 3.5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36192" y="1828800"/>
            <a:ext cx="1170432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36192" y="1828800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18CF8"/>
                </a:solidFill>
                <a:latin typeface="Microsoft YaHei"/>
              </a:defRPr>
            </a:pPr>
            <a:r>
              <a:t>TypeScript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52344" y="1828800"/>
            <a:ext cx="676656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52344" y="182880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18CF8"/>
                </a:solidFill>
                <a:latin typeface="Microsoft YaHei"/>
              </a:defRPr>
            </a:pPr>
            <a:r>
              <a:t>Vite 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1828800"/>
            <a:ext cx="1170432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828800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18CF8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90872" y="1828800"/>
            <a:ext cx="758952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90872" y="1828800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18CF8"/>
                </a:solidFill>
                <a:latin typeface="Microsoft YaHei"/>
              </a:defRPr>
            </a:pPr>
            <a:r>
              <a:t>D3.js 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95544" y="1828800"/>
            <a:ext cx="841247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95544" y="1828800"/>
            <a:ext cx="8412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18CF8"/>
                </a:solidFill>
                <a:latin typeface="Microsoft YaHei"/>
              </a:defRPr>
            </a:pPr>
            <a:r>
              <a:t>Vue Flow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82511" y="1828800"/>
            <a:ext cx="1170432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82511" y="1828800"/>
            <a:ext cx="117043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18CF8"/>
                </a:solidFill>
                <a:latin typeface="Microsoft YaHei"/>
              </a:defRPr>
            </a:pPr>
            <a:r>
              <a:t>CodeMirror 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98663" y="1828800"/>
            <a:ext cx="758952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98663" y="1828800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18CF8"/>
                </a:solidFill>
                <a:latin typeface="Microsoft YaHei"/>
              </a:defRPr>
            </a:pPr>
            <a:r>
              <a:t>Pinia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03335" y="1828800"/>
            <a:ext cx="758952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03335" y="1828800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18CF8"/>
                </a:solidFill>
                <a:latin typeface="Microsoft YaHei"/>
              </a:defRPr>
            </a:pPr>
            <a:r>
              <a:t>Fuse.js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08007" y="1828800"/>
            <a:ext cx="1005839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08007" y="182880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818CF8"/>
                </a:solidFill>
                <a:latin typeface="Microsoft YaHei"/>
              </a:defRPr>
            </a:pPr>
            <a:r>
              <a:t>Mermaid 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43200"/>
            <a:ext cx="5029200" cy="11887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8346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C55E"/>
                </a:solidFill>
                <a:latin typeface="Microsoft YaHei"/>
              </a:defRPr>
            </a:pPr>
            <a:r>
              <a:t>Backend 后端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3200400"/>
            <a:ext cx="758952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200400"/>
            <a:ext cx="7589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C55E"/>
                </a:solidFill>
                <a:latin typeface="Microsoft YaHei"/>
              </a:defRPr>
            </a:pPr>
            <a:r>
              <a:t>FastAPI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36192" y="3200400"/>
            <a:ext cx="1335024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36192" y="3200400"/>
            <a:ext cx="13350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C55E"/>
                </a:solidFill>
                <a:latin typeface="Microsoft YaHei"/>
              </a:defRPr>
            </a:pPr>
            <a:r>
              <a:t>SQLAlchemy 2.0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916936" y="3200400"/>
            <a:ext cx="676656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16936" y="320040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C55E"/>
                </a:solidFill>
                <a:latin typeface="Microsoft YaHei"/>
              </a:defRPr>
            </a:pPr>
            <a:r>
              <a:t>SQLite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39312" y="3200400"/>
            <a:ext cx="1088136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9312" y="3200400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C55E"/>
                </a:solidFill>
                <a:latin typeface="Microsoft YaHei"/>
              </a:defRPr>
            </a:pPr>
            <a:r>
              <a:t>Pydantic v2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73168" y="3200400"/>
            <a:ext cx="1005839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773168" y="3200400"/>
            <a:ext cx="1005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C55E"/>
                </a:solidFill>
                <a:latin typeface="Microsoft YaHei"/>
              </a:defRPr>
            </a:pPr>
            <a:r>
              <a:t>JWT+bcrypt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24727" y="3200400"/>
            <a:ext cx="594359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824727" y="3200400"/>
            <a:ext cx="594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C55E"/>
                </a:solidFill>
                <a:latin typeface="Microsoft YaHei"/>
              </a:defRPr>
            </a:pPr>
            <a:r>
              <a:t>httpx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64806" y="3200400"/>
            <a:ext cx="512064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64806" y="3200400"/>
            <a:ext cx="51206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C55E"/>
                </a:solidFill>
                <a:latin typeface="Microsoft YaHei"/>
              </a:defRPr>
            </a:pPr>
            <a:r>
              <a:t>Ruff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022590" y="3200400"/>
            <a:ext cx="1088136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22590" y="3200400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C55E"/>
                </a:solidFill>
                <a:latin typeface="Microsoft YaHei"/>
              </a:defRPr>
            </a:pPr>
            <a:r>
              <a:t>PyInstaller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114800"/>
            <a:ext cx="5029200" cy="11887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31520" y="4206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2D3EE"/>
                </a:solidFill>
                <a:latin typeface="Microsoft YaHei"/>
              </a:defRPr>
            </a:pPr>
            <a:r>
              <a:t>AI / Intelligence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4572000"/>
            <a:ext cx="1252728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572000"/>
            <a:ext cx="125272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Microsoft YaHei"/>
              </a:defRPr>
            </a:pPr>
            <a:r>
              <a:t>iFlytek Spark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29968" y="4572000"/>
            <a:ext cx="1088136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29968" y="4572000"/>
            <a:ext cx="108813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Microsoft YaHei"/>
              </a:defRPr>
            </a:pPr>
            <a:r>
              <a:t>OpenAI兼容API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163824" y="4572000"/>
            <a:ext cx="594359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163824" y="4572000"/>
            <a:ext cx="594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Microsoft YaHei"/>
              </a:defRPr>
            </a:pPr>
            <a:r>
              <a:t>SSE流式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803903" y="4572000"/>
            <a:ext cx="594359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03903" y="4572000"/>
            <a:ext cx="594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Microsoft YaHei"/>
              </a:defRPr>
            </a:pPr>
            <a:r>
              <a:t>TTS语音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443982" y="4572000"/>
            <a:ext cx="676656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43982" y="457200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Microsoft YaHei"/>
              </a:defRPr>
            </a:pPr>
            <a:r>
              <a:t>BM25检索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166358" y="4572000"/>
            <a:ext cx="594359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66358" y="4572000"/>
            <a:ext cx="594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Microsoft YaHei"/>
              </a:defRPr>
            </a:pPr>
            <a:r>
              <a:t>AST分析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806437" y="4572000"/>
            <a:ext cx="676656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06437" y="4572000"/>
            <a:ext cx="6766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Microsoft YaHei"/>
              </a:defRPr>
            </a:pPr>
            <a:r>
              <a:t>GDB MI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528813" y="4572000"/>
            <a:ext cx="841247" cy="256032"/>
          </a:xfrm>
          <a:prstGeom prst="roundRect">
            <a:avLst/>
          </a:prstGeom>
          <a:solidFill>
            <a:srgbClr val="1C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528813" y="4572000"/>
            <a:ext cx="84124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22D3EE"/>
                </a:solidFill>
                <a:latin typeface="Microsoft YaHei"/>
              </a:defRPr>
            </a:pPr>
            <a:r>
              <a:t>settrace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943600" y="1371600"/>
            <a:ext cx="5760720" cy="228600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17920" y="1463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API 路由总览 — 16 个模块，30+ 端点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17920" y="18288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/api/auth  认证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78240" y="18288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/api/oj  在线评测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217920" y="2103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/api/orchestrator  编排中心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778240" y="210312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/api/ai  AI辅导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217920" y="23774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/api/search  语义搜索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78240" y="237744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/api/memory  学习记忆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17920" y="265175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/api/mastery  掌握度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78240" y="2651759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/api/events  事件日志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217920" y="2926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/api/analytics  效果分析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778240" y="292608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/api/teacher  教师仪表盘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217920" y="3200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/api/health  健康检查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778240" y="3200400"/>
            <a:ext cx="2377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/api/skills  技能卡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943600" y="3840480"/>
            <a:ext cx="5760720" cy="1463040"/>
          </a:xfrm>
          <a:prstGeom prst="roundRect">
            <a:avLst/>
          </a:prstGeom>
          <a:solidFill>
            <a:srgbClr val="161D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1792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数据库模型 — 7 张核心表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17920" y="4297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users 用户表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778240" y="42976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learning_progress 学习进度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217920" y="45262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student_profiles 学生画像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778240" y="45262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generated_resources 生成资源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217920" y="47548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learning_path_plans 路径规划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778240" y="47548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student_learning_memories 记忆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217920" y="4983480"/>
            <a:ext cx="2377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learning_event_logs 事件日志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365760"/>
            <a:ext cx="548640" cy="5486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32004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未来展望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731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持续演进的方向与计划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27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577840" cy="11887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多模态能力增强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接入图像识别、手写代码OCR、语音交互等多模态能力，支持更自然的学习交互方式。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577840" cy="11887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508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知识图谱深化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从 BM25 关键词检索升级到向量语义检索，构建更精细的知识图谱，支持跨课程知识关联。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43200"/>
            <a:ext cx="5577840" cy="11887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协作学习支持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引入多人协作编程、同伴互评、学习小组等社交化学习功能，提升学习动力。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743200"/>
            <a:ext cx="5577840" cy="11887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8803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更广泛的课程覆盖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2004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从数据结构与算法扩展到操作系统、计算机网络、数据库等更多计算机核心课程。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14800"/>
            <a:ext cx="5577840" cy="11887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51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教师端深度赋能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72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智能出题、自动批改、班级学情预警、教学策略推荐，让教师从重复劳动中解放。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114800"/>
            <a:ext cx="5577840" cy="1188720"/>
          </a:xfrm>
          <a:prstGeom prst="roundRect">
            <a:avLst/>
          </a:prstGeom>
          <a:solidFill>
            <a:srgbClr val="161D3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2519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生产级部署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5720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Docker 容器化 + Kubernetes 编排，支持多租户 SaaS 部署，服务更多高校。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577840"/>
            <a:ext cx="11247120" cy="548640"/>
          </a:xfrm>
          <a:prstGeom prst="roundRect">
            <a:avLst/>
          </a:prstGeom>
          <a:solidFill>
            <a:srgbClr val="12183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6235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愿景：让每个学生都拥有专属 AI 导师 — 从 DSA 课程出发，构建通用的 AI 个性化学习平台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00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AlgoPilot — 多智能体驱动的算法个性化学习平台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6400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Software Cup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657600" y="0"/>
            <a:ext cx="5486400" cy="5486400"/>
          </a:xfrm>
          <a:prstGeom prst="ellipse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818CF8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AlgoPilot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Microsoft YaHei"/>
              </a:defRPr>
            </a:pPr>
            <a:r>
              <a:t>多智能体驱动的算法个性化学习平台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让每个学生都拥有专属 AI 导师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4754880"/>
            <a:ext cx="1920239" cy="32004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6366F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475488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366F1"/>
                </a:solidFill>
                <a:latin typeface="Microsoft YaHei"/>
              </a:defRPr>
            </a:pPr>
            <a:r>
              <a:t>Vue 3 + FastAPI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59" y="4754880"/>
            <a:ext cx="2139696" cy="32004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22C5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37759" y="4754880"/>
            <a:ext cx="21396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2C55E"/>
                </a:solidFill>
                <a:latin typeface="Microsoft YaHei"/>
              </a:defRPr>
            </a:pPr>
            <a:r>
              <a:t>iFlytek Spark LLM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8895" y="4754880"/>
            <a:ext cx="1810512" cy="32004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68895" y="4754880"/>
            <a:ext cx="18105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06B6D4"/>
                </a:solidFill>
                <a:latin typeface="Microsoft YaHei"/>
              </a:defRPr>
            </a:pPr>
            <a:r>
              <a:t>Multi-Agent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70847" y="4754880"/>
            <a:ext cx="1042415" cy="32004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70847" y="4754880"/>
            <a:ext cx="1042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97316"/>
                </a:solidFill>
                <a:latin typeface="Microsoft YaHei"/>
              </a:defRPr>
            </a:pPr>
            <a:r>
              <a:t>22+ 智能体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04702" y="4754880"/>
            <a:ext cx="1042415" cy="320040"/>
          </a:xfrm>
          <a:prstGeom prst="roundRect">
            <a:avLst/>
          </a:prstGeom>
          <a:solidFill>
            <a:srgbClr val="1C2540"/>
          </a:solidFill>
          <a:ln w="12700">
            <a:solidFill>
              <a:srgbClr val="EC48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4702" y="4754880"/>
            <a:ext cx="1042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EC4899"/>
                </a:solidFill>
                <a:latin typeface="Microsoft YaHei"/>
              </a:defRPr>
            </a:pPr>
            <a:r>
              <a:t>自研DAG编排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