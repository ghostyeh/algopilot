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1333500" y="-47625"/>
            <a:ext cx="9620250" cy="1571625"/>
            <a:chOff x="1333500" y="-47625"/>
            <a:chExt cx="9620250" cy="1571625"/>
          </a:xfrm>
        </p:grpSpPr>
        <p:sp>
          <p:nvSpPr>
            <p:cNvPr id="2" name="Ellipse 2"/>
            <p:cNvSpPr/>
            <p:nvPr/>
          </p:nvSpPr>
          <p:spPr>
            <a:xfrm>
              <a:off x="1333500" y="190500"/>
              <a:ext cx="1143000" cy="1143000"/>
            </a:xfrm>
            <a:prstGeom prst="ellipse">
              <a:avLst/>
            </a:prstGeom>
            <a:noFill/>
            <a:ln w="9525">
              <a:solidFill>
                <a:schemeClr val="accent1">
                  <a:alpha val="5000"/>
                </a:schemeClr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2952750" y="762000"/>
              <a:ext cx="762000" cy="762000"/>
            </a:xfrm>
            <a:prstGeom prst="ellipse">
              <a:avLst/>
            </a:prstGeom>
            <a:noFill/>
            <a:ln w="9525">
              <a:solidFill>
                <a:schemeClr val="accent1">
                  <a:alpha val="5000"/>
                </a:scheme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4286250" y="95250"/>
              <a:ext cx="952500" cy="952500"/>
            </a:xfrm>
            <a:prstGeom prst="ellipse">
              <a:avLst/>
            </a:prstGeom>
            <a:noFill/>
            <a:ln w="9525">
              <a:solidFill>
                <a:schemeClr val="accent1">
                  <a:alpha val="5000"/>
                </a:scheme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5857875" y="619125"/>
              <a:ext cx="666750" cy="666750"/>
            </a:xfrm>
            <a:prstGeom prst="ellipse">
              <a:avLst/>
            </a:prstGeom>
            <a:noFill/>
            <a:ln w="9525">
              <a:solidFill>
                <a:schemeClr val="accent1">
                  <a:alpha val="5000"/>
                </a:scheme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7096125" y="-47625"/>
              <a:ext cx="1047750" cy="1047750"/>
            </a:xfrm>
            <a:prstGeom prst="ellipse">
              <a:avLst/>
            </a:prstGeom>
            <a:noFill/>
            <a:ln w="9525">
              <a:solidFill>
                <a:schemeClr val="accent1">
                  <a:alpha val="5000"/>
                </a:scheme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620125" y="428625"/>
              <a:ext cx="857250" cy="857250"/>
            </a:xfrm>
            <a:prstGeom prst="ellipse">
              <a:avLst/>
            </a:prstGeom>
            <a:noFill/>
            <a:ln w="9525">
              <a:solidFill>
                <a:schemeClr val="accent1">
                  <a:alpha val="5000"/>
                </a:scheme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0001250" y="190500"/>
              <a:ext cx="952500" cy="952500"/>
            </a:xfrm>
            <a:prstGeom prst="ellipse">
              <a:avLst/>
            </a:prstGeom>
            <a:noFill/>
            <a:ln w="9525">
              <a:solidFill>
                <a:schemeClr val="accent1">
                  <a:alpha val="5000"/>
                </a:schemeClr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371600" y="685800"/>
            <a:ext cx="9639300" cy="1838325"/>
            <a:chOff x="1371600" y="685800"/>
            <a:chExt cx="9639300" cy="1838325"/>
          </a:xfrm>
        </p:grpSpPr>
        <p:sp>
          <p:nvSpPr>
            <p:cNvPr id="10" name="Ellipse 10"/>
            <p:cNvSpPr/>
            <p:nvPr/>
          </p:nvSpPr>
          <p:spPr>
            <a:xfrm>
              <a:off x="1371600" y="1466850"/>
              <a:ext cx="114300" cy="11430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590800" y="876300"/>
              <a:ext cx="152400" cy="15240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238625" y="1666875"/>
              <a:ext cx="95250" cy="9525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648325" y="790575"/>
              <a:ext cx="133350" cy="13335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096125" y="1571625"/>
              <a:ext cx="95250" cy="9525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496300" y="685800"/>
              <a:ext cx="152400" cy="15240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9953625" y="1476375"/>
              <a:ext cx="95250" cy="9525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0896600" y="895350"/>
              <a:ext cx="114300" cy="11430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057400" y="2057400"/>
              <a:ext cx="76200" cy="762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762375" y="2428875"/>
              <a:ext cx="95250" cy="9525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6438900" y="2247900"/>
              <a:ext cx="76200" cy="762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286875" y="2333625"/>
              <a:ext cx="95250" cy="9525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1428750" y="952500"/>
              <a:ext cx="1238250" cy="571500"/>
            </a:xfrm>
            <a:custGeom>
              <a:avLst/>
              <a:gdLst/>
              <a:ahLst/>
              <a:cxnLst/>
              <a:rect l="l" t="t" r="r" b="b"/>
              <a:pathLst>
                <a:path w="1238250" h="571500">
                  <a:moveTo>
                    <a:pt x="0" y="571500"/>
                  </a:moveTo>
                  <a:lnTo>
                    <a:pt x="1238250" y="0"/>
                  </a:lnTo>
                </a:path>
              </a:pathLst>
            </a:custGeom>
            <a:noFill/>
            <a:ln w="14288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2667000" y="952500"/>
              <a:ext cx="1619250" cy="762000"/>
            </a:xfrm>
            <a:custGeom>
              <a:avLst/>
              <a:gdLst/>
              <a:ahLst/>
              <a:cxnLst/>
              <a:rect l="l" t="t" r="r" b="b"/>
              <a:pathLst>
                <a:path w="1619250" h="762000">
                  <a:moveTo>
                    <a:pt x="0" y="0"/>
                  </a:moveTo>
                  <a:lnTo>
                    <a:pt x="1619250" y="762000"/>
                  </a:lnTo>
                </a:path>
              </a:pathLst>
            </a:custGeom>
            <a:noFill/>
            <a:ln w="14288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667000" y="857250"/>
              <a:ext cx="3048000" cy="95250"/>
            </a:xfrm>
            <a:custGeom>
              <a:avLst/>
              <a:gdLst/>
              <a:ahLst/>
              <a:cxnLst/>
              <a:rect l="l" t="t" r="r" b="b"/>
              <a:pathLst>
                <a:path w="3048000" h="95250">
                  <a:moveTo>
                    <a:pt x="0" y="95250"/>
                  </a:moveTo>
                  <a:lnTo>
                    <a:pt x="3048000" y="0"/>
                  </a:lnTo>
                </a:path>
              </a:pathLst>
            </a:custGeom>
            <a:noFill/>
            <a:ln w="14288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2095500" y="1714500"/>
              <a:ext cx="2190750" cy="381000"/>
            </a:xfrm>
            <a:custGeom>
              <a:avLst/>
              <a:gdLst/>
              <a:ahLst/>
              <a:cxnLst/>
              <a:rect l="l" t="t" r="r" b="b"/>
              <a:pathLst>
                <a:path w="2190750" h="381000">
                  <a:moveTo>
                    <a:pt x="2190750" y="0"/>
                  </a:moveTo>
                  <a:lnTo>
                    <a:pt x="0" y="381000"/>
                  </a:lnTo>
                </a:path>
              </a:pathLst>
            </a:custGeom>
            <a:noFill/>
            <a:ln w="9525">
              <a:solidFill>
                <a:schemeClr val="accent2">
                  <a:alpha val="8000"/>
                </a:scheme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5715000" y="857250"/>
              <a:ext cx="1428750" cy="762000"/>
            </a:xfrm>
            <a:custGeom>
              <a:avLst/>
              <a:gdLst/>
              <a:ahLst/>
              <a:cxnLst/>
              <a:rect l="l" t="t" r="r" b="b"/>
              <a:pathLst>
                <a:path w="1428750" h="762000">
                  <a:moveTo>
                    <a:pt x="0" y="0"/>
                  </a:moveTo>
                  <a:lnTo>
                    <a:pt x="1428750" y="762000"/>
                  </a:lnTo>
                </a:path>
              </a:pathLst>
            </a:custGeom>
            <a:noFill/>
            <a:ln w="14288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715000" y="762000"/>
              <a:ext cx="2857500" cy="95250"/>
            </a:xfrm>
            <a:custGeom>
              <a:avLst/>
              <a:gdLst/>
              <a:ahLst/>
              <a:cxnLst/>
              <a:rect l="l" t="t" r="r" b="b"/>
              <a:pathLst>
                <a:path w="2857500" h="95250">
                  <a:moveTo>
                    <a:pt x="0" y="95250"/>
                  </a:moveTo>
                  <a:lnTo>
                    <a:pt x="2857500" y="0"/>
                  </a:lnTo>
                </a:path>
              </a:pathLst>
            </a:custGeom>
            <a:noFill/>
            <a:ln w="14288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477000" y="1619250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66675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chemeClr val="accent2">
                  <a:alpha val="8000"/>
                </a:scheme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572500" y="762000"/>
              <a:ext cx="1428750" cy="762000"/>
            </a:xfrm>
            <a:custGeom>
              <a:avLst/>
              <a:gdLst/>
              <a:ahLst/>
              <a:cxnLst/>
              <a:rect l="l" t="t" r="r" b="b"/>
              <a:pathLst>
                <a:path w="1428750" h="762000">
                  <a:moveTo>
                    <a:pt x="0" y="0"/>
                  </a:moveTo>
                  <a:lnTo>
                    <a:pt x="1428750" y="762000"/>
                  </a:lnTo>
                </a:path>
              </a:pathLst>
            </a:custGeom>
            <a:noFill/>
            <a:ln w="14288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8572500" y="762000"/>
              <a:ext cx="2381250" cy="190500"/>
            </a:xfrm>
            <a:custGeom>
              <a:avLst/>
              <a:gdLst/>
              <a:ahLst/>
              <a:cxnLst/>
              <a:rect l="l" t="t" r="r" b="b"/>
              <a:pathLst>
                <a:path w="2381250" h="190500">
                  <a:moveTo>
                    <a:pt x="0" y="0"/>
                  </a:moveTo>
                  <a:lnTo>
                    <a:pt x="2381250" y="190500"/>
                  </a:lnTo>
                </a:path>
              </a:pathLst>
            </a:custGeom>
            <a:noFill/>
            <a:ln w="14288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9334500" y="1524000"/>
              <a:ext cx="666750" cy="857250"/>
            </a:xfrm>
            <a:custGeom>
              <a:avLst/>
              <a:gdLst/>
              <a:ahLst/>
              <a:cxnLst/>
              <a:rect l="l" t="t" r="r" b="b"/>
              <a:pathLst>
                <a:path w="666750" h="857250">
                  <a:moveTo>
                    <a:pt x="666750" y="0"/>
                  </a:moveTo>
                  <a:lnTo>
                    <a:pt x="0" y="857250"/>
                  </a:lnTo>
                </a:path>
              </a:pathLst>
            </a:custGeom>
            <a:noFill/>
            <a:ln w="9525">
              <a:solidFill>
                <a:schemeClr val="accent2">
                  <a:alpha val="8000"/>
                </a:scheme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3810000" y="1714500"/>
              <a:ext cx="476250" cy="762000"/>
            </a:xfrm>
            <a:custGeom>
              <a:avLst/>
              <a:gdLst/>
              <a:ahLst/>
              <a:cxnLst/>
              <a:rect l="l" t="t" r="r" b="b"/>
              <a:pathLst>
                <a:path w="476250" h="762000">
                  <a:moveTo>
                    <a:pt x="476250" y="0"/>
                  </a:moveTo>
                  <a:lnTo>
                    <a:pt x="0" y="762000"/>
                  </a:lnTo>
                </a:path>
              </a:pathLst>
            </a:custGeom>
            <a:noFill/>
            <a:ln w="9525">
              <a:solidFill>
                <a:schemeClr val="accent2">
                  <a:alpha val="8000"/>
                </a:schemeClr>
              </a:solidFill>
            </a:ln>
          </p:spPr>
        </p:sp>
      </p:grpSp>
      <p:sp>
        <p:nvSpPr>
          <p:cNvPr id="34" name="Polygon 34"/>
          <p:cNvSpPr/>
          <p:nvPr/>
        </p:nvSpPr>
        <p:spPr>
          <a:xfrm>
            <a:off x="0" y="2857500"/>
            <a:ext cx="12192000" cy="4000500"/>
          </a:xfrm>
          <a:custGeom>
            <a:avLst/>
            <a:gdLst/>
            <a:ahLst/>
            <a:cxnLst/>
            <a:rect l="l" t="t" r="r" b="b"/>
            <a:pathLst>
              <a:path w="12192000" h="4000500">
                <a:moveTo>
                  <a:pt x="0" y="1143000"/>
                </a:moveTo>
                <a:lnTo>
                  <a:pt x="12192000" y="0"/>
                </a:lnTo>
                <a:lnTo>
                  <a:pt x="12192000" y="4000500"/>
                </a:lnTo>
                <a:lnTo>
                  <a:pt x="0" y="40005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233555"/>
              </a:gs>
            </a:gsLst>
            <a:lin ang="0" scaled="1"/>
          </a:gradFill>
          <a:ln>
            <a:noFill/>
          </a:ln>
        </p:spPr>
      </p:sp>
      <p:sp>
        <p:nvSpPr>
          <p:cNvPr id="35" name="Line 35"/>
          <p:cNvSpPr/>
          <p:nvPr/>
        </p:nvSpPr>
        <p:spPr>
          <a:xfrm>
            <a:off x="0" y="2838450"/>
            <a:ext cx="12192000" cy="1143000"/>
          </a:xfrm>
          <a:custGeom>
            <a:avLst/>
            <a:gdLst/>
            <a:ahLst/>
            <a:cxnLst/>
            <a:rect l="l" t="t" r="r" b="b"/>
            <a:pathLst>
              <a:path w="12192000" h="1143000">
                <a:moveTo>
                  <a:pt x="0" y="1143000"/>
                </a:moveTo>
                <a:lnTo>
                  <a:pt x="12192000" y="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sp>
        <p:nvSpPr>
          <p:cNvPr id="36" name="Ellipse 36"/>
          <p:cNvSpPr/>
          <p:nvPr/>
        </p:nvSpPr>
        <p:spPr>
          <a:xfrm>
            <a:off x="3019425" y="3571875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6067425" y="3190875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9115425" y="2809875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762000" y="3238500"/>
            <a:ext cx="476250" cy="38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42950" y="4070985"/>
            <a:ext cx="2644684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spc="75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AlgoPilot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42950" y="4722495"/>
            <a:ext cx="2794444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算法领航员</a:t>
            </a:r>
          </a:p>
        </p:txBody>
      </p:sp>
      <p:sp>
        <p:nvSpPr>
          <p:cNvPr id="42" name="Ellipse 42"/>
          <p:cNvSpPr/>
          <p:nvPr/>
        </p:nvSpPr>
        <p:spPr>
          <a:xfrm>
            <a:off x="666750" y="5600700"/>
            <a:ext cx="76200" cy="76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48868" y="5517832"/>
            <a:ext cx="490347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面向《数据结构与算法》的多智能体智能学习平台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762000" y="6096000"/>
            <a:ext cx="1524000" cy="266700"/>
            <a:chOff x="762000" y="6096000"/>
            <a:chExt cx="1524000" cy="266700"/>
          </a:xfrm>
        </p:grpSpPr>
        <p:sp>
          <p:nvSpPr>
            <p:cNvPr id="44" name="Rectangle 44"/>
            <p:cNvSpPr/>
            <p:nvPr/>
          </p:nvSpPr>
          <p:spPr>
            <a:xfrm>
              <a:off x="762000" y="6096000"/>
              <a:ext cx="1524000" cy="2667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59705" y="6187916"/>
              <a:ext cx="13285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chemeClr val="accent3"/>
                  </a:solidFill>
                  <a:latin typeface="Inter"/>
                  <a:ea typeface="Inter"/>
                  <a:cs typeface="Inter"/>
                </a:rPr>
                <a:t>Multi-Agent · RAG · LLM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8494928" y="6411278"/>
            <a:ext cx="15116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dk2"/>
                </a:solidFill>
                <a:latin typeface="Inter"/>
                <a:ea typeface="Microsoft YaHei"/>
                <a:cs typeface="Inter"/>
              </a:rPr>
              <a:t>软件杯 A3 赛题 · 2026</a:t>
            </a:r>
          </a:p>
        </p:txBody>
      </p:sp>
      <p:sp>
        <p:nvSpPr>
          <p:cNvPr id="48" name="Rectangle 48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284" y="470535"/>
            <a:ext cx="79072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目录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5904" y="899160"/>
            <a:ext cx="7280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Inter"/>
                <a:ea typeface="Inter"/>
                <a:cs typeface="Inter"/>
              </a:rPr>
              <a:t>Contents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190625"/>
            <a:ext cx="2571750" cy="9525"/>
          </a:xfrm>
          <a:custGeom>
            <a:avLst/>
            <a:gdLst/>
            <a:ahLst/>
            <a:cxnLst/>
            <a:rect l="l" t="t" r="r" b="b"/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354617" y="4991100"/>
            <a:ext cx="1903933" cy="2305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0" b="1" dirty="0">
                <a:solidFill>
                  <a:srgbClr val="EDF0F5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52500" y="1682115"/>
            <a:ext cx="2470820" cy="508635"/>
            <a:chOff x="952500" y="1682115"/>
            <a:chExt cx="2470820" cy="508635"/>
          </a:xfrm>
        </p:grpSpPr>
        <p:sp>
          <p:nvSpPr>
            <p:cNvPr id="7" name="Rectangle 7"/>
            <p:cNvSpPr/>
            <p:nvPr/>
          </p:nvSpPr>
          <p:spPr>
            <a:xfrm>
              <a:off x="952500" y="1714500"/>
              <a:ext cx="28575" cy="476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3856" y="16821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6880" y="17145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背景与痛点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9166" y="1982152"/>
              <a:ext cx="1714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Background &amp; Pain Points</a:t>
              </a:r>
            </a:p>
          </p:txBody>
        </p:sp>
      </p:grpSp>
      <p:sp>
        <p:nvSpPr>
          <p:cNvPr id="12" name="Line 12"/>
          <p:cNvSpPr/>
          <p:nvPr/>
        </p:nvSpPr>
        <p:spPr>
          <a:xfrm>
            <a:off x="952500" y="228600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952500" y="2444115"/>
            <a:ext cx="2012906" cy="508635"/>
            <a:chOff x="952500" y="2444115"/>
            <a:chExt cx="2012906" cy="508635"/>
          </a:xfrm>
        </p:grpSpPr>
        <p:sp>
          <p:nvSpPr>
            <p:cNvPr id="13" name="Rectangle 13"/>
            <p:cNvSpPr/>
            <p:nvPr/>
          </p:nvSpPr>
          <p:spPr>
            <a:xfrm>
              <a:off x="952500" y="2476500"/>
              <a:ext cx="28575" cy="4762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33856" y="24441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6880" y="24765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解决方案总览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9166" y="2744152"/>
              <a:ext cx="1256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Solution Overview</a:t>
              </a:r>
            </a:p>
          </p:txBody>
        </p:sp>
      </p:grpSp>
      <p:sp>
        <p:nvSpPr>
          <p:cNvPr id="18" name="Line 18"/>
          <p:cNvSpPr/>
          <p:nvPr/>
        </p:nvSpPr>
        <p:spPr>
          <a:xfrm>
            <a:off x="952500" y="304800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952500" y="3206115"/>
            <a:ext cx="2211070" cy="508635"/>
            <a:chOff x="952500" y="3206115"/>
            <a:chExt cx="2211070" cy="508635"/>
          </a:xfrm>
        </p:grpSpPr>
        <p:sp>
          <p:nvSpPr>
            <p:cNvPr id="19" name="Rectangle 19"/>
            <p:cNvSpPr/>
            <p:nvPr/>
          </p:nvSpPr>
          <p:spPr>
            <a:xfrm>
              <a:off x="952500" y="3238500"/>
              <a:ext cx="28575" cy="4762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3856" y="32061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6880" y="32385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技术架构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09166" y="3506152"/>
              <a:ext cx="14544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System Architecture</a:t>
              </a:r>
            </a:p>
          </p:txBody>
        </p:sp>
      </p:grpSp>
      <p:sp>
        <p:nvSpPr>
          <p:cNvPr id="24" name="Line 24"/>
          <p:cNvSpPr/>
          <p:nvPr/>
        </p:nvSpPr>
        <p:spPr>
          <a:xfrm>
            <a:off x="952500" y="381000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952500" y="3968115"/>
            <a:ext cx="1751857" cy="508635"/>
            <a:chOff x="952500" y="3968115"/>
            <a:chExt cx="1751857" cy="508635"/>
          </a:xfrm>
        </p:grpSpPr>
        <p:sp>
          <p:nvSpPr>
            <p:cNvPr id="25" name="Rectangle 25"/>
            <p:cNvSpPr/>
            <p:nvPr/>
          </p:nvSpPr>
          <p:spPr>
            <a:xfrm>
              <a:off x="952500" y="4000500"/>
              <a:ext cx="28575" cy="4762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33856" y="39681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06880" y="40005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核心功能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09166" y="4268152"/>
              <a:ext cx="9951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Core Features</a:t>
              </a:r>
            </a:p>
          </p:txBody>
        </p:sp>
      </p:grpSp>
      <p:sp>
        <p:nvSpPr>
          <p:cNvPr id="30" name="Line 30"/>
          <p:cNvSpPr/>
          <p:nvPr/>
        </p:nvSpPr>
        <p:spPr>
          <a:xfrm>
            <a:off x="952500" y="457200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grpSp>
        <p:nvGrpSpPr>
          <p:cNvPr id="35" name="Group 35"/>
          <p:cNvGrpSpPr/>
          <p:nvPr/>
        </p:nvGrpSpPr>
        <p:grpSpPr>
          <a:xfrm>
            <a:off x="952500" y="4730115"/>
            <a:ext cx="2195953" cy="508635"/>
            <a:chOff x="952500" y="4730115"/>
            <a:chExt cx="2195953" cy="508635"/>
          </a:xfrm>
        </p:grpSpPr>
        <p:sp>
          <p:nvSpPr>
            <p:cNvPr id="31" name="Rectangle 31"/>
            <p:cNvSpPr/>
            <p:nvPr/>
          </p:nvSpPr>
          <p:spPr>
            <a:xfrm>
              <a:off x="952500" y="4762500"/>
              <a:ext cx="28575" cy="4762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33856" y="47301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06880" y="47625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创新亮点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09166" y="5030152"/>
              <a:ext cx="1439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Innovation Highlights</a:t>
              </a:r>
            </a:p>
          </p:txBody>
        </p:sp>
      </p:grpSp>
      <p:sp>
        <p:nvSpPr>
          <p:cNvPr id="36" name="Line 36"/>
          <p:cNvSpPr/>
          <p:nvPr/>
        </p:nvSpPr>
        <p:spPr>
          <a:xfrm>
            <a:off x="952500" y="533400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952500" y="5492115"/>
            <a:ext cx="2399545" cy="508635"/>
            <a:chOff x="952500" y="5492115"/>
            <a:chExt cx="2399545" cy="508635"/>
          </a:xfrm>
        </p:grpSpPr>
        <p:sp>
          <p:nvSpPr>
            <p:cNvPr id="37" name="Rectangle 37"/>
            <p:cNvSpPr/>
            <p:nvPr/>
          </p:nvSpPr>
          <p:spPr>
            <a:xfrm>
              <a:off x="952500" y="5524500"/>
              <a:ext cx="28575" cy="4762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33856" y="54921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06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06880" y="55245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应用价值与数据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09166" y="5792152"/>
              <a:ext cx="16428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Application Value &amp; Data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02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3000"/>
                </a:schemeClr>
              </a:gs>
              <a:gs pos="100000">
                <a:schemeClr val="accent2">
                  <a:alpha val="6000"/>
                </a:schemeClr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8572500" y="-1143000"/>
            <a:ext cx="3810000" cy="8763000"/>
            <a:chOff x="8572500" y="-1143000"/>
            <a:chExt cx="3810000" cy="8763000"/>
          </a:xfrm>
        </p:grpSpPr>
        <p:sp>
          <p:nvSpPr>
            <p:cNvPr id="4" name="Ellipse 4"/>
            <p:cNvSpPr/>
            <p:nvPr/>
          </p:nvSpPr>
          <p:spPr>
            <a:xfrm>
              <a:off x="8572500" y="-1143000"/>
              <a:ext cx="3810000" cy="3810000"/>
            </a:xfrm>
            <a:prstGeom prst="ellipse">
              <a:avLst/>
            </a:prstGeom>
            <a:solidFill>
              <a:schemeClr val="accent1">
                <a:alpha val="4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525000" y="4762500"/>
              <a:ext cx="2857500" cy="2857500"/>
            </a:xfrm>
            <a:prstGeom prst="ellipse">
              <a:avLst/>
            </a:prstGeom>
            <a:solidFill>
              <a:schemeClr val="accent2">
                <a:alpha val="4000"/>
              </a:scheme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 rot="-1200000">
              <a:off x="9223187" y="2737728"/>
              <a:ext cx="28575" cy="3810000"/>
            </a:xfrm>
            <a:prstGeom prst="rect">
              <a:avLst/>
            </a:prstGeom>
            <a:solidFill>
              <a:schemeClr val="accent1">
                <a:alpha val="4000"/>
              </a:schemeClr>
            </a:solidFill>
            <a:ln>
              <a:noFill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757238" y="283845"/>
            <a:ext cx="147530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01 · BACKGROUND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1332" y="582930"/>
            <a:ext cx="369646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每个算法学习者都懂的五道坎</a:t>
            </a:r>
          </a:p>
        </p:txBody>
      </p:sp>
      <p:sp>
        <p:nvSpPr>
          <p:cNvPr id="10" name="Line 10"/>
          <p:cNvSpPr/>
          <p:nvPr/>
        </p:nvSpPr>
        <p:spPr>
          <a:xfrm>
            <a:off x="762000" y="952500"/>
            <a:ext cx="2571750" cy="9525"/>
          </a:xfrm>
          <a:custGeom>
            <a:avLst/>
            <a:gdLst/>
            <a:ahLst/>
            <a:cxnLst/>
            <a:rect l="l" t="t" r="r" b="b"/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10287000" y="476250"/>
            <a:ext cx="1333500" cy="857250"/>
            <a:chOff x="10287000" y="476250"/>
            <a:chExt cx="1333500" cy="857250"/>
          </a:xfrm>
        </p:grpSpPr>
        <p:sp>
          <p:nvSpPr>
            <p:cNvPr id="11" name="Rectangle 11"/>
            <p:cNvSpPr/>
            <p:nvPr/>
          </p:nvSpPr>
          <p:spPr>
            <a:xfrm>
              <a:off x="10287000" y="476250"/>
              <a:ext cx="381000" cy="38100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763250" y="476250"/>
              <a:ext cx="381000" cy="381000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239500" y="476250"/>
              <a:ext cx="381000" cy="38100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525125" y="952500"/>
              <a:ext cx="381000" cy="381000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001375" y="952500"/>
              <a:ext cx="381000" cy="38100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762000" y="1333500"/>
            <a:ext cx="3238500" cy="952500"/>
            <a:chOff x="762000" y="1333500"/>
            <a:chExt cx="3238500" cy="952500"/>
          </a:xfrm>
        </p:grpSpPr>
        <p:sp>
          <p:nvSpPr>
            <p:cNvPr id="17" name="Rectangle 17"/>
            <p:cNvSpPr/>
            <p:nvPr/>
          </p:nvSpPr>
          <p:spPr>
            <a:xfrm>
              <a:off x="762000" y="1333500"/>
              <a:ext cx="3238500" cy="952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95350" y="1466850"/>
              <a:ext cx="266700" cy="2667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7115" y="154400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P1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51204" y="14897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概念抽象难懂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547" y="1799749"/>
              <a:ext cx="15849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树、图、动态规划高度抽象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7547" y="1990249"/>
              <a:ext cx="18474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课本静态插图难以展示动态过程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810000" y="1428750"/>
              <a:ext cx="95250" cy="762000"/>
            </a:xfrm>
            <a:prstGeom prst="roundRect">
              <a:avLst>
                <a:gd name="adj" fmla="val 50000"/>
              </a:avLst>
            </a:prstGeom>
            <a:solidFill>
              <a:srgbClr val="EF4444">
                <a:alpha val="1000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4286250" y="1333500"/>
            <a:ext cx="3238500" cy="952500"/>
            <a:chOff x="4286250" y="1333500"/>
            <a:chExt cx="3238500" cy="952500"/>
          </a:xfrm>
        </p:grpSpPr>
        <p:sp>
          <p:nvSpPr>
            <p:cNvPr id="25" name="Rectangle 25"/>
            <p:cNvSpPr/>
            <p:nvPr/>
          </p:nvSpPr>
          <p:spPr>
            <a:xfrm>
              <a:off x="4286250" y="1333500"/>
              <a:ext cx="3238500" cy="952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4419600" y="1466850"/>
              <a:ext cx="266700" cy="2667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61365" y="154400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P2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75454" y="14897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刷题盲目无方向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71797" y="1799749"/>
              <a:ext cx="1453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不知先学什么、后学什么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71797" y="1990249"/>
              <a:ext cx="1453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题海茫茫缺乏个性化路径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334250" y="1428750"/>
              <a:ext cx="95250" cy="762000"/>
            </a:xfrm>
            <a:prstGeom prst="roundRect">
              <a:avLst>
                <a:gd name="adj" fmla="val 50000"/>
              </a:avLst>
            </a:prstGeom>
            <a:solidFill>
              <a:srgbClr val="EF4444">
                <a:alpha val="100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762000" y="2476500"/>
            <a:ext cx="3238500" cy="952500"/>
            <a:chOff x="762000" y="2476500"/>
            <a:chExt cx="3238500" cy="952500"/>
          </a:xfrm>
        </p:grpSpPr>
        <p:sp>
          <p:nvSpPr>
            <p:cNvPr id="33" name="Rectangle 33"/>
            <p:cNvSpPr/>
            <p:nvPr/>
          </p:nvSpPr>
          <p:spPr>
            <a:xfrm>
              <a:off x="762000" y="2476500"/>
              <a:ext cx="3238500" cy="952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895350" y="2609850"/>
              <a:ext cx="266700" cy="2667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37115" y="268700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P3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51204" y="26327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错题不知为何错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7547" y="2942749"/>
              <a:ext cx="16463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OJ只返回WA/TLE冰冷判定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7547" y="3133249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看不到程序运行轨迹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810000" y="2571750"/>
              <a:ext cx="95250" cy="762000"/>
            </a:xfrm>
            <a:prstGeom prst="roundRect">
              <a:avLst>
                <a:gd name="adj" fmla="val 50000"/>
              </a:avLst>
            </a:prstGeom>
            <a:solidFill>
              <a:srgbClr val="EF4444">
                <a:alpha val="10000"/>
              </a:srgbClr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4286250" y="2476500"/>
            <a:ext cx="3238500" cy="952500"/>
            <a:chOff x="4286250" y="2476500"/>
            <a:chExt cx="3238500" cy="952500"/>
          </a:xfrm>
        </p:grpSpPr>
        <p:sp>
          <p:nvSpPr>
            <p:cNvPr id="41" name="Rectangle 41"/>
            <p:cNvSpPr/>
            <p:nvPr/>
          </p:nvSpPr>
          <p:spPr>
            <a:xfrm>
              <a:off x="4286250" y="2476500"/>
              <a:ext cx="3238500" cy="952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4419600" y="2609850"/>
              <a:ext cx="266700" cy="2667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61365" y="268700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P4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75454" y="26327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学习过程无记录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71797" y="2942749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学过的内容散落各处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471797" y="3133249"/>
              <a:ext cx="928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换设备一切归零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334250" y="2571750"/>
              <a:ext cx="95250" cy="762000"/>
            </a:xfrm>
            <a:prstGeom prst="roundRect">
              <a:avLst>
                <a:gd name="adj" fmla="val 50000"/>
              </a:avLst>
            </a:prstGeom>
            <a:solidFill>
              <a:srgbClr val="EF4444">
                <a:alpha val="10000"/>
              </a:srgbClr>
            </a:solidFill>
            <a:ln>
              <a:noFill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762000" y="3619500"/>
            <a:ext cx="3238500" cy="952500"/>
            <a:chOff x="762000" y="3619500"/>
            <a:chExt cx="3238500" cy="952500"/>
          </a:xfrm>
        </p:grpSpPr>
        <p:sp>
          <p:nvSpPr>
            <p:cNvPr id="49" name="Rectangle 49"/>
            <p:cNvSpPr/>
            <p:nvPr/>
          </p:nvSpPr>
          <p:spPr>
            <a:xfrm>
              <a:off x="762000" y="3619500"/>
              <a:ext cx="3238500" cy="952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895350" y="3752850"/>
              <a:ext cx="266700" cy="2667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7115" y="383000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P5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251204" y="3775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教师难以因材施教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7547" y="4085749"/>
              <a:ext cx="15849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大班授课无法掌握个体差异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7547" y="4276249"/>
              <a:ext cx="15849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作业批改与学情分析靠人工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810000" y="3714750"/>
              <a:ext cx="95250" cy="762000"/>
            </a:xfrm>
            <a:prstGeom prst="roundRect">
              <a:avLst>
                <a:gd name="adj" fmla="val 50000"/>
              </a:avLst>
            </a:prstGeom>
            <a:solidFill>
              <a:srgbClr val="EF4444">
                <a:alpha val="10000"/>
              </a:srgbClr>
            </a:solidFill>
            <a:ln>
              <a:noFill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8191500" y="1473518"/>
            <a:ext cx="1366622" cy="2336482"/>
            <a:chOff x="8191500" y="1473518"/>
            <a:chExt cx="1366622" cy="2336482"/>
          </a:xfrm>
        </p:grpSpPr>
        <p:sp>
          <p:nvSpPr>
            <p:cNvPr id="57" name="Ellipse 57"/>
            <p:cNvSpPr/>
            <p:nvPr/>
          </p:nvSpPr>
          <p:spPr>
            <a:xfrm>
              <a:off x="8524875" y="1666875"/>
              <a:ext cx="476250" cy="476250"/>
            </a:xfrm>
            <a:prstGeom prst="ellipse">
              <a:avLst/>
            </a:prstGeom>
            <a:noFill/>
            <a:ln w="14288">
              <a:solidFill>
                <a:schemeClr val="accent1">
                  <a:alpha val="20000"/>
                </a:schemeClr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8763000" y="214312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4288">
              <a:solidFill>
                <a:schemeClr val="accent1">
                  <a:alpha val="20000"/>
                </a:schemeClr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8572500" y="23336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chemeClr val="accent1">
                  <a:alpha val="20000"/>
                </a:schemeClr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133332" y="14878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EF4444">
                      <a:alphaMod val="15000"/>
                    </a:srgbClr>
                  </a:solidFill>
                  <a:latin typeface="Inter"/>
                  <a:ea typeface="Inter"/>
                  <a:cs typeface="Inter"/>
                </a:rPr>
                <a:t>?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79892" y="14735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F4444">
                      <a:alphaMod val="10000"/>
                    </a:srgbClr>
                  </a:solidFill>
                  <a:latin typeface="Inter"/>
                  <a:ea typeface="Inter"/>
                  <a:cs typeface="Inter"/>
                </a:rPr>
                <a:t>?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320784" y="189928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F4444">
                      <a:alphaMod val="10000"/>
                    </a:srgbClr>
                  </a:solidFill>
                  <a:latin typeface="Inter"/>
                  <a:ea typeface="Inter"/>
                  <a:cs typeface="Inter"/>
                </a:rPr>
                <a:t>?</a:t>
              </a: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8191500" y="2667000"/>
              <a:ext cx="1143000" cy="1143000"/>
              <a:chOff x="8191500" y="2667000"/>
              <a:chExt cx="1143000" cy="1143000"/>
            </a:xfrm>
          </p:grpSpPr>
          <p:sp>
            <p:nvSpPr>
              <p:cNvPr id="63" name="Ellipse 63"/>
              <p:cNvSpPr/>
              <p:nvPr/>
            </p:nvSpPr>
            <p:spPr>
              <a:xfrm>
                <a:off x="8191500" y="2667000"/>
                <a:ext cx="1143000" cy="1143000"/>
              </a:xfrm>
              <a:prstGeom prst="ellipse">
                <a:avLst/>
              </a:prstGeom>
              <a:noFill/>
              <a:ln w="9525">
                <a:solidFill>
                  <a:schemeClr val="accent1">
                    <a:alpha val="8000"/>
                  </a:schemeClr>
                </a:solidFill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8382000" y="2857500"/>
                <a:ext cx="762000" cy="762000"/>
              </a:xfrm>
              <a:prstGeom prst="ellipse">
                <a:avLst/>
              </a:prstGeom>
              <a:noFill/>
              <a:ln w="9525">
                <a:solidFill>
                  <a:schemeClr val="accent1">
                    <a:alpha val="8000"/>
                  </a:schemeClr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8572500" y="3048000"/>
                <a:ext cx="381000" cy="381000"/>
              </a:xfrm>
              <a:prstGeom prst="ellipse">
                <a:avLst/>
              </a:prstGeom>
              <a:noFill/>
              <a:ln w="9525">
                <a:solidFill>
                  <a:schemeClr val="accent1">
                    <a:alpha val="8000"/>
                  </a:schemeClr>
                </a:solidFill>
              </a:ln>
            </p:spPr>
          </p:sp>
          <p:sp>
            <p:nvSpPr>
              <p:cNvPr id="66" name="Line 66"/>
              <p:cNvSpPr/>
              <p:nvPr/>
            </p:nvSpPr>
            <p:spPr>
              <a:xfrm>
                <a:off x="8191500" y="3238500"/>
                <a:ext cx="114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9525">
                    <a:moveTo>
                      <a:pt x="0" y="0"/>
                    </a:moveTo>
                    <a:lnTo>
                      <a:pt x="1143000" y="0"/>
                    </a:lnTo>
                  </a:path>
                </a:pathLst>
              </a:custGeom>
              <a:noFill/>
              <a:ln w="4762">
                <a:solidFill>
                  <a:schemeClr val="accent1">
                    <a:alpha val="8000"/>
                  </a:schemeClr>
                </a:solidFill>
              </a:ln>
            </p:spPr>
          </p:sp>
          <p:sp>
            <p:nvSpPr>
              <p:cNvPr id="67" name="Line 67"/>
              <p:cNvSpPr/>
              <p:nvPr/>
            </p:nvSpPr>
            <p:spPr>
              <a:xfrm>
                <a:off x="8572500" y="2857500"/>
                <a:ext cx="9525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0">
                    <a:moveTo>
                      <a:pt x="0" y="0"/>
                    </a:moveTo>
                    <a:lnTo>
                      <a:pt x="0" y="762000"/>
                    </a:lnTo>
                  </a:path>
                </a:pathLst>
              </a:custGeom>
              <a:noFill/>
              <a:ln w="4762">
                <a:solidFill>
                  <a:schemeClr val="accent1">
                    <a:alpha val="8000"/>
                  </a:schemeClr>
                </a:solidFill>
              </a:ln>
            </p:spPr>
          </p:sp>
          <p:sp>
            <p:nvSpPr>
              <p:cNvPr id="68" name="Line 68"/>
              <p:cNvSpPr/>
              <p:nvPr/>
            </p:nvSpPr>
            <p:spPr>
              <a:xfrm>
                <a:off x="8953500" y="2857500"/>
                <a:ext cx="9525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0">
                    <a:moveTo>
                      <a:pt x="0" y="0"/>
                    </a:moveTo>
                    <a:lnTo>
                      <a:pt x="0" y="762000"/>
                    </a:lnTo>
                  </a:path>
                </a:pathLst>
              </a:custGeom>
              <a:noFill/>
              <a:ln w="4762">
                <a:solidFill>
                  <a:schemeClr val="accent1">
                    <a:alpha val="8000"/>
                  </a:schemeClr>
                </a:solidFill>
              </a:ln>
            </p:spPr>
          </p:sp>
        </p:grpSp>
      </p:grpSp>
      <p:grpSp>
        <p:nvGrpSpPr>
          <p:cNvPr id="74" name="Group 74"/>
          <p:cNvGrpSpPr/>
          <p:nvPr/>
        </p:nvGrpSpPr>
        <p:grpSpPr>
          <a:xfrm>
            <a:off x="762000" y="4762500"/>
            <a:ext cx="6762750" cy="419100"/>
            <a:chOff x="762000" y="4762500"/>
            <a:chExt cx="6762750" cy="419100"/>
          </a:xfrm>
        </p:grpSpPr>
        <p:sp>
          <p:nvSpPr>
            <p:cNvPr id="71" name="Rectangle 71"/>
            <p:cNvSpPr/>
            <p:nvPr/>
          </p:nvSpPr>
          <p:spPr>
            <a:xfrm>
              <a:off x="762000" y="4762500"/>
              <a:ext cx="6762750" cy="41910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62000" y="4762500"/>
              <a:ext cx="38100" cy="419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46785" y="4907756"/>
              <a:ext cx="38127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✦ 公认"最难啃的硬骨头" — 各大高校计算机专业课程调研</a:t>
              </a:r>
            </a:p>
          </p:txBody>
        </p:sp>
      </p:grpSp>
      <p:sp>
        <p:nvSpPr>
          <p:cNvPr id="75" name="Rectangle 75"/>
          <p:cNvSpPr/>
          <p:nvPr/>
        </p:nvSpPr>
        <p:spPr>
          <a:xfrm>
            <a:off x="762000" y="5524500"/>
            <a:ext cx="10668000" cy="952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</p:sp>
      <p:sp>
        <p:nvSpPr>
          <p:cNvPr id="76" name="Ellipse 76"/>
          <p:cNvSpPr/>
          <p:nvPr/>
        </p:nvSpPr>
        <p:spPr>
          <a:xfrm>
            <a:off x="733425" y="5495925"/>
            <a:ext cx="57150" cy="571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7" name="Ellipse 77"/>
          <p:cNvSpPr/>
          <p:nvPr/>
        </p:nvSpPr>
        <p:spPr>
          <a:xfrm>
            <a:off x="11401425" y="5495925"/>
            <a:ext cx="57150" cy="571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03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00"/>
          </a:xfrm>
          <a:prstGeom prst="rect">
            <a:avLst/>
          </a:prstGeom>
          <a:gradFill>
            <a:gsLst>
              <a:gs pos="0">
                <a:schemeClr val="accent1">
                  <a:alpha val="4000"/>
                </a:schemeClr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-381000" y="3524250"/>
            <a:ext cx="13049250" cy="3810000"/>
            <a:chOff x="-381000" y="3524250"/>
            <a:chExt cx="13049250" cy="3810000"/>
          </a:xfrm>
        </p:grpSpPr>
        <p:sp>
          <p:nvSpPr>
            <p:cNvPr id="4" name="Ellipse 4"/>
            <p:cNvSpPr/>
            <p:nvPr/>
          </p:nvSpPr>
          <p:spPr>
            <a:xfrm>
              <a:off x="9239250" y="3524250"/>
              <a:ext cx="3429000" cy="3429000"/>
            </a:xfrm>
            <a:prstGeom prst="ellipse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381000" y="5048250"/>
              <a:ext cx="2286000" cy="2286000"/>
            </a:xfrm>
            <a:prstGeom prst="ellipse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757238" y="283845"/>
            <a:ext cx="147530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01 · BACKGROUND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1332" y="582930"/>
            <a:ext cx="28483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为什么现有方案不够？</a:t>
            </a:r>
          </a:p>
        </p:txBody>
      </p:sp>
      <p:sp>
        <p:nvSpPr>
          <p:cNvPr id="9" name="Line 9"/>
          <p:cNvSpPr/>
          <p:nvPr/>
        </p:nvSpPr>
        <p:spPr>
          <a:xfrm>
            <a:off x="762000" y="952500"/>
            <a:ext cx="2571750" cy="9525"/>
          </a:xfrm>
          <a:custGeom>
            <a:avLst/>
            <a:gdLst/>
            <a:ahLst/>
            <a:cxnLst/>
            <a:rect l="l" t="t" r="r" b="b"/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15" name="Group 15"/>
          <p:cNvGrpSpPr/>
          <p:nvPr/>
        </p:nvGrpSpPr>
        <p:grpSpPr>
          <a:xfrm>
            <a:off x="9906000" y="1143000"/>
            <a:ext cx="1143000" cy="762000"/>
            <a:chOff x="9906000" y="1143000"/>
            <a:chExt cx="1143000" cy="762000"/>
          </a:xfrm>
        </p:grpSpPr>
        <p:sp>
          <p:nvSpPr>
            <p:cNvPr id="10" name="Rectangle 10"/>
            <p:cNvSpPr/>
            <p:nvPr/>
          </p:nvSpPr>
          <p:spPr>
            <a:xfrm>
              <a:off x="9906000" y="1143000"/>
              <a:ext cx="1143000" cy="7620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001250" y="1285875"/>
              <a:ext cx="381000" cy="476250"/>
            </a:xfrm>
            <a:prstGeom prst="roundRect">
              <a:avLst>
                <a:gd name="adj" fmla="val 5000"/>
              </a:avLst>
            </a:prstGeom>
            <a:noFill/>
            <a:ln w="14288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572750" y="1285875"/>
              <a:ext cx="381000" cy="476250"/>
            </a:xfrm>
            <a:prstGeom prst="roundRect">
              <a:avLst>
                <a:gd name="adj" fmla="val 5000"/>
              </a:avLst>
            </a:prstGeom>
            <a:noFill/>
            <a:ln w="14288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0191750" y="14287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763250" y="1428750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14288">
              <a:solidFill>
                <a:srgbClr val="FFFFFF">
                  <a:alpha val="6000"/>
                </a:srgbClr>
              </a:solidFill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762000" y="1333500"/>
            <a:ext cx="9334500" cy="2933700"/>
            <a:chOff x="762000" y="1333500"/>
            <a:chExt cx="9334500" cy="2933700"/>
          </a:xfrm>
        </p:grpSpPr>
        <p:sp>
          <p:nvSpPr>
            <p:cNvPr id="16" name="Rectangle 16"/>
            <p:cNvSpPr/>
            <p:nvPr/>
          </p:nvSpPr>
          <p:spPr>
            <a:xfrm>
              <a:off x="762000" y="1333500"/>
              <a:ext cx="3619500" cy="400050"/>
            </a:xfrm>
            <a:prstGeom prst="roundRect">
              <a:avLst>
                <a:gd name="adj" fmla="val 952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476750" y="1333500"/>
              <a:ext cx="4572000" cy="400050"/>
            </a:xfrm>
            <a:prstGeom prst="roundRect">
              <a:avLst>
                <a:gd name="adj" fmla="val 952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9144000" y="1333500"/>
              <a:ext cx="952500" cy="400050"/>
            </a:xfrm>
            <a:prstGeom prst="roundRect">
              <a:avLst>
                <a:gd name="adj" fmla="val 952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425065" y="14678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方案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74714" y="14678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核心不足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3565" y="14678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评价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762000" y="1790700"/>
              <a:ext cx="9334500" cy="457200"/>
              <a:chOff x="762000" y="1790700"/>
              <a:chExt cx="9334500" cy="4572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762000" y="1790700"/>
                <a:ext cx="3619500" cy="4572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EDF0F5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4476750" y="1790700"/>
                <a:ext cx="4572000" cy="4572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EDF0F5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9144000" y="1790700"/>
                <a:ext cx="952500" cy="4572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EDF0F5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85266" y="1953578"/>
                <a:ext cx="152659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传统 OJ（力扣/洛谷）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700397" y="1961674"/>
                <a:ext cx="237248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只判对错，无诊断、无画像、无路径规划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560915" y="192119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EF4444"/>
                    </a:solidFill>
                    <a:latin typeface="Inter"/>
                    <a:ea typeface="Inter"/>
                    <a:cs typeface="Inter"/>
                  </a:rPr>
                  <a:t>✗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762000" y="2286000"/>
              <a:ext cx="9334500" cy="457200"/>
              <a:chOff x="762000" y="2286000"/>
              <a:chExt cx="9334500" cy="4572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762000" y="2286000"/>
                <a:ext cx="3619500" cy="4572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EDF0F5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4476750" y="2286000"/>
                <a:ext cx="4572000" cy="4572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EDF0F5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9144000" y="2286000"/>
                <a:ext cx="952500" cy="4572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EDF0F5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85266" y="2448878"/>
                <a:ext cx="77236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MOOC 课程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700397" y="2456974"/>
                <a:ext cx="25037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视频单向输出，无个性化、无交互式可视化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560915" y="241649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EF4444"/>
                    </a:solidFill>
                    <a:latin typeface="Inter"/>
                    <a:ea typeface="Inter"/>
                    <a:cs typeface="Inter"/>
                  </a:rPr>
                  <a:t>✗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62000" y="2781300"/>
              <a:ext cx="9334500" cy="457200"/>
              <a:chOff x="762000" y="2781300"/>
              <a:chExt cx="9334500" cy="4572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62000" y="2781300"/>
                <a:ext cx="3619500" cy="4572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EDF0F5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4476750" y="2781300"/>
                <a:ext cx="4572000" cy="4572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EDF0F5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9144000" y="2781300"/>
                <a:ext cx="952500" cy="4572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EDF0F5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985266" y="2944178"/>
                <a:ext cx="82463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通用 AI 助手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700397" y="2952274"/>
                <a:ext cx="184746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无课程知识库约束，易产生幻觉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560915" y="291179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EF4444"/>
                    </a:solidFill>
                    <a:latin typeface="Inter"/>
                    <a:ea typeface="Inter"/>
                    <a:cs typeface="Inter"/>
                  </a:rPr>
                  <a:t>△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62000" y="3276600"/>
              <a:ext cx="9334500" cy="457200"/>
              <a:chOff x="762000" y="3276600"/>
              <a:chExt cx="9334500" cy="4572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762000" y="3276600"/>
                <a:ext cx="3619500" cy="4572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EDF0F5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4476750" y="3276600"/>
                <a:ext cx="4572000" cy="4572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EDF0F5"/>
                </a:solidFill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9144000" y="3276600"/>
                <a:ext cx="952500" cy="4572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EDF0F5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985266" y="3439478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算法可视化网站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700397" y="3447574"/>
                <a:ext cx="237248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只能看预设动画，不能追踪自己写的代码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560915" y="340709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EF4444"/>
                    </a:solidFill>
                    <a:latin typeface="Inter"/>
                    <a:ea typeface="Inter"/>
                    <a:cs typeface="Inter"/>
                  </a:rPr>
                  <a:t>✗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762000" y="3810000"/>
              <a:ext cx="9334500" cy="457200"/>
              <a:chOff x="762000" y="3810000"/>
              <a:chExt cx="9334500" cy="4572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762000" y="3810000"/>
                <a:ext cx="3619500" cy="457200"/>
              </a:xfrm>
              <a:prstGeom prst="roundRect">
                <a:avLst>
                  <a:gd name="adj" fmla="val 8333"/>
                </a:avLst>
              </a:prstGeom>
              <a:solidFill>
                <a:schemeClr val="lt2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4476750" y="3810000"/>
                <a:ext cx="4572000" cy="457200"/>
              </a:xfrm>
              <a:prstGeom prst="roundRect">
                <a:avLst>
                  <a:gd name="adj" fmla="val 8333"/>
                </a:avLst>
              </a:prstGeom>
              <a:solidFill>
                <a:schemeClr val="lt2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9144000" y="3810000"/>
                <a:ext cx="952500" cy="457200"/>
              </a:xfrm>
              <a:prstGeom prst="roundRect">
                <a:avLst>
                  <a:gd name="adj" fmla="val 8333"/>
                </a:avLst>
              </a:prstGeom>
              <a:solidFill>
                <a:schemeClr val="lt2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762000" y="3848100"/>
                <a:ext cx="38100" cy="381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985266" y="3972878"/>
                <a:ext cx="124300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AlgoPilot（我们）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4700397" y="3980974"/>
                <a:ext cx="281072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全流程智能闭环 — 画像+路径+资源+Trace+辅导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560915" y="394049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accent6"/>
                    </a:solidFill>
                    <a:latin typeface="Inter"/>
                    <a:ea typeface="Inter"/>
                    <a:cs typeface="Inter"/>
                  </a:rPr>
                  <a:t>✓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762000" y="4572000"/>
            <a:ext cx="6858000" cy="666750"/>
            <a:chOff x="762000" y="4572000"/>
            <a:chExt cx="6858000" cy="666750"/>
          </a:xfrm>
        </p:grpSpPr>
        <p:sp>
          <p:nvSpPr>
            <p:cNvPr id="59" name="Rectangle 59"/>
            <p:cNvSpPr/>
            <p:nvPr/>
          </p:nvSpPr>
          <p:spPr>
            <a:xfrm>
              <a:off x="762000" y="4572000"/>
              <a:ext cx="685800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  <a:custDash>
                <a:ds d="500000" sp="300000"/>
              </a:custDash>
            </a:ln>
          </p:spPr>
        </p:sp>
        <p:sp>
          <p:nvSpPr>
            <p:cNvPr id="60" name="Rectangle 60"/>
            <p:cNvSpPr/>
            <p:nvPr/>
          </p:nvSpPr>
          <p:spPr>
            <a:xfrm>
              <a:off x="762000" y="4572000"/>
              <a:ext cx="38100" cy="666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46785" y="4717256"/>
              <a:ext cx="15986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💡 AlgoPilot 的解决思路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7547" y="4981099"/>
              <a:ext cx="49902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多智能体协同 · RAG 知识库 · 大语言模型 · 代码 Trace 可视化 — 四大技术深度融合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04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5"/>
          <p:cNvGrpSpPr/>
          <p:nvPr/>
        </p:nvGrpSpPr>
        <p:grpSpPr>
          <a:xfrm>
            <a:off x="5524500" y="-2667000"/>
            <a:ext cx="7239000" cy="7239000"/>
            <a:chOff x="5524500" y="-2667000"/>
            <a:chExt cx="7239000" cy="7239000"/>
          </a:xfrm>
        </p:grpSpPr>
        <p:sp>
          <p:nvSpPr>
            <p:cNvPr id="2" name="Ellipse 2"/>
            <p:cNvSpPr/>
            <p:nvPr/>
          </p:nvSpPr>
          <p:spPr>
            <a:xfrm>
              <a:off x="7429500" y="-762000"/>
              <a:ext cx="3429000" cy="3429000"/>
            </a:xfrm>
            <a:prstGeom prst="ellipse">
              <a:avLst/>
            </a:pr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6477000" y="-1714500"/>
              <a:ext cx="5334000" cy="5334000"/>
            </a:xfrm>
            <a:prstGeom prst="ellipse">
              <a:avLst/>
            </a:prstGeom>
            <a:noFill/>
            <a:ln w="4762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5524500" y="-2667000"/>
              <a:ext cx="7239000" cy="7239000"/>
            </a:xfrm>
            <a:prstGeom prst="ellipse">
              <a:avLst/>
            </a:prstGeom>
            <a:noFill/>
            <a:ln w="2858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7429500" y="9525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4762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144000" y="-7620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4762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353425" y="542925"/>
              <a:ext cx="57150" cy="57150"/>
            </a:xfrm>
            <a:prstGeom prst="ellipse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886950" y="457200"/>
              <a:ext cx="38100" cy="38100"/>
            </a:xfrm>
            <a:prstGeom prst="ellipse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077200" y="1504950"/>
              <a:ext cx="38100" cy="38100"/>
            </a:xfrm>
            <a:prstGeom prst="ellipse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972675" y="1304925"/>
              <a:ext cx="57150" cy="57150"/>
            </a:xfrm>
            <a:prstGeom prst="ellipse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8382000" y="571500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0" y="0"/>
                  </a:moveTo>
                  <a:lnTo>
                    <a:pt x="762000" y="381000"/>
                  </a:lnTo>
                </a:path>
              </a:pathLst>
            </a:custGeom>
            <a:noFill/>
            <a:ln w="4762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9144000" y="476250"/>
              <a:ext cx="762000" cy="476250"/>
            </a:xfrm>
            <a:custGeom>
              <a:avLst/>
              <a:gdLst/>
              <a:ahLst/>
              <a:cxnLst/>
              <a:rect l="l" t="t" r="r" b="b"/>
              <a:pathLst>
                <a:path w="762000" h="476250">
                  <a:moveTo>
                    <a:pt x="762000" y="0"/>
                  </a:moveTo>
                  <a:lnTo>
                    <a:pt x="0" y="476250"/>
                  </a:lnTo>
                </a:path>
              </a:pathLst>
            </a:custGeom>
            <a:noFill/>
            <a:ln w="4762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096250" y="952500"/>
              <a:ext cx="1047750" cy="571500"/>
            </a:xfrm>
            <a:custGeom>
              <a:avLst/>
              <a:gdLst/>
              <a:ahLst/>
              <a:cxnLst/>
              <a:rect l="l" t="t" r="r" b="b"/>
              <a:pathLst>
                <a:path w="1047750" h="571500">
                  <a:moveTo>
                    <a:pt x="0" y="571500"/>
                  </a:moveTo>
                  <a:lnTo>
                    <a:pt x="1047750" y="0"/>
                  </a:lnTo>
                </a:path>
              </a:pathLst>
            </a:custGeom>
            <a:noFill/>
            <a:ln w="4762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144000" y="952500"/>
              <a:ext cx="857250" cy="381000"/>
            </a:xfrm>
            <a:custGeom>
              <a:avLst/>
              <a:gdLst/>
              <a:ahLst/>
              <a:cxnLst/>
              <a:rect l="l" t="t" r="r" b="b"/>
              <a:pathLst>
                <a:path w="857250" h="381000">
                  <a:moveTo>
                    <a:pt x="857250" y="381000"/>
                  </a:moveTo>
                  <a:lnTo>
                    <a:pt x="0" y="0"/>
                  </a:lnTo>
                </a:path>
              </a:pathLst>
            </a:custGeom>
            <a:noFill/>
            <a:ln w="4762">
              <a:solidFill>
                <a:srgbClr val="FFFFFF">
                  <a:alpha val="6000"/>
                </a:srgbClr>
              </a:solidFill>
            </a:ln>
          </p:spPr>
        </p:sp>
      </p:grpSp>
      <p:sp>
        <p:nvSpPr>
          <p:cNvPr id="16" name="Rectangle 16"/>
          <p:cNvSpPr/>
          <p:nvPr/>
        </p:nvSpPr>
        <p:spPr>
          <a:xfrm>
            <a:off x="762000" y="1905000"/>
            <a:ext cx="571500" cy="38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56666" y="2172652"/>
            <a:ext cx="15383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300" dirty="0">
                <a:solidFill>
                  <a:schemeClr val="accent3"/>
                </a:solidFill>
                <a:latin typeface="Inter"/>
                <a:ea typeface="Inter"/>
                <a:cs typeface="Inter"/>
              </a:rPr>
              <a:t>02 · SOLUTION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3712" y="2564130"/>
            <a:ext cx="220068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AlgoPilot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5998" y="3184208"/>
            <a:ext cx="225828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算法领航员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905250"/>
            <a:ext cx="28575" cy="476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4880" y="3952875"/>
            <a:ext cx="46596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一个懂你、记你、陪你、纠你的全流程智能学习平台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6404" y="4232910"/>
            <a:ext cx="5336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Inter"/>
                <a:ea typeface="Microsoft YaHei"/>
                <a:cs typeface="Inter"/>
              </a:rPr>
              <a:t>多智能体协同 + RAG 知识库 + 大语言模型 + 代码 Trace 可视化 深度融合</a:t>
            </a:r>
          </a:p>
        </p:txBody>
      </p:sp>
      <p:sp>
        <p:nvSpPr>
          <p:cNvPr id="23" name="Rectangle 23"/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0F1D3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55904" y="5966460"/>
            <a:ext cx="110260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Inter"/>
                <a:ea typeface="Microsoft YaHei"/>
                <a:cs typeface="Inter"/>
              </a:rPr>
              <a:t>面向《数据结构与算法》课程，提供对话式学生画像、个性化学习路径、多智能体资源生成、OJ 判题与 Trace 可视化诊断、AI 辅导与教师学情看板。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6666" y="6363652"/>
            <a:ext cx="73214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2"/>
                </a:solidFill>
                <a:latin typeface="Inter"/>
                <a:ea typeface="Microsoft YaHei"/>
                <a:cs typeface="Inter"/>
              </a:rPr>
              <a:t>系统通过 BM25 RAG 检索、内容校验、安全审查和有限重试等机制，降低大模型生成幻觉和不合规内容的风险。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019358" y="6427470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3"/>
                </a:solidFill>
                <a:latin typeface="Inter"/>
                <a:ea typeface="Inter"/>
                <a:cs typeface="Inter"/>
              </a:rPr>
              <a:t>05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381250"/>
          </a:xfrm>
          <a:prstGeom prst="rect">
            <a:avLst/>
          </a:prstGeom>
          <a:gradFill>
            <a:gsLst>
              <a:gs pos="0">
                <a:schemeClr val="accent1">
                  <a:alpha val="4000"/>
                </a:schemeClr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0" y="0"/>
            <a:ext cx="11906250" cy="7239000"/>
            <a:chOff x="0" y="0"/>
            <a:chExt cx="11906250" cy="7239000"/>
          </a:xfrm>
        </p:grpSpPr>
        <p:sp>
          <p:nvSpPr>
            <p:cNvPr id="4" name="Ellipse 4"/>
            <p:cNvSpPr/>
            <p:nvPr/>
          </p:nvSpPr>
          <p:spPr>
            <a:xfrm>
              <a:off x="10001250" y="0"/>
              <a:ext cx="1905000" cy="1905000"/>
            </a:xfrm>
            <a:prstGeom prst="ellipse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0" y="5715000"/>
              <a:ext cx="1524000" cy="1524000"/>
            </a:xfrm>
            <a:prstGeom prst="ellipse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757238" y="283845"/>
            <a:ext cx="126408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02 · SOLUTION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1332" y="582930"/>
            <a:ext cx="375300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从"不会"到"掌握"的智能闭环</a:t>
            </a:r>
          </a:p>
        </p:txBody>
      </p:sp>
      <p:sp>
        <p:nvSpPr>
          <p:cNvPr id="9" name="Line 9"/>
          <p:cNvSpPr/>
          <p:nvPr/>
        </p:nvSpPr>
        <p:spPr>
          <a:xfrm>
            <a:off x="762000" y="9525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45" name="Group 45"/>
          <p:cNvGrpSpPr/>
          <p:nvPr/>
        </p:nvGrpSpPr>
        <p:grpSpPr>
          <a:xfrm>
            <a:off x="3219450" y="647700"/>
            <a:ext cx="5753100" cy="6009989"/>
            <a:chOff x="3219450" y="647700"/>
            <a:chExt cx="5753100" cy="6009989"/>
          </a:xfrm>
        </p:grpSpPr>
        <p:sp>
          <p:nvSpPr>
            <p:cNvPr id="10" name="Ellipse 10"/>
            <p:cNvSpPr/>
            <p:nvPr/>
          </p:nvSpPr>
          <p:spPr>
            <a:xfrm>
              <a:off x="3905250" y="1333500"/>
              <a:ext cx="4381500" cy="4381500"/>
            </a:xfrm>
            <a:prstGeom prst="ellipse">
              <a:avLst/>
            </a:prstGeom>
            <a:noFill/>
            <a:ln w="4762">
              <a:solidFill>
                <a:schemeClr val="accent4"/>
              </a:solidFill>
              <a:custDash>
                <a:ds d="600000" sp="1200000"/>
              </a:custDash>
            </a:ln>
          </p:spPr>
        </p:sp>
        <p:sp>
          <p:nvSpPr>
            <p:cNvPr id="11" name="Ellipse 11"/>
            <p:cNvSpPr/>
            <p:nvPr/>
          </p:nvSpPr>
          <p:spPr>
            <a:xfrm>
              <a:off x="4095750" y="1524000"/>
              <a:ext cx="4000500" cy="4000500"/>
            </a:xfrm>
            <a:prstGeom prst="ellipse">
              <a:avLst/>
            </a:prstGeom>
            <a:noFill/>
            <a:ln w="9525">
              <a:solidFill>
                <a:srgbClr val="EDF0F5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286250" y="1714500"/>
              <a:ext cx="3619500" cy="3619500"/>
              <a:chOff x="4286250" y="1714500"/>
              <a:chExt cx="3619500" cy="36195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6096000" y="1714500"/>
                <a:ext cx="1809750" cy="180975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1809750">
                    <a:moveTo>
                      <a:pt x="0" y="0"/>
                    </a:moveTo>
                    <a:cubicBezTo>
                      <a:pt x="999497" y="0"/>
                      <a:pt x="1809750" y="810253"/>
                      <a:pt x="1809750" y="1809750"/>
                    </a:cubicBez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096000" y="3524250"/>
                <a:ext cx="1809750" cy="180975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1809750">
                    <a:moveTo>
                      <a:pt x="1809750" y="0"/>
                    </a:moveTo>
                    <a:cubicBezTo>
                      <a:pt x="1809750" y="999497"/>
                      <a:pt x="999497" y="1809750"/>
                      <a:pt x="0" y="1809750"/>
                    </a:cubicBez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286250" y="3524250"/>
                <a:ext cx="1809750" cy="180975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1809750">
                    <a:moveTo>
                      <a:pt x="1809750" y="1809750"/>
                    </a:moveTo>
                    <a:cubicBezTo>
                      <a:pt x="810253" y="1809750"/>
                      <a:pt x="0" y="999497"/>
                      <a:pt x="0" y="0"/>
                    </a:cubicBez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286250" y="1714500"/>
                <a:ext cx="1809750" cy="180975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1809750">
                    <a:moveTo>
                      <a:pt x="0" y="1809750"/>
                    </a:moveTo>
                    <a:cubicBezTo>
                      <a:pt x="0" y="810253"/>
                      <a:pt x="810253" y="0"/>
                      <a:pt x="1809750" y="0"/>
                    </a:cubicBez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</p:grpSp>
        <p:sp>
          <p:nvSpPr>
            <p:cNvPr id="17" name="Polygon 17"/>
            <p:cNvSpPr/>
            <p:nvPr/>
          </p:nvSpPr>
          <p:spPr>
            <a:xfrm>
              <a:off x="7791450" y="3286125"/>
              <a:ext cx="142875" cy="114300"/>
            </a:xfrm>
            <a:custGeom>
              <a:avLst/>
              <a:gdLst/>
              <a:ahLst/>
              <a:cxnLst/>
              <a:rect l="l" t="t" r="r" b="b"/>
              <a:pathLst>
                <a:path w="142875" h="114300">
                  <a:moveTo>
                    <a:pt x="66675" y="0"/>
                  </a:moveTo>
                  <a:lnTo>
                    <a:pt x="0" y="66675"/>
                  </a:lnTo>
                  <a:lnTo>
                    <a:pt x="142875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8" name="Polygon 18"/>
            <p:cNvSpPr/>
            <p:nvPr/>
          </p:nvSpPr>
          <p:spPr>
            <a:xfrm>
              <a:off x="6219825" y="5219700"/>
              <a:ext cx="114300" cy="142875"/>
            </a:xfrm>
            <a:custGeom>
              <a:avLst/>
              <a:gdLst/>
              <a:ahLst/>
              <a:cxnLst/>
              <a:rect l="l" t="t" r="r" b="b"/>
              <a:pathLst>
                <a:path w="114300" h="142875">
                  <a:moveTo>
                    <a:pt x="114300" y="66675"/>
                  </a:moveTo>
                  <a:lnTo>
                    <a:pt x="47625" y="0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Polygon 19"/>
            <p:cNvSpPr/>
            <p:nvPr/>
          </p:nvSpPr>
          <p:spPr>
            <a:xfrm>
              <a:off x="4257675" y="3648075"/>
              <a:ext cx="142875" cy="114300"/>
            </a:xfrm>
            <a:custGeom>
              <a:avLst/>
              <a:gdLst/>
              <a:ahLst/>
              <a:cxnLst/>
              <a:rect l="l" t="t" r="r" b="b"/>
              <a:pathLst>
                <a:path w="142875" h="114300">
                  <a:moveTo>
                    <a:pt x="76200" y="114300"/>
                  </a:moveTo>
                  <a:lnTo>
                    <a:pt x="142875" y="476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Polygon 20"/>
            <p:cNvSpPr/>
            <p:nvPr/>
          </p:nvSpPr>
          <p:spPr>
            <a:xfrm>
              <a:off x="5857875" y="1685925"/>
              <a:ext cx="114300" cy="142875"/>
            </a:xfrm>
            <a:custGeom>
              <a:avLst/>
              <a:gdLst/>
              <a:ahLst/>
              <a:cxnLst/>
              <a:rect l="l" t="t" r="r" b="b"/>
              <a:pathLst>
                <a:path w="114300" h="142875">
                  <a:moveTo>
                    <a:pt x="0" y="76200"/>
                  </a:moveTo>
                  <a:lnTo>
                    <a:pt x="66675" y="142875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572125" y="3000375"/>
              <a:ext cx="1047750" cy="1047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572125" y="3000375"/>
              <a:ext cx="1047750" cy="1047750"/>
            </a:xfrm>
            <a:prstGeom prst="ellipse">
              <a:avLst/>
            </a:prstGeom>
            <a:noFill/>
            <a:ln w="19050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20283" y="33185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智能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20283" y="35090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闭环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5695950" y="647700"/>
              <a:ext cx="800100" cy="1056989"/>
              <a:chOff x="5695950" y="647700"/>
              <a:chExt cx="800100" cy="1056989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5695950" y="647700"/>
                <a:ext cx="800100" cy="800100"/>
              </a:xfrm>
              <a:prstGeom prst="ellipse">
                <a:avLst/>
              </a:prstGeom>
              <a:solidFill>
                <a:srgbClr val="FFFFFF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5762625" y="714375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009036" y="982028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01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828538" y="1513999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学生画像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8172450" y="3124200"/>
              <a:ext cx="800100" cy="1056989"/>
              <a:chOff x="8172450" y="3124200"/>
              <a:chExt cx="800100" cy="1056989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8172450" y="3124200"/>
                <a:ext cx="800100" cy="800100"/>
              </a:xfrm>
              <a:prstGeom prst="ellipse">
                <a:avLst/>
              </a:prstGeom>
              <a:solidFill>
                <a:srgbClr val="FFFFFF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8239125" y="3190875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485536" y="3458528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02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305038" y="3990499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学习路径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695950" y="5600700"/>
              <a:ext cx="800100" cy="1056989"/>
              <a:chOff x="5695950" y="5600700"/>
              <a:chExt cx="800100" cy="1056989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5695950" y="5600700"/>
                <a:ext cx="800100" cy="800100"/>
              </a:xfrm>
              <a:prstGeom prst="ellipse">
                <a:avLst/>
              </a:prstGeom>
              <a:solidFill>
                <a:srgbClr val="FFFFFF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5762625" y="5667375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009036" y="5935028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03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828538" y="6466999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资源生成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3219450" y="3124200"/>
              <a:ext cx="800100" cy="1056989"/>
              <a:chOff x="3219450" y="3124200"/>
              <a:chExt cx="800100" cy="1056989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3219450" y="3124200"/>
                <a:ext cx="800100" cy="800100"/>
              </a:xfrm>
              <a:prstGeom prst="ellipse">
                <a:avLst/>
              </a:prstGeom>
              <a:solidFill>
                <a:srgbClr val="FFFFFF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3286125" y="3190875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3532536" y="3458528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04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3305338" y="3990499"/>
                <a:ext cx="62832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OJ/Trace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8572500" y="2381250"/>
            <a:ext cx="2286000" cy="1143000"/>
            <a:chOff x="8572500" y="2381250"/>
            <a:chExt cx="2286000" cy="1143000"/>
          </a:xfrm>
        </p:grpSpPr>
        <p:sp>
          <p:nvSpPr>
            <p:cNvPr id="46" name="Rectangle 46"/>
            <p:cNvSpPr/>
            <p:nvPr/>
          </p:nvSpPr>
          <p:spPr>
            <a:xfrm>
              <a:off x="8572500" y="2381250"/>
              <a:ext cx="2286000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572500" y="2381250"/>
              <a:ext cx="2286000" cy="333375"/>
            </a:xfrm>
            <a:prstGeom prst="roundRect">
              <a:avLst>
                <a:gd name="adj" fmla="val 2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448038" y="2495074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持续迭代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10422" y="2847499"/>
              <a:ext cx="13421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掌握度评估 → 路径调整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10422" y="3057049"/>
              <a:ext cx="13421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画像更新 → 资源重生成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10612" y="3274695"/>
              <a:ext cx="11181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动态优化 · 持续迭代</a:t>
              </a:r>
            </a:p>
          </p:txBody>
        </p:sp>
      </p:grpSp>
      <p:sp>
        <p:nvSpPr>
          <p:cNvPr id="53" name="Line 53"/>
          <p:cNvSpPr/>
          <p:nvPr/>
        </p:nvSpPr>
        <p:spPr>
          <a:xfrm>
            <a:off x="7905750" y="29527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571500"/>
                </a:moveTo>
                <a:lnTo>
                  <a:pt x="571500" y="0"/>
                </a:lnTo>
              </a:path>
            </a:pathLst>
          </a:custGeom>
          <a:noFill/>
          <a:ln w="14288">
            <a:solidFill>
              <a:schemeClr val="accent2"/>
            </a:solidFill>
            <a:custDash>
              <a:ds d="266666" sp="200000"/>
            </a:custDash>
          </a:ln>
        </p:spPr>
      </p:sp>
      <p:sp>
        <p:nvSpPr>
          <p:cNvPr id="54" name="Polygon 54"/>
          <p:cNvSpPr/>
          <p:nvPr/>
        </p:nvSpPr>
        <p:spPr>
          <a:xfrm>
            <a:off x="8401050" y="29146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06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7238" y="283845"/>
            <a:ext cx="162252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03 ·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1332" y="582930"/>
            <a:ext cx="317346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三层架构 + 多智能体编排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762000" y="1333500"/>
            <a:ext cx="10668000" cy="1143000"/>
            <a:chOff x="762000" y="1333500"/>
            <a:chExt cx="10668000" cy="114300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106680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333500"/>
              <a:ext cx="1333500" cy="1143000"/>
            </a:xfrm>
            <a:prstGeom prst="roundRect">
              <a:avLst>
                <a:gd name="adj" fmla="val 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53033" y="17278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前端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55554" y="1979295"/>
              <a:ext cx="5463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3"/>
                  </a:solidFill>
                  <a:latin typeface="Inter"/>
                  <a:ea typeface="Inter"/>
                  <a:cs typeface="Inter"/>
                </a:rPr>
                <a:t>Frontend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2268651" y="1524000"/>
              <a:ext cx="1558698" cy="762000"/>
              <a:chOff x="2268651" y="1524000"/>
              <a:chExt cx="1558698" cy="762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2286000" y="1524000"/>
                <a:ext cx="1524000" cy="762000"/>
              </a:xfrm>
              <a:prstGeom prst="roundRect">
                <a:avLst>
                  <a:gd name="adj" fmla="val 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405438" y="1744028"/>
                <a:ext cx="1285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Vue 3 + TypeScript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268651" y="1979295"/>
                <a:ext cx="155869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Element Plus · CodeMirror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000500" y="1524000"/>
              <a:ext cx="1524000" cy="762000"/>
              <a:chOff x="4000500" y="1524000"/>
              <a:chExt cx="1524000" cy="7620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000500" y="1524000"/>
                <a:ext cx="1524000" cy="762000"/>
              </a:xfrm>
              <a:prstGeom prst="roundRect">
                <a:avLst>
                  <a:gd name="adj" fmla="val 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477998" y="1744028"/>
                <a:ext cx="56900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30+ 页面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42816" y="1979295"/>
                <a:ext cx="103936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70+ 组件 · 13 游戏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715000" y="1524000"/>
              <a:ext cx="1524000" cy="762000"/>
              <a:chOff x="5715000" y="1524000"/>
              <a:chExt cx="1524000" cy="7620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715000" y="1524000"/>
                <a:ext cx="1524000" cy="762000"/>
              </a:xfrm>
              <a:prstGeom prst="roundRect">
                <a:avLst>
                  <a:gd name="adj" fmla="val 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5924878" y="1744028"/>
                <a:ext cx="110424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Mermaid · D3.js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011466" y="1979295"/>
                <a:ext cx="93106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Vue Flow · Pinia</a:t>
                </a: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6045479" y="22040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▼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2619375"/>
            <a:ext cx="10668000" cy="1000125"/>
            <a:chOff x="762000" y="2619375"/>
            <a:chExt cx="10668000" cy="1000125"/>
          </a:xfrm>
        </p:grpSpPr>
        <p:sp>
          <p:nvSpPr>
            <p:cNvPr id="24" name="Rectangle 24"/>
            <p:cNvSpPr/>
            <p:nvPr/>
          </p:nvSpPr>
          <p:spPr>
            <a:xfrm>
              <a:off x="762000" y="2619375"/>
              <a:ext cx="10668000" cy="1000125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2000" y="2619375"/>
              <a:ext cx="1333500" cy="1000125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80704" y="2947035"/>
              <a:ext cx="4960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API 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46781" y="3188970"/>
              <a:ext cx="5639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3"/>
                  </a:solidFill>
                  <a:latin typeface="Inter"/>
                  <a:ea typeface="Inter"/>
                  <a:cs typeface="Inter"/>
                </a:rPr>
                <a:t>API Layer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2286000" y="2762250"/>
              <a:ext cx="1524000" cy="714375"/>
              <a:chOff x="2286000" y="2762250"/>
              <a:chExt cx="1524000" cy="714375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2286000" y="2762250"/>
                <a:ext cx="1524000" cy="714375"/>
              </a:xfrm>
              <a:prstGeom prst="roundRect">
                <a:avLst>
                  <a:gd name="adj" fmla="val 533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2780005" y="2953702"/>
                <a:ext cx="53599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FastAPI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512471" y="3179445"/>
                <a:ext cx="107105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16 路由 · Pydantic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000500" y="2762250"/>
              <a:ext cx="1524000" cy="714375"/>
              <a:chOff x="4000500" y="2762250"/>
              <a:chExt cx="1524000" cy="714375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4000500" y="2762250"/>
                <a:ext cx="1524000" cy="714375"/>
              </a:xfrm>
              <a:prstGeom prst="roundRect">
                <a:avLst>
                  <a:gd name="adj" fmla="val 533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447261" y="2953702"/>
                <a:ext cx="63047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JWT 鉴权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245845" y="3179445"/>
                <a:ext cx="103331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bcrypt · 角色隔离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0" y="2762250"/>
              <a:ext cx="1524000" cy="714375"/>
              <a:chOff x="5715000" y="2762250"/>
              <a:chExt cx="1524000" cy="71437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5715000" y="2762250"/>
                <a:ext cx="1524000" cy="714375"/>
              </a:xfrm>
              <a:prstGeom prst="roundRect">
                <a:avLst>
                  <a:gd name="adj" fmla="val 533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176696" y="2953702"/>
                <a:ext cx="60060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SSE 流式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014580" y="3179445"/>
                <a:ext cx="92483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AI 辅导实时输出</a:t>
                </a:r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6045479" y="33661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▼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62000" y="3762375"/>
            <a:ext cx="10668000" cy="1333500"/>
            <a:chOff x="762000" y="3762375"/>
            <a:chExt cx="10668000" cy="1333500"/>
          </a:xfrm>
        </p:grpSpPr>
        <p:sp>
          <p:nvSpPr>
            <p:cNvPr id="42" name="Rectangle 42"/>
            <p:cNvSpPr/>
            <p:nvPr/>
          </p:nvSpPr>
          <p:spPr>
            <a:xfrm>
              <a:off x="762000" y="3762375"/>
              <a:ext cx="10668000" cy="13335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62000" y="3762375"/>
              <a:ext cx="1333500" cy="1333500"/>
            </a:xfrm>
            <a:prstGeom prst="roundRect">
              <a:avLst>
                <a:gd name="adj" fmla="val 4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58402" y="4212431"/>
              <a:ext cx="5406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AI 引擎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81764" y="4454366"/>
              <a:ext cx="6939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Agent Engine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210194" y="4673441"/>
              <a:ext cx="4371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★ 核心层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2286000" y="3876675"/>
              <a:ext cx="2398253" cy="523875"/>
              <a:chOff x="2286000" y="3876675"/>
              <a:chExt cx="2398253" cy="523875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2286000" y="3876675"/>
                <a:ext cx="2190750" cy="523875"/>
              </a:xfrm>
              <a:prstGeom prst="roundRect">
                <a:avLst>
                  <a:gd name="adj" fmla="val 7273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2376297" y="3980974"/>
                <a:ext cx="40367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编排层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2376488" y="4187666"/>
                <a:ext cx="230776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自研 DAG Orchestrator · 零 langgraph 依赖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2286000" y="4457700"/>
              <a:ext cx="2190750" cy="523875"/>
              <a:chOff x="2286000" y="4457700"/>
              <a:chExt cx="2190750" cy="523875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2286000" y="4457700"/>
                <a:ext cx="2190750" cy="523875"/>
              </a:xfrm>
              <a:prstGeom prst="roundRect">
                <a:avLst>
                  <a:gd name="adj" fmla="val 7273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2376297" y="4561999"/>
                <a:ext cx="54750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Agent 层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2376488" y="4768691"/>
                <a:ext cx="154829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22 注册 · 20 已实现 · 6 Layer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4667250" y="3876675"/>
              <a:ext cx="2223425" cy="523875"/>
              <a:chOff x="4667250" y="3876675"/>
              <a:chExt cx="2223425" cy="523875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4667250" y="3876675"/>
                <a:ext cx="2190750" cy="523875"/>
              </a:xfrm>
              <a:prstGeom prst="roundRect">
                <a:avLst>
                  <a:gd name="adj" fmla="val 7273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4757547" y="3980974"/>
                <a:ext cx="69639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RAG 知识层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4757738" y="4187666"/>
                <a:ext cx="2132937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BM25 检索 · 同义词扩展 · 课程Markdown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4667250" y="4457700"/>
              <a:ext cx="2190750" cy="523875"/>
              <a:chOff x="4667250" y="4457700"/>
              <a:chExt cx="2190750" cy="523875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4667250" y="4457700"/>
                <a:ext cx="2190750" cy="523875"/>
              </a:xfrm>
              <a:prstGeom prst="roundRect">
                <a:avLst>
                  <a:gd name="adj" fmla="val 7273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4757547" y="4561999"/>
                <a:ext cx="76573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OJ + 安全层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4757738" y="4768691"/>
                <a:ext cx="1735398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Python/C++ · AST 审计 · 3s 超时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7048500" y="3876675"/>
              <a:ext cx="2238441" cy="523875"/>
              <a:chOff x="7048500" y="3876675"/>
              <a:chExt cx="2238441" cy="523875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7048500" y="3876675"/>
                <a:ext cx="2190750" cy="523875"/>
              </a:xfrm>
              <a:prstGeom prst="roundRect">
                <a:avLst>
                  <a:gd name="adj" fmla="val 7273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138797" y="3980974"/>
                <a:ext cx="40367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数据层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138988" y="4187666"/>
                <a:ext cx="214795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SQLAlchemy 2.0 · 7 表 · SQLite/MySQL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7048500" y="4457700"/>
              <a:ext cx="2190750" cy="523875"/>
              <a:chOff x="7048500" y="4457700"/>
              <a:chExt cx="2190750" cy="523875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7048500" y="4457700"/>
                <a:ext cx="2190750" cy="523875"/>
              </a:xfrm>
              <a:prstGeom prst="roundRect">
                <a:avLst>
                  <a:gd name="adj" fmla="val 7273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7138797" y="4561999"/>
                <a:ext cx="446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LLM 层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7138988" y="4768691"/>
                <a:ext cx="1996688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讯飞星火 · OpenAI 兼容 · 流式+非流式</a:t>
                </a:r>
              </a:p>
            </p:txBody>
          </p:sp>
        </p:grpSp>
      </p:grpSp>
      <p:grpSp>
        <p:nvGrpSpPr>
          <p:cNvPr id="74" name="Group 74"/>
          <p:cNvGrpSpPr/>
          <p:nvPr/>
        </p:nvGrpSpPr>
        <p:grpSpPr>
          <a:xfrm>
            <a:off x="8382000" y="5238750"/>
            <a:ext cx="2667000" cy="342900"/>
            <a:chOff x="8382000" y="5238750"/>
            <a:chExt cx="2667000" cy="342900"/>
          </a:xfrm>
        </p:grpSpPr>
        <p:sp>
          <p:nvSpPr>
            <p:cNvPr id="72" name="Rectangle 72"/>
            <p:cNvSpPr/>
            <p:nvPr/>
          </p:nvSpPr>
          <p:spPr>
            <a:xfrm>
              <a:off x="8382000" y="5238750"/>
              <a:ext cx="2667000" cy="342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640823" y="5352574"/>
              <a:ext cx="21493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✦ 自研轻量编排 · 零 langgraph 依赖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07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7238" y="283845"/>
            <a:ext cx="162252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03 ·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1332" y="582930"/>
            <a:ext cx="296143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22 个智能体 · 6 层协作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762000" y="1285875"/>
            <a:ext cx="1524000" cy="542925"/>
            <a:chOff x="762000" y="1285875"/>
            <a:chExt cx="1524000" cy="542925"/>
          </a:xfrm>
        </p:grpSpPr>
        <p:sp>
          <p:nvSpPr>
            <p:cNvPr id="6" name="Rectangle 6"/>
            <p:cNvSpPr/>
            <p:nvPr/>
          </p:nvSpPr>
          <p:spPr>
            <a:xfrm>
              <a:off x="762000" y="1285875"/>
              <a:ext cx="1524000" cy="52387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chemeClr val="accent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285875"/>
              <a:ext cx="1524000" cy="209550"/>
            </a:xfrm>
            <a:prstGeom prst="roundRect">
              <a:avLst>
                <a:gd name="adj" fmla="val 1818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1072" y="1339691"/>
              <a:ext cx="5258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L1 画像层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52488" y="1558766"/>
              <a:ext cx="7876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ProfilingAgent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2488" y="1681162"/>
              <a:ext cx="85642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PersonaInitAgent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476500" y="1285875"/>
            <a:ext cx="2857500" cy="542925"/>
            <a:chOff x="2476500" y="1285875"/>
            <a:chExt cx="2857500" cy="542925"/>
          </a:xfrm>
        </p:grpSpPr>
        <p:sp>
          <p:nvSpPr>
            <p:cNvPr id="12" name="Rectangle 12"/>
            <p:cNvSpPr/>
            <p:nvPr/>
          </p:nvSpPr>
          <p:spPr>
            <a:xfrm>
              <a:off x="2476500" y="1285875"/>
              <a:ext cx="2857500" cy="52387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chemeClr val="accent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476500" y="1285875"/>
              <a:ext cx="2857500" cy="209550"/>
            </a:xfrm>
            <a:prstGeom prst="roundRect">
              <a:avLst>
                <a:gd name="adj" fmla="val 1818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42322" y="1339691"/>
              <a:ext cx="5258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L2 资源层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66988" y="1558766"/>
              <a:ext cx="18425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Concept · Graph · Quiz · Scenario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66988" y="1681162"/>
              <a:ext cx="176016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Trace · Reading · ResourceDispatch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619750" y="1285875"/>
            <a:ext cx="1524000" cy="523875"/>
            <a:chOff x="5619750" y="1285875"/>
            <a:chExt cx="1524000" cy="523875"/>
          </a:xfrm>
        </p:grpSpPr>
        <p:sp>
          <p:nvSpPr>
            <p:cNvPr id="18" name="Rectangle 18"/>
            <p:cNvSpPr/>
            <p:nvPr/>
          </p:nvSpPr>
          <p:spPr>
            <a:xfrm>
              <a:off x="5619750" y="1285875"/>
              <a:ext cx="1524000" cy="52387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chemeClr val="accent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19750" y="1285875"/>
              <a:ext cx="1524000" cy="209550"/>
            </a:xfrm>
            <a:prstGeom prst="roundRect">
              <a:avLst>
                <a:gd name="adj" fmla="val 1818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118822" y="1339691"/>
              <a:ext cx="5258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L3 路径层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10238" y="1558766"/>
              <a:ext cx="10302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LearningPathAgent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429500" y="1285875"/>
            <a:ext cx="2095500" cy="542925"/>
            <a:chOff x="7429500" y="1285875"/>
            <a:chExt cx="2095500" cy="542925"/>
          </a:xfrm>
        </p:grpSpPr>
        <p:sp>
          <p:nvSpPr>
            <p:cNvPr id="23" name="Rectangle 23"/>
            <p:cNvSpPr/>
            <p:nvPr/>
          </p:nvSpPr>
          <p:spPr>
            <a:xfrm>
              <a:off x="7429500" y="1285875"/>
              <a:ext cx="2095500" cy="52387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chemeClr val="accent1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429500" y="1285875"/>
              <a:ext cx="2095500" cy="209550"/>
            </a:xfrm>
            <a:prstGeom prst="roundRect">
              <a:avLst>
                <a:gd name="adj" fmla="val 1818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14322" y="1339691"/>
              <a:ext cx="5258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L4 辅导层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19988" y="1558766"/>
              <a:ext cx="15065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AiTutor · CodeReview · Hint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19988" y="1681162"/>
              <a:ext cx="9848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MisconceptionAgent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62000" y="2000250"/>
            <a:ext cx="4381500" cy="523875"/>
            <a:chOff x="762000" y="2000250"/>
            <a:chExt cx="4381500" cy="523875"/>
          </a:xfrm>
        </p:grpSpPr>
        <p:sp>
          <p:nvSpPr>
            <p:cNvPr id="29" name="Rectangle 29"/>
            <p:cNvSpPr/>
            <p:nvPr/>
          </p:nvSpPr>
          <p:spPr>
            <a:xfrm>
              <a:off x="762000" y="2000250"/>
              <a:ext cx="4381500" cy="52387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62000" y="2000250"/>
              <a:ext cx="4381500" cy="209550"/>
            </a:xfrm>
            <a:prstGeom prst="roundRect">
              <a:avLst>
                <a:gd name="adj" fmla="val 1818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639949" y="2054066"/>
              <a:ext cx="6256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L5 安全层 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2488" y="2273141"/>
              <a:ext cx="30892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ContentVerifierAgent · SafetyAgent · ASTAnalyzerAgent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429250" y="2000250"/>
            <a:ext cx="4095750" cy="523875"/>
            <a:chOff x="5429250" y="2000250"/>
            <a:chExt cx="4095750" cy="523875"/>
          </a:xfrm>
        </p:grpSpPr>
        <p:sp>
          <p:nvSpPr>
            <p:cNvPr id="34" name="Rectangle 34"/>
            <p:cNvSpPr/>
            <p:nvPr/>
          </p:nvSpPr>
          <p:spPr>
            <a:xfrm>
              <a:off x="5429250" y="2000250"/>
              <a:ext cx="4095750" cy="52387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chemeClr val="accent1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0" y="2000250"/>
              <a:ext cx="4095750" cy="209550"/>
            </a:xfrm>
            <a:prstGeom prst="roundRect">
              <a:avLst>
                <a:gd name="adj" fmla="val 1818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14197" y="2054066"/>
              <a:ext cx="5258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L6 评估层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19738" y="2273141"/>
              <a:ext cx="2697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MasteryEval · LearningEvent · TeacherDashboard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55904" y="2727960"/>
            <a:ext cx="9245346" cy="1491615"/>
            <a:chOff x="755904" y="2727960"/>
            <a:chExt cx="9245346" cy="1491615"/>
          </a:xfrm>
        </p:grpSpPr>
        <p:sp>
          <p:nvSpPr>
            <p:cNvPr id="39" name="TextBox 39"/>
            <p:cNvSpPr txBox="1"/>
            <p:nvPr/>
          </p:nvSpPr>
          <p:spPr>
            <a:xfrm>
              <a:off x="755904" y="27279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智能体协作流程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762000" y="29718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62000" y="3381375"/>
              <a:ext cx="9239250" cy="838200"/>
              <a:chOff x="762000" y="3381375"/>
              <a:chExt cx="9239250" cy="8382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62000" y="3476625"/>
                <a:ext cx="952500" cy="333375"/>
              </a:xfrm>
              <a:prstGeom prst="roundRect">
                <a:avLst>
                  <a:gd name="adj" fmla="val 4857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91172" y="358902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用户输入</a:t>
                </a: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1714500" y="363855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44" name="Polygon 44"/>
              <p:cNvSpPr/>
              <p:nvPr/>
            </p:nvSpPr>
            <p:spPr>
              <a:xfrm>
                <a:off x="2019300" y="359092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2095500" y="3476625"/>
                <a:ext cx="1047750" cy="333375"/>
              </a:xfrm>
              <a:prstGeom prst="roundRect">
                <a:avLst>
                  <a:gd name="adj" fmla="val 11429"/>
                </a:avLst>
              </a:prstGeom>
              <a:solidFill>
                <a:schemeClr val="lt2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2392490" y="359711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画像对话</a:t>
                </a:r>
              </a:p>
            </p:txBody>
          </p:sp>
          <p:sp>
            <p:nvSpPr>
              <p:cNvPr id="47" name="Line 47"/>
              <p:cNvSpPr/>
              <p:nvPr/>
            </p:nvSpPr>
            <p:spPr>
              <a:xfrm>
                <a:off x="3143250" y="363855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48" name="Polygon 48"/>
              <p:cNvSpPr/>
              <p:nvPr/>
            </p:nvSpPr>
            <p:spPr>
              <a:xfrm>
                <a:off x="3352800" y="359092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3429000" y="3476625"/>
                <a:ext cx="1047750" cy="333375"/>
              </a:xfrm>
              <a:prstGeom prst="roundRect">
                <a:avLst>
                  <a:gd name="adj" fmla="val 11429"/>
                </a:avLst>
              </a:prstGeom>
              <a:solidFill>
                <a:schemeClr val="lt2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3725990" y="359711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路径规划</a:t>
                </a:r>
              </a:p>
            </p:txBody>
          </p:sp>
          <p:sp>
            <p:nvSpPr>
              <p:cNvPr id="51" name="Line 51"/>
              <p:cNvSpPr/>
              <p:nvPr/>
            </p:nvSpPr>
            <p:spPr>
              <a:xfrm>
                <a:off x="4476750" y="363855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52" name="Polygon 52"/>
              <p:cNvSpPr/>
              <p:nvPr/>
            </p:nvSpPr>
            <p:spPr>
              <a:xfrm>
                <a:off x="4686300" y="359092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4762500" y="3381375"/>
                <a:ext cx="1047750" cy="333375"/>
              </a:xfrm>
              <a:prstGeom prst="roundRect">
                <a:avLst>
                  <a:gd name="adj" fmla="val 11429"/>
                </a:avLst>
              </a:prstGeom>
              <a:solidFill>
                <a:srgbClr val="E8F0FE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5059489" y="350186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资源生成</a:t>
                </a:r>
              </a:p>
            </p:txBody>
          </p:sp>
          <p:sp>
            <p:nvSpPr>
              <p:cNvPr id="55" name="Line 55"/>
              <p:cNvSpPr/>
              <p:nvPr/>
            </p:nvSpPr>
            <p:spPr>
              <a:xfrm>
                <a:off x="5810250" y="354330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4288">
                <a:solidFill>
                  <a:schemeClr val="accent2"/>
                </a:solidFill>
              </a:ln>
            </p:spPr>
          </p:sp>
          <p:sp>
            <p:nvSpPr>
              <p:cNvPr id="56" name="Polygon 56"/>
              <p:cNvSpPr/>
              <p:nvPr/>
            </p:nvSpPr>
            <p:spPr>
              <a:xfrm>
                <a:off x="6019800" y="349567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6096000" y="3381375"/>
                <a:ext cx="1047750" cy="333375"/>
              </a:xfrm>
              <a:prstGeom prst="roundRect">
                <a:avLst>
                  <a:gd name="adj" fmla="val 11429"/>
                </a:avLst>
              </a:prstGeom>
              <a:solidFill>
                <a:srgbClr val="E8F0FE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319348" y="3501866"/>
                <a:ext cx="60105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820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OJ / Trace</a:t>
                </a:r>
              </a:p>
            </p:txBody>
          </p:sp>
          <p:sp>
            <p:nvSpPr>
              <p:cNvPr id="59" name="Line 59"/>
              <p:cNvSpPr/>
              <p:nvPr/>
            </p:nvSpPr>
            <p:spPr>
              <a:xfrm>
                <a:off x="7143750" y="354330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4288">
                <a:solidFill>
                  <a:schemeClr val="accent2"/>
                </a:solidFill>
              </a:ln>
            </p:spPr>
          </p:sp>
          <p:sp>
            <p:nvSpPr>
              <p:cNvPr id="60" name="Polygon 60"/>
              <p:cNvSpPr/>
              <p:nvPr/>
            </p:nvSpPr>
            <p:spPr>
              <a:xfrm>
                <a:off x="7353300" y="349567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1" name="Line 61"/>
              <p:cNvSpPr/>
              <p:nvPr/>
            </p:nvSpPr>
            <p:spPr>
              <a:xfrm>
                <a:off x="4762500" y="381000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custDash>
                  <a:ds d="300000" sp="200000"/>
                </a:custDash>
              </a:ln>
            </p:spPr>
          </p:sp>
          <p:sp>
            <p:nvSpPr>
              <p:cNvPr id="62" name="Line 62"/>
              <p:cNvSpPr/>
              <p:nvPr/>
            </p:nvSpPr>
            <p:spPr>
              <a:xfrm>
                <a:off x="4762500" y="4000500"/>
                <a:ext cx="266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9525">
                    <a:moveTo>
                      <a:pt x="0" y="0"/>
                    </a:moveTo>
                    <a:lnTo>
                      <a:pt x="2667000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custDash>
                  <a:ds d="300000" sp="200000"/>
                </a:custDash>
              </a:ln>
            </p:spPr>
          </p:sp>
          <p:sp>
            <p:nvSpPr>
              <p:cNvPr id="63" name="Line 63"/>
              <p:cNvSpPr/>
              <p:nvPr/>
            </p:nvSpPr>
            <p:spPr>
              <a:xfrm>
                <a:off x="7429500" y="381000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190500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custDash>
                  <a:ds d="300000" sp="200000"/>
                </a:custDash>
              </a:ln>
            </p:spPr>
          </p:sp>
          <p:sp>
            <p:nvSpPr>
              <p:cNvPr id="64" name="Polygon 64"/>
              <p:cNvSpPr/>
              <p:nvPr/>
            </p:nvSpPr>
            <p:spPr>
              <a:xfrm>
                <a:off x="7372350" y="3810000"/>
                <a:ext cx="1143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7625">
                    <a:moveTo>
                      <a:pt x="57150" y="0"/>
                    </a:moveTo>
                    <a:lnTo>
                      <a:pt x="0" y="47625"/>
                    </a:lnTo>
                    <a:lnTo>
                      <a:pt x="114300" y="4762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5" name="Rectangle 65"/>
              <p:cNvSpPr/>
              <p:nvPr/>
            </p:nvSpPr>
            <p:spPr>
              <a:xfrm>
                <a:off x="6096000" y="3886200"/>
                <a:ext cx="1047750" cy="333375"/>
              </a:xfrm>
              <a:prstGeom prst="roundRect">
                <a:avLst>
                  <a:gd name="adj" fmla="val 11429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6430289" y="4006691"/>
                <a:ext cx="3791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AI 辅导</a:t>
                </a:r>
              </a:p>
            </p:txBody>
          </p:sp>
          <p:sp>
            <p:nvSpPr>
              <p:cNvPr id="67" name="Line 67"/>
              <p:cNvSpPr/>
              <p:nvPr/>
            </p:nvSpPr>
            <p:spPr>
              <a:xfrm>
                <a:off x="7429500" y="354330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68" name="Polygon 68"/>
              <p:cNvSpPr/>
              <p:nvPr/>
            </p:nvSpPr>
            <p:spPr>
              <a:xfrm>
                <a:off x="7639050" y="349567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7715250" y="3476625"/>
                <a:ext cx="1047750" cy="333375"/>
              </a:xfrm>
              <a:prstGeom prst="roundRect">
                <a:avLst>
                  <a:gd name="adj" fmla="val 11429"/>
                </a:avLst>
              </a:prstGeom>
              <a:solidFill>
                <a:schemeClr val="lt2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8012239" y="359711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评估反馈</a:t>
                </a:r>
              </a:p>
            </p:txBody>
          </p:sp>
          <p:sp>
            <p:nvSpPr>
              <p:cNvPr id="71" name="Line 71"/>
              <p:cNvSpPr/>
              <p:nvPr/>
            </p:nvSpPr>
            <p:spPr>
              <a:xfrm>
                <a:off x="8763000" y="363855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72" name="Polygon 72"/>
              <p:cNvSpPr/>
              <p:nvPr/>
            </p:nvSpPr>
            <p:spPr>
              <a:xfrm>
                <a:off x="8972550" y="359092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3" name="Rectangle 73"/>
              <p:cNvSpPr/>
              <p:nvPr/>
            </p:nvSpPr>
            <p:spPr>
              <a:xfrm>
                <a:off x="9048750" y="3476625"/>
                <a:ext cx="952500" cy="333375"/>
              </a:xfrm>
              <a:prstGeom prst="roundRect">
                <a:avLst>
                  <a:gd name="adj" fmla="val 48571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9338500" y="3589020"/>
                <a:ext cx="37299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掌握度</a:t>
                </a:r>
              </a:p>
            </p:txBody>
          </p:sp>
        </p:grpSp>
      </p:grpSp>
      <p:grpSp>
        <p:nvGrpSpPr>
          <p:cNvPr id="79" name="Group 79"/>
          <p:cNvGrpSpPr/>
          <p:nvPr/>
        </p:nvGrpSpPr>
        <p:grpSpPr>
          <a:xfrm>
            <a:off x="762000" y="4476750"/>
            <a:ext cx="10668000" cy="381000"/>
            <a:chOff x="762000" y="4476750"/>
            <a:chExt cx="10668000" cy="381000"/>
          </a:xfrm>
        </p:grpSpPr>
        <p:sp>
          <p:nvSpPr>
            <p:cNvPr id="77" name="Rectangle 77"/>
            <p:cNvSpPr/>
            <p:nvPr/>
          </p:nvSpPr>
          <p:spPr>
            <a:xfrm>
              <a:off x="762000" y="4476750"/>
              <a:ext cx="10668000" cy="381000"/>
            </a:xfrm>
            <a:prstGeom prst="roundRect">
              <a:avLst>
                <a:gd name="adj" fmla="val 1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47547" y="4609624"/>
              <a:ext cx="72267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📋 注册 22 个 Agent 条目 · 20 个已实现 · 2 个规划中扩展节点（PptAgent / VideoScriptAgent）· 6 个 Layer 端到端覆盖</a:t>
              </a: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08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905000"/>
          </a:xfrm>
          <a:prstGeom prst="rect">
            <a:avLst/>
          </a:prstGeom>
          <a:gradFill>
            <a:gsLst>
              <a:gs pos="0">
                <a:schemeClr val="accent1">
                  <a:alpha val="4000"/>
                </a:schemeClr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95250" y="-190500"/>
            <a:ext cx="11811000" cy="7715250"/>
            <a:chOff x="95250" y="-190500"/>
            <a:chExt cx="11811000" cy="7715250"/>
          </a:xfrm>
        </p:grpSpPr>
        <p:sp>
          <p:nvSpPr>
            <p:cNvPr id="4" name="Ellipse 4"/>
            <p:cNvSpPr/>
            <p:nvPr/>
          </p:nvSpPr>
          <p:spPr>
            <a:xfrm>
              <a:off x="95250" y="4857750"/>
              <a:ext cx="2667000" cy="2667000"/>
            </a:xfrm>
            <a:prstGeom prst="ellipse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001250" y="-190500"/>
              <a:ext cx="1905000" cy="1905000"/>
            </a:xfrm>
            <a:prstGeom prst="ellipse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757238" y="283845"/>
            <a:ext cx="162252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03 · ARCHITECTURE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1332" y="582930"/>
            <a:ext cx="341376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四阶段并行生成，效率翻倍</a:t>
            </a:r>
          </a:p>
        </p:txBody>
      </p:sp>
      <p:sp>
        <p:nvSpPr>
          <p:cNvPr id="9" name="Line 9"/>
          <p:cNvSpPr/>
          <p:nvPr/>
        </p:nvSpPr>
        <p:spPr>
          <a:xfrm>
            <a:off x="762000" y="9525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57" name="Group 57"/>
          <p:cNvGrpSpPr/>
          <p:nvPr/>
        </p:nvGrpSpPr>
        <p:grpSpPr>
          <a:xfrm>
            <a:off x="762000" y="1143000"/>
            <a:ext cx="8858250" cy="1771650"/>
            <a:chOff x="762000" y="1143000"/>
            <a:chExt cx="8858250" cy="1771650"/>
          </a:xfrm>
        </p:grpSpPr>
        <p:sp>
          <p:nvSpPr>
            <p:cNvPr id="10" name="Rectangle 10"/>
            <p:cNvSpPr/>
            <p:nvPr/>
          </p:nvSpPr>
          <p:spPr>
            <a:xfrm>
              <a:off x="762000" y="1333500"/>
              <a:ext cx="1905000" cy="142875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333500"/>
              <a:ext cx="1905000" cy="361950"/>
            </a:xfrm>
            <a:prstGeom prst="roundRect">
              <a:avLst>
                <a:gd name="adj" fmla="val 2105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895350" y="141922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3768" y="1473041"/>
              <a:ext cx="736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5672" y="1456849"/>
              <a:ext cx="4877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Phase 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52500" y="1828800"/>
              <a:ext cx="1524000" cy="476250"/>
            </a:xfrm>
            <a:prstGeom prst="roundRect">
              <a:avLst>
                <a:gd name="adj" fmla="val 12000"/>
              </a:avLst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04725" y="1925002"/>
              <a:ext cx="819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📄 document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39777" y="2139791"/>
              <a:ext cx="7494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ConceptAgent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15929" y="2493645"/>
              <a:ext cx="5971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串行入口 →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2667000" y="204787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2924175" y="199072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7620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3095625" y="1143000"/>
              <a:ext cx="1905000" cy="904875"/>
              <a:chOff x="3095625" y="1143000"/>
              <a:chExt cx="1905000" cy="904875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3095625" y="1143000"/>
                <a:ext cx="1905000" cy="904875"/>
              </a:xfrm>
              <a:prstGeom prst="roundRect">
                <a:avLst>
                  <a:gd name="adj" fmla="val 8421"/>
                </a:avLst>
              </a:prstGeom>
              <a:solidFill>
                <a:srgbClr val="FFFFFF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3095625" y="1143000"/>
                <a:ext cx="1905000" cy="333375"/>
              </a:xfrm>
              <a:prstGeom prst="roundRect">
                <a:avLst>
                  <a:gd name="adj" fmla="val 22857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3770734" y="1264920"/>
                <a:ext cx="55478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Phase 2 ⚡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3190875" y="1581150"/>
                <a:ext cx="809625" cy="361950"/>
              </a:xfrm>
              <a:prstGeom prst="roundRect">
                <a:avLst>
                  <a:gd name="adj" fmla="val 1052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292354" y="1674495"/>
                <a:ext cx="59714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🧠 mindmap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333445" y="1832134"/>
                <a:ext cx="514960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68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GraphAgent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4095750" y="1581150"/>
                <a:ext cx="809625" cy="361950"/>
              </a:xfrm>
              <a:prstGeom prst="roundRect">
                <a:avLst>
                  <a:gd name="adj" fmla="val 1052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154824" y="1674495"/>
                <a:ext cx="68195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📝 exercises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265609" y="1832134"/>
                <a:ext cx="460381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68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QuizAgent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4048125" y="261937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chemeClr val="accent2"/>
              </a:solidFill>
              <a:custDash>
                <a:ds d="300000" sp="200000"/>
              </a:custDash>
            </a:ln>
          </p:spPr>
        </p:sp>
        <p:sp>
          <p:nvSpPr>
            <p:cNvPr id="32" name="Line 32"/>
            <p:cNvSpPr/>
            <p:nvPr/>
          </p:nvSpPr>
          <p:spPr>
            <a:xfrm>
              <a:off x="4048125" y="29051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  <a:custDash>
                <a:ds d="300000" sp="200000"/>
              </a:custDash>
            </a:ln>
          </p:spPr>
        </p:sp>
        <p:sp>
          <p:nvSpPr>
            <p:cNvPr id="33" name="Line 33"/>
            <p:cNvSpPr/>
            <p:nvPr/>
          </p:nvSpPr>
          <p:spPr>
            <a:xfrm>
              <a:off x="5381625" y="2143125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7620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5324475" y="2143125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57150" y="0"/>
                  </a:moveTo>
                  <a:lnTo>
                    <a:pt x="0" y="76200"/>
                  </a:lnTo>
                  <a:lnTo>
                    <a:pt x="114300" y="762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5476875" y="1333500"/>
              <a:ext cx="1905000" cy="1428750"/>
              <a:chOff x="5476875" y="1333500"/>
              <a:chExt cx="1905000" cy="14287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5476875" y="1333500"/>
                <a:ext cx="1905000" cy="1428750"/>
              </a:xfrm>
              <a:prstGeom prst="roundRect">
                <a:avLst>
                  <a:gd name="adj" fmla="val 5333"/>
                </a:avLst>
              </a:prstGeom>
              <a:solidFill>
                <a:srgbClr val="FFFFFF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5476875" y="1333500"/>
                <a:ext cx="1905000" cy="361950"/>
              </a:xfrm>
              <a:prstGeom prst="roundRect">
                <a:avLst>
                  <a:gd name="adj" fmla="val 2105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5610225" y="1419225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5668643" y="1473041"/>
                <a:ext cx="7366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82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3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900547" y="1456849"/>
                <a:ext cx="48777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Phase 3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5667375" y="1828800"/>
                <a:ext cx="1524000" cy="476250"/>
              </a:xfrm>
              <a:prstGeom prst="roundRect">
                <a:avLst>
                  <a:gd name="adj" fmla="val 12000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5993627" y="1925002"/>
                <a:ext cx="87149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💻 code_case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038114" y="2139791"/>
                <a:ext cx="78252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82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ScenarioAgent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51962" y="2493645"/>
                <a:ext cx="35482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5"/>
                    </a:solidFill>
                    <a:latin typeface="Inter"/>
                    <a:ea typeface="Microsoft YaHei"/>
                    <a:cs typeface="Inter"/>
                  </a:rPr>
                  <a:t>串行 →</a:t>
                </a:r>
              </a:p>
            </p:txBody>
          </p:sp>
        </p:grpSp>
        <p:sp>
          <p:nvSpPr>
            <p:cNvPr id="45" name="Line 45"/>
            <p:cNvSpPr/>
            <p:nvPr/>
          </p:nvSpPr>
          <p:spPr>
            <a:xfrm>
              <a:off x="7381875" y="2047875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7543800" y="199072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7620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715250" y="1143000"/>
              <a:ext cx="1905000" cy="904875"/>
              <a:chOff x="7715250" y="1143000"/>
              <a:chExt cx="1905000" cy="904875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7715250" y="1143000"/>
                <a:ext cx="1905000" cy="904875"/>
              </a:xfrm>
              <a:prstGeom prst="roundRect">
                <a:avLst>
                  <a:gd name="adj" fmla="val 8421"/>
                </a:avLst>
              </a:prstGeom>
              <a:solidFill>
                <a:srgbClr val="FFFFFF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7715250" y="1143000"/>
                <a:ext cx="1905000" cy="333375"/>
              </a:xfrm>
              <a:prstGeom prst="roundRect">
                <a:avLst>
                  <a:gd name="adj" fmla="val 22857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390359" y="1264920"/>
                <a:ext cx="55478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Phase 4 ⚡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7810500" y="1581150"/>
                <a:ext cx="809625" cy="361950"/>
              </a:xfrm>
              <a:prstGeom prst="roundRect">
                <a:avLst>
                  <a:gd name="adj" fmla="val 1052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987703" y="1674495"/>
                <a:ext cx="44569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🎬 trace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953070" y="1832134"/>
                <a:ext cx="514960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68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TraceAgent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8715375" y="1581150"/>
                <a:ext cx="809625" cy="361950"/>
              </a:xfrm>
              <a:prstGeom prst="roundRect">
                <a:avLst>
                  <a:gd name="adj" fmla="val 1052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8841086" y="1674495"/>
                <a:ext cx="54867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📖 reading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819433" y="1832134"/>
                <a:ext cx="591984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68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ReadingAgent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762000" y="4286250"/>
            <a:ext cx="10668000" cy="857250"/>
            <a:chOff x="762000" y="4286250"/>
            <a:chExt cx="10668000" cy="857250"/>
          </a:xfrm>
        </p:grpSpPr>
        <p:sp>
          <p:nvSpPr>
            <p:cNvPr id="58" name="Rectangle 58"/>
            <p:cNvSpPr/>
            <p:nvPr/>
          </p:nvSpPr>
          <p:spPr>
            <a:xfrm>
              <a:off x="762000" y="4286250"/>
              <a:ext cx="10668000" cy="85725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62000" y="4286250"/>
              <a:ext cx="57150" cy="857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46785" y="4431506"/>
              <a:ext cx="30487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⚡ 并行拓扑相比串行生成，效率提升 2-3 倍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952500" y="46863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47547" y="4771549"/>
              <a:ext cx="34054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Phase 2 的 mindmap 和 exercises 互不依赖，可并行生成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47547" y="4942999"/>
              <a:ext cx="32523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Phase 4 的 trace_animation 和 reading 同样并行执行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09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4000"/>
                </a:schemeClr>
              </a:gs>
              <a:gs pos="100000">
                <a:schemeClr val="accent2">
                  <a:alpha val="8000"/>
                </a:schemeClr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-1341316" y="-381000"/>
            <a:ext cx="13152316" cy="8286750"/>
            <a:chOff x="-1341316" y="-381000"/>
            <a:chExt cx="13152316" cy="8286750"/>
          </a:xfrm>
        </p:grpSpPr>
        <p:sp>
          <p:nvSpPr>
            <p:cNvPr id="4" name="Ellipse 4"/>
            <p:cNvSpPr/>
            <p:nvPr/>
          </p:nvSpPr>
          <p:spPr>
            <a:xfrm>
              <a:off x="-285750" y="4476750"/>
              <a:ext cx="3429000" cy="3429000"/>
            </a:xfrm>
            <a:prstGeom prst="ellipse">
              <a:avLst/>
            </a:prstGeom>
            <a:solidFill>
              <a:schemeClr val="accent1">
                <a:alpha val="4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144000" y="-381000"/>
              <a:ext cx="2667000" cy="2667000"/>
            </a:xfrm>
            <a:prstGeom prst="ellipse">
              <a:avLst/>
            </a:prstGeom>
            <a:solidFill>
              <a:schemeClr val="accent2">
                <a:alpha val="4000"/>
              </a:scheme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 rot="900000">
              <a:off x="-528108" y="181112"/>
              <a:ext cx="19050" cy="6286500"/>
            </a:xfrm>
            <a:prstGeom prst="rect">
              <a:avLst/>
            </a:prstGeom>
            <a:solidFill>
              <a:schemeClr val="accent1">
                <a:alpha val="4000"/>
              </a:schemeClr>
            </a:solidFill>
            <a:ln>
              <a:noFill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757238" y="283845"/>
            <a:ext cx="17505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04 · CORE FEATURES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1332" y="582930"/>
            <a:ext cx="28483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懂你：对话式六维画像</a:t>
            </a:r>
          </a:p>
        </p:txBody>
      </p:sp>
      <p:sp>
        <p:nvSpPr>
          <p:cNvPr id="10" name="Line 10"/>
          <p:cNvSpPr/>
          <p:nvPr/>
        </p:nvSpPr>
        <p:spPr>
          <a:xfrm>
            <a:off x="762000" y="9525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59" name="Group 59"/>
          <p:cNvGrpSpPr/>
          <p:nvPr/>
        </p:nvGrpSpPr>
        <p:grpSpPr>
          <a:xfrm>
            <a:off x="3571875" y="1381125"/>
            <a:ext cx="5143500" cy="3571875"/>
            <a:chOff x="3571875" y="1381125"/>
            <a:chExt cx="5143500" cy="3571875"/>
          </a:xfrm>
        </p:grpSpPr>
        <p:sp>
          <p:nvSpPr>
            <p:cNvPr id="11" name="Ellipse 11"/>
            <p:cNvSpPr/>
            <p:nvPr/>
          </p:nvSpPr>
          <p:spPr>
            <a:xfrm>
              <a:off x="4381500" y="1524000"/>
              <a:ext cx="3429000" cy="3429000"/>
            </a:xfrm>
            <a:prstGeom prst="ellipse">
              <a:avLst/>
            </a:prstGeom>
            <a:noFill/>
            <a:ln w="4762">
              <a:solidFill>
                <a:schemeClr val="accent4"/>
              </a:solidFill>
              <a:custDash>
                <a:ds d="800000" sp="1200000"/>
              </a:custDash>
            </a:ln>
          </p:spPr>
        </p:sp>
        <p:sp>
          <p:nvSpPr>
            <p:cNvPr id="12" name="Ellipse 12"/>
            <p:cNvSpPr/>
            <p:nvPr/>
          </p:nvSpPr>
          <p:spPr>
            <a:xfrm>
              <a:off x="4857750" y="2000250"/>
              <a:ext cx="2476500" cy="2476500"/>
            </a:xfrm>
            <a:prstGeom prst="ellipse">
              <a:avLst/>
            </a:prstGeom>
            <a:noFill/>
            <a:ln w="9525">
              <a:solidFill>
                <a:srgbClr val="EDF0F5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5619750" y="27622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619750" y="2762250"/>
              <a:ext cx="952500" cy="952500"/>
            </a:xfrm>
            <a:prstGeom prst="ellipse">
              <a:avLst/>
            </a:prstGeom>
            <a:noFill/>
            <a:ln w="19050">
              <a:solidFill>
                <a:schemeClr val="accent2">
                  <a:alpha val="30000"/>
                </a:scheme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38838" y="3040856"/>
              <a:ext cx="314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六维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38838" y="3212306"/>
              <a:ext cx="314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画像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0" y="3714750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0"/>
                  </a:moveTo>
                  <a:lnTo>
                    <a:pt x="0" y="104775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6057900" y="47244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6096000" y="1714500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10477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6057900" y="16764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6572250" y="323850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7581900" y="32004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4572000" y="323850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104775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33900" y="32004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6429375" y="3571875"/>
              <a:ext cx="742950" cy="742950"/>
            </a:xfrm>
            <a:custGeom>
              <a:avLst/>
              <a:gdLst/>
              <a:ahLst/>
              <a:cxnLst/>
              <a:rect l="l" t="t" r="r" b="b"/>
              <a:pathLst>
                <a:path w="742950" h="742950">
                  <a:moveTo>
                    <a:pt x="0" y="0"/>
                  </a:moveTo>
                  <a:lnTo>
                    <a:pt x="742950" y="74295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7134225" y="42767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5019675" y="2162175"/>
              <a:ext cx="742950" cy="742950"/>
            </a:xfrm>
            <a:custGeom>
              <a:avLst/>
              <a:gdLst/>
              <a:ahLst/>
              <a:cxnLst/>
              <a:rect l="l" t="t" r="r" b="b"/>
              <a:pathLst>
                <a:path w="742950" h="742950">
                  <a:moveTo>
                    <a:pt x="742950" y="7429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4981575" y="212407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3571875" y="2905125"/>
              <a:ext cx="2000250" cy="476250"/>
              <a:chOff x="3571875" y="2905125"/>
              <a:chExt cx="2000250" cy="4762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3571875" y="2905125"/>
                <a:ext cx="2000250" cy="4762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3743325" y="302895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3810000" y="30956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042791" y="307752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编程基础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5000625" y="1381125"/>
              <a:ext cx="2000250" cy="476250"/>
              <a:chOff x="5000625" y="1381125"/>
              <a:chExt cx="2000250" cy="4762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000625" y="1381125"/>
                <a:ext cx="2000250" cy="4762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5172075" y="150495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5238750" y="15716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5471541" y="155352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语言偏好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5191125" y="1381125"/>
              <a:ext cx="2000250" cy="476250"/>
              <a:chOff x="5191125" y="1381125"/>
              <a:chExt cx="2000250" cy="4762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5191125" y="1381125"/>
                <a:ext cx="2000250" cy="4762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5362575" y="150495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5429250" y="15716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662041" y="1553528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数据结构掌握度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715125" y="2905125"/>
              <a:ext cx="2000250" cy="476250"/>
              <a:chOff x="6715125" y="2905125"/>
              <a:chExt cx="2000250" cy="4762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6715125" y="2905125"/>
                <a:ext cx="2000250" cy="4762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6886575" y="302895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6953250" y="30956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186041" y="307752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学习目标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238875" y="4143375"/>
              <a:ext cx="2000250" cy="476250"/>
              <a:chOff x="6238875" y="4143375"/>
              <a:chExt cx="2000250" cy="47625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6238875" y="4143375"/>
                <a:ext cx="2000250" cy="4762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6410325" y="426720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6477000" y="433387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6709791" y="43157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学习风格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3952875" y="4143375"/>
              <a:ext cx="2000250" cy="476250"/>
              <a:chOff x="3952875" y="4143375"/>
              <a:chExt cx="2000250" cy="4762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3952875" y="4143375"/>
                <a:ext cx="2000250" cy="4762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4124325" y="426720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4191000" y="433387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4423791" y="4315778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薄弱知识点</a:t>
                </a:r>
              </a:p>
            </p:txBody>
          </p:sp>
        </p:grpSp>
      </p:grpSp>
      <p:grpSp>
        <p:nvGrpSpPr>
          <p:cNvPr id="70" name="Group 70"/>
          <p:cNvGrpSpPr/>
          <p:nvPr/>
        </p:nvGrpSpPr>
        <p:grpSpPr>
          <a:xfrm>
            <a:off x="762000" y="5048250"/>
            <a:ext cx="10668000" cy="764857"/>
            <a:chOff x="762000" y="5048250"/>
            <a:chExt cx="10668000" cy="764857"/>
          </a:xfrm>
        </p:grpSpPr>
        <p:sp>
          <p:nvSpPr>
            <p:cNvPr id="60" name="Rectangle 60"/>
            <p:cNvSpPr/>
            <p:nvPr/>
          </p:nvSpPr>
          <p:spPr>
            <a:xfrm>
              <a:off x="762000" y="5048250"/>
              <a:ext cx="1066800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62000" y="504825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952500" y="5238750"/>
              <a:ext cx="381000" cy="381000"/>
              <a:chOff x="952500" y="5238750"/>
              <a:chExt cx="381000" cy="381000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952500" y="5238750"/>
                <a:ext cx="381000" cy="381000"/>
              </a:xfrm>
              <a:prstGeom prst="roundRect">
                <a:avLst>
                  <a:gd name="adj" fmla="val 10000"/>
                </a:avLst>
              </a:pr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</p:sp>
          <p:sp>
            <p:nvSpPr>
              <p:cNvPr id="63" name="Line 63"/>
              <p:cNvSpPr/>
              <p:nvPr/>
            </p:nvSpPr>
            <p:spPr>
              <a:xfrm>
                <a:off x="1028700" y="542925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FFFFFF">
                    <a:alpha val="15000"/>
                  </a:srgbClr>
                </a:solidFill>
              </a:ln>
            </p:spPr>
          </p:sp>
          <p:sp>
            <p:nvSpPr>
              <p:cNvPr id="64" name="Line 64"/>
              <p:cNvSpPr/>
              <p:nvPr/>
            </p:nvSpPr>
            <p:spPr>
              <a:xfrm>
                <a:off x="1085850" y="535305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rgbClr val="FFFFFF">
                    <a:alpha val="15000"/>
                  </a:srgbClr>
                </a:solidFill>
              </a:ln>
            </p:spPr>
          </p:sp>
          <p:sp>
            <p:nvSpPr>
              <p:cNvPr id="65" name="Line 65"/>
              <p:cNvSpPr/>
              <p:nvPr/>
            </p:nvSpPr>
            <p:spPr>
              <a:xfrm>
                <a:off x="1200150" y="535305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rgbClr val="FFFFFF">
                    <a:alpha val="15000"/>
                  </a:srgbClr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947166" y="5201602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🔄 动态更新机制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47547" y="5438299"/>
              <a:ext cx="43938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3-5 轮对话自动抽取 · 无需问卷 · 每次学习后画像更新 · 路径随之动态调整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576388" y="5636895"/>
              <a:ext cx="28858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ProfilingAgent 驱动 · 数据库 7 表外键关联持久存储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10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0"/>
          </a:xfrm>
          <a:prstGeom prst="rect">
            <a:avLst/>
          </a:prstGeom>
          <a:gradFill>
            <a:gsLst>
              <a:gs pos="0">
                <a:schemeClr val="accent1">
                  <a:alpha val="4000"/>
                </a:schemeClr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0" y="0"/>
            <a:ext cx="12477750" cy="7239000"/>
            <a:chOff x="0" y="0"/>
            <a:chExt cx="12477750" cy="7239000"/>
          </a:xfrm>
        </p:grpSpPr>
        <p:sp>
          <p:nvSpPr>
            <p:cNvPr id="4" name="Ellipse 4"/>
            <p:cNvSpPr/>
            <p:nvPr/>
          </p:nvSpPr>
          <p:spPr>
            <a:xfrm>
              <a:off x="9429750" y="4191000"/>
              <a:ext cx="3048000" cy="3048000"/>
            </a:xfrm>
            <a:prstGeom prst="ellipse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0" y="0"/>
              <a:ext cx="1524000" cy="1524000"/>
            </a:xfrm>
            <a:prstGeom prst="ellipse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757238" y="283845"/>
            <a:ext cx="17505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04 · CORE FEATURES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1332" y="582930"/>
            <a:ext cx="329214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记你：动态学习路径 DAG</a:t>
            </a:r>
          </a:p>
        </p:txBody>
      </p:sp>
      <p:sp>
        <p:nvSpPr>
          <p:cNvPr id="9" name="Line 9"/>
          <p:cNvSpPr/>
          <p:nvPr/>
        </p:nvSpPr>
        <p:spPr>
          <a:xfrm>
            <a:off x="762000" y="9525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756285" y="1116806"/>
            <a:ext cx="5673090" cy="3912394"/>
            <a:chOff x="756285" y="1116806"/>
            <a:chExt cx="5673090" cy="3912394"/>
          </a:xfrm>
        </p:grpSpPr>
        <p:sp>
          <p:nvSpPr>
            <p:cNvPr id="10" name="TextBox 10"/>
            <p:cNvSpPr txBox="1"/>
            <p:nvPr/>
          </p:nvSpPr>
          <p:spPr>
            <a:xfrm>
              <a:off x="756285" y="1116806"/>
              <a:ext cx="1651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知识点依赖关系 DAG 图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619500" y="1428750"/>
              <a:ext cx="1238250" cy="3619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084872" y="1553528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数组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809875" y="1790700"/>
              <a:ext cx="1095375" cy="476250"/>
            </a:xfrm>
            <a:custGeom>
              <a:avLst/>
              <a:gdLst/>
              <a:ahLst/>
              <a:cxnLst/>
              <a:rect l="l" t="t" r="r" b="b"/>
              <a:pathLst>
                <a:path w="1095375" h="476250">
                  <a:moveTo>
                    <a:pt x="1095375" y="0"/>
                  </a:moveTo>
                  <a:lnTo>
                    <a:pt x="0" y="47625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238625" y="179070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572000" y="1790700"/>
              <a:ext cx="1095375" cy="476250"/>
            </a:xfrm>
            <a:custGeom>
              <a:avLst/>
              <a:gdLst/>
              <a:ahLst/>
              <a:cxnLst/>
              <a:rect l="l" t="t" r="r" b="b"/>
              <a:pathLst>
                <a:path w="1095375" h="476250">
                  <a:moveTo>
                    <a:pt x="0" y="0"/>
                  </a:moveTo>
                  <a:lnTo>
                    <a:pt x="1095375" y="47625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238375" y="2286000"/>
              <a:ext cx="1143000" cy="3619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73668" y="2418874"/>
              <a:ext cx="2724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链表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667125" y="2286000"/>
              <a:ext cx="1143000" cy="3619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71163" y="2418874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栈与队列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095875" y="2286000"/>
              <a:ext cx="1143000" cy="3619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465540" y="2418874"/>
              <a:ext cx="40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哈希表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809875" y="264795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4238625" y="264795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5667375" y="264795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2809875" y="3095625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  <a:custDash>
                <a:ds d="600000" sp="400000"/>
              </a:custDash>
            </a:ln>
          </p:spPr>
        </p:sp>
        <p:sp>
          <p:nvSpPr>
            <p:cNvPr id="26" name="Line 26"/>
            <p:cNvSpPr/>
            <p:nvPr/>
          </p:nvSpPr>
          <p:spPr>
            <a:xfrm>
              <a:off x="4238625" y="3095625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  <a:custDash>
                <a:ds d="600000" sp="400000"/>
              </a:custDash>
            </a:ln>
          </p:spPr>
        </p:sp>
        <p:sp>
          <p:nvSpPr>
            <p:cNvPr id="27" name="Rectangle 27"/>
            <p:cNvSpPr/>
            <p:nvPr/>
          </p:nvSpPr>
          <p:spPr>
            <a:xfrm>
              <a:off x="2238375" y="3124200"/>
              <a:ext cx="1143000" cy="361950"/>
            </a:xfrm>
            <a:prstGeom prst="roundRect">
              <a:avLst>
                <a:gd name="adj" fmla="val 50000"/>
              </a:avLst>
            </a:prstGeom>
            <a:solidFill>
              <a:srgbClr val="E8F0FE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476786" y="3257074"/>
              <a:ext cx="6661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树与二叉树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095875" y="3124200"/>
              <a:ext cx="1143000" cy="361950"/>
            </a:xfrm>
            <a:prstGeom prst="roundRect">
              <a:avLst>
                <a:gd name="adj" fmla="val 50000"/>
              </a:avLst>
            </a:prstGeom>
            <a:solidFill>
              <a:srgbClr val="E8F0FE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399913" y="3257074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排序算法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2809875" y="34861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5667375" y="34861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2809875" y="38862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  <a:custDash>
                <a:ds d="600000" sp="400000"/>
              </a:custDash>
            </a:ln>
          </p:spPr>
        </p:sp>
        <p:sp>
          <p:nvSpPr>
            <p:cNvPr id="34" name="Rectangle 34"/>
            <p:cNvSpPr/>
            <p:nvPr/>
          </p:nvSpPr>
          <p:spPr>
            <a:xfrm>
              <a:off x="2143125" y="3952875"/>
              <a:ext cx="1333500" cy="361950"/>
            </a:xfrm>
            <a:prstGeom prst="roundRect">
              <a:avLst>
                <a:gd name="adj" fmla="val 50000"/>
              </a:avLst>
            </a:prstGeom>
            <a:solidFill>
              <a:srgbClr val="E8F0FE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460379" y="4085749"/>
              <a:ext cx="6989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图与图算法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000625" y="3952875"/>
              <a:ext cx="1333500" cy="361950"/>
            </a:xfrm>
            <a:prstGeom prst="roundRect">
              <a:avLst>
                <a:gd name="adj" fmla="val 50000"/>
              </a:avLst>
            </a:prstGeom>
            <a:solidFill>
              <a:srgbClr val="E8F0FE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386788" y="4085749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动态规划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667375" y="4314825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4288">
              <a:solidFill>
                <a:srgbClr val="EF4444"/>
              </a:solidFill>
              <a:custDash>
                <a:ds d="266666" sp="133333"/>
              </a:custDash>
            </a:ln>
          </p:spPr>
        </p:sp>
        <p:sp>
          <p:nvSpPr>
            <p:cNvPr id="39" name="Rectangle 39"/>
            <p:cNvSpPr/>
            <p:nvPr/>
          </p:nvSpPr>
          <p:spPr>
            <a:xfrm>
              <a:off x="4905375" y="4667250"/>
              <a:ext cx="1524000" cy="3619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EF4444"/>
              </a:solidFill>
              <a:custDash>
                <a:ds d="333333" sp="133333"/>
              </a:custDash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187067" y="4808220"/>
              <a:ext cx="9606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F4444"/>
                  </a:solidFill>
                  <a:latin typeface="Inter"/>
                  <a:ea typeface="Microsoft YaHei"/>
                  <a:cs typeface="Inter"/>
                </a:rPr>
                <a:t>⚠ 巩固：从树到图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239000" y="1333500"/>
            <a:ext cx="4000500" cy="476250"/>
            <a:chOff x="7239000" y="1333500"/>
            <a:chExt cx="4000500" cy="476250"/>
          </a:xfrm>
        </p:grpSpPr>
        <p:sp>
          <p:nvSpPr>
            <p:cNvPr id="42" name="Rectangle 42"/>
            <p:cNvSpPr/>
            <p:nvPr/>
          </p:nvSpPr>
          <p:spPr>
            <a:xfrm>
              <a:off x="7239000" y="1333500"/>
              <a:ext cx="400050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7296150" y="1438275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89753" y="15220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71816" y="15059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基于画像生成个性化路径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239000" y="1952625"/>
            <a:ext cx="4000500" cy="476250"/>
            <a:chOff x="7239000" y="1952625"/>
            <a:chExt cx="4000500" cy="476250"/>
          </a:xfrm>
        </p:grpSpPr>
        <p:sp>
          <p:nvSpPr>
            <p:cNvPr id="47" name="Rectangle 47"/>
            <p:cNvSpPr/>
            <p:nvPr/>
          </p:nvSpPr>
          <p:spPr>
            <a:xfrm>
              <a:off x="7239000" y="1952625"/>
              <a:ext cx="400050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7296150" y="205740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89753" y="21412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✦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71816" y="2125028"/>
              <a:ext cx="164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DAG 可视化，可拖动交互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239000" y="2571750"/>
            <a:ext cx="4000500" cy="476250"/>
            <a:chOff x="7239000" y="2571750"/>
            <a:chExt cx="4000500" cy="476250"/>
          </a:xfrm>
        </p:grpSpPr>
        <p:sp>
          <p:nvSpPr>
            <p:cNvPr id="52" name="Rectangle 52"/>
            <p:cNvSpPr/>
            <p:nvPr/>
          </p:nvSpPr>
          <p:spPr>
            <a:xfrm>
              <a:off x="7239000" y="2571750"/>
              <a:ext cx="400050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7296150" y="2676525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389753" y="27603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✦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71816" y="27441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受挫自动插入巩固节点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239000" y="3190875"/>
            <a:ext cx="4000500" cy="476250"/>
            <a:chOff x="7239000" y="3190875"/>
            <a:chExt cx="4000500" cy="476250"/>
          </a:xfrm>
        </p:grpSpPr>
        <p:sp>
          <p:nvSpPr>
            <p:cNvPr id="57" name="Rectangle 57"/>
            <p:cNvSpPr/>
            <p:nvPr/>
          </p:nvSpPr>
          <p:spPr>
            <a:xfrm>
              <a:off x="7239000" y="3190875"/>
              <a:ext cx="400050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7296150" y="329565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389753" y="33794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✦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71816" y="336327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掌握度达阈值自动推进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7239000" y="4000500"/>
            <a:ext cx="4000500" cy="523875"/>
            <a:chOff x="7239000" y="4000500"/>
            <a:chExt cx="4000500" cy="523875"/>
          </a:xfrm>
        </p:grpSpPr>
        <p:sp>
          <p:nvSpPr>
            <p:cNvPr id="62" name="Rectangle 62"/>
            <p:cNvSpPr/>
            <p:nvPr/>
          </p:nvSpPr>
          <p:spPr>
            <a:xfrm>
              <a:off x="7239000" y="4000500"/>
              <a:ext cx="4000500" cy="523875"/>
            </a:xfrm>
            <a:prstGeom prst="roundRect">
              <a:avLst>
                <a:gd name="adj" fmla="val 14545"/>
              </a:avLst>
            </a:prstGeom>
            <a:solidFill>
              <a:srgbClr val="E8F0FE"/>
            </a:solidFill>
            <a:ln w="14288">
              <a:solidFill>
                <a:schemeClr val="accent2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584345" y="4096702"/>
              <a:ext cx="13098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LearningPathAgent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628698" y="432244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动态路径规划与重规划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11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00"/>
          </a:xfrm>
          <a:prstGeom prst="rect">
            <a:avLst/>
          </a:prstGeom>
          <a:gradFill>
            <a:gsLst>
              <a:gs pos="0">
                <a:schemeClr val="accent1">
                  <a:alpha val="3000"/>
                </a:schemeClr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-190500" y="4572000"/>
            <a:ext cx="12763500" cy="2571750"/>
            <a:chOff x="-190500" y="4572000"/>
            <a:chExt cx="12763500" cy="2571750"/>
          </a:xfrm>
        </p:grpSpPr>
        <p:sp>
          <p:nvSpPr>
            <p:cNvPr id="4" name="Ellipse 4"/>
            <p:cNvSpPr/>
            <p:nvPr/>
          </p:nvSpPr>
          <p:spPr>
            <a:xfrm>
              <a:off x="10287000" y="4572000"/>
              <a:ext cx="2286000" cy="2286000"/>
            </a:xfrm>
            <a:prstGeom prst="ellipse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0500" y="5238750"/>
              <a:ext cx="1905000" cy="1905000"/>
            </a:xfrm>
            <a:prstGeom prst="ellipse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 rot="-1800000">
              <a:off x="4284974" y="5106377"/>
              <a:ext cx="19050" cy="1905000"/>
            </a:xfrm>
            <a:prstGeom prst="rect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757238" y="283845"/>
            <a:ext cx="17505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04 · CORE FEATURES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1332" y="582930"/>
            <a:ext cx="397916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陪你：六种覆盖全场景学习资源</a:t>
            </a:r>
          </a:p>
        </p:txBody>
      </p:sp>
      <p:sp>
        <p:nvSpPr>
          <p:cNvPr id="10" name="Line 10"/>
          <p:cNvSpPr/>
          <p:nvPr/>
        </p:nvSpPr>
        <p:spPr>
          <a:xfrm>
            <a:off x="762000" y="952500"/>
            <a:ext cx="3524250" cy="9525"/>
          </a:xfrm>
          <a:custGeom>
            <a:avLst/>
            <a:gdLst/>
            <a:ahLst/>
            <a:cxnLst/>
            <a:rect l="l" t="t" r="r" b="b"/>
            <a:pathLst>
              <a:path w="3524250" h="9525">
                <a:moveTo>
                  <a:pt x="0" y="0"/>
                </a:moveTo>
                <a:lnTo>
                  <a:pt x="35242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762000" y="1285875"/>
            <a:ext cx="3238500" cy="1476375"/>
            <a:chOff x="762000" y="1285875"/>
            <a:chExt cx="3238500" cy="1476375"/>
          </a:xfrm>
        </p:grpSpPr>
        <p:sp>
          <p:nvSpPr>
            <p:cNvPr id="11" name="Rectangle 11"/>
            <p:cNvSpPr/>
            <p:nvPr/>
          </p:nvSpPr>
          <p:spPr>
            <a:xfrm>
              <a:off x="762000" y="1285875"/>
              <a:ext cx="3238500" cy="1476375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1285875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429000" y="1428750"/>
              <a:ext cx="381000" cy="476250"/>
              <a:chOff x="3429000" y="1428750"/>
              <a:chExt cx="381000" cy="476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3429000" y="1428750"/>
                <a:ext cx="381000" cy="476250"/>
              </a:xfrm>
              <a:prstGeom prst="roundRect">
                <a:avLst>
                  <a:gd name="adj" fmla="val 10000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505200" y="1571625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FFFFFF">
                    <a:alpha val="10000"/>
                  </a:srgbClr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3505200" y="1666875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FFFFFF">
                    <a:alpha val="10000"/>
                  </a:srgbClr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3505200" y="1762125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19050">
                <a:solidFill>
                  <a:srgbClr val="FFFFFF">
                    <a:alpha val="10000"/>
                  </a:srgbClr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945642" y="1502092"/>
              <a:ext cx="895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📄 讲解文档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952500" y="176212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7547" y="1866424"/>
              <a:ext cx="8843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ConceptAgent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547" y="2085499"/>
              <a:ext cx="10153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结合 RAG 知识库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7547" y="2304574"/>
              <a:ext cx="928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个性化课程讲解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381500" y="1285875"/>
            <a:ext cx="3238500" cy="1476375"/>
            <a:chOff x="4381500" y="1285875"/>
            <a:chExt cx="3238500" cy="1476375"/>
          </a:xfrm>
        </p:grpSpPr>
        <p:sp>
          <p:nvSpPr>
            <p:cNvPr id="24" name="Rectangle 24"/>
            <p:cNvSpPr/>
            <p:nvPr/>
          </p:nvSpPr>
          <p:spPr>
            <a:xfrm>
              <a:off x="4381500" y="1285875"/>
              <a:ext cx="3238500" cy="1476375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381500" y="1285875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096125" y="1428750"/>
              <a:ext cx="428625" cy="285750"/>
              <a:chOff x="7096125" y="1428750"/>
              <a:chExt cx="428625" cy="285750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7096125" y="1428750"/>
                <a:ext cx="285750" cy="285750"/>
              </a:xfrm>
              <a:prstGeom prst="ellipse">
                <a:avLst/>
              </a:pr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7191375" y="1524000"/>
                <a:ext cx="95250" cy="95250"/>
              </a:xfrm>
              <a:prstGeom prst="ellipse">
                <a:avLst/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7381875" y="147637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9525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chemeClr val="accent2">
                    <a:alpha val="10000"/>
                  </a:schemeClr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7381875" y="157162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0"/>
                    </a:moveTo>
                    <a:lnTo>
                      <a:pt x="142875" y="95250"/>
                    </a:lnTo>
                  </a:path>
                </a:pathLst>
              </a:custGeom>
              <a:noFill/>
              <a:ln w="19050">
                <a:solidFill>
                  <a:schemeClr val="accent2">
                    <a:alpha val="10000"/>
                  </a:schemeClr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4565142" y="1502092"/>
              <a:ext cx="895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🧠 思维导图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572000" y="176212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567047" y="1866424"/>
              <a:ext cx="7399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GraphAgent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67047" y="2085499"/>
              <a:ext cx="8434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Mermaid 格式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67047" y="2304574"/>
              <a:ext cx="1059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知识结构化可视化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001000" y="1285875"/>
            <a:ext cx="3238500" cy="1476375"/>
            <a:chOff x="8001000" y="1285875"/>
            <a:chExt cx="3238500" cy="1476375"/>
          </a:xfrm>
        </p:grpSpPr>
        <p:sp>
          <p:nvSpPr>
            <p:cNvPr id="37" name="Rectangle 37"/>
            <p:cNvSpPr/>
            <p:nvPr/>
          </p:nvSpPr>
          <p:spPr>
            <a:xfrm>
              <a:off x="8001000" y="1285875"/>
              <a:ext cx="3238500" cy="1476375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001000" y="1285875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10668000" y="1428750"/>
              <a:ext cx="381000" cy="381000"/>
              <a:chOff x="10668000" y="1428750"/>
              <a:chExt cx="381000" cy="3810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10668000" y="1428750"/>
                <a:ext cx="381000" cy="381000"/>
              </a:xfrm>
              <a:prstGeom prst="roundRect">
                <a:avLst>
                  <a:gd name="adj" fmla="val 10000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792573" y="150495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>
                        <a:alphaMod val="10000"/>
                      </a:srgbClr>
                    </a:solidFill>
                    <a:latin typeface="Inter"/>
                    <a:ea typeface="Inter"/>
                    <a:cs typeface="Inter"/>
                  </a:rPr>
                  <a:t>✓</a:t>
                </a:r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8184642" y="1502092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📝 分层练习题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191500" y="176212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186547" y="1866424"/>
              <a:ext cx="6611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QuizAgent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86547" y="2085499"/>
              <a:ext cx="9390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Bloom 认知分层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86547" y="2304574"/>
              <a:ext cx="9089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5 道个性化习题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62000" y="3000375"/>
            <a:ext cx="3238500" cy="1476375"/>
            <a:chOff x="762000" y="3000375"/>
            <a:chExt cx="3238500" cy="1476375"/>
          </a:xfrm>
        </p:grpSpPr>
        <p:sp>
          <p:nvSpPr>
            <p:cNvPr id="48" name="Rectangle 48"/>
            <p:cNvSpPr/>
            <p:nvPr/>
          </p:nvSpPr>
          <p:spPr>
            <a:xfrm>
              <a:off x="762000" y="3000375"/>
              <a:ext cx="3238500" cy="1476375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62000" y="3000375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3429000" y="3143250"/>
              <a:ext cx="381000" cy="381000"/>
              <a:chOff x="3429000" y="3143250"/>
              <a:chExt cx="381000" cy="3810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3429000" y="3143250"/>
                <a:ext cx="381000" cy="381000"/>
              </a:xfrm>
              <a:prstGeom prst="roundRect">
                <a:avLst>
                  <a:gd name="adj" fmla="val 5000"/>
                </a:avLst>
              </a:pr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3527277" y="3233738"/>
                <a:ext cx="184447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50" b="1" dirty="0">
                    <a:solidFill>
                      <a:srgbClr val="FFFFFF">
                        <a:alphaMod val="10000"/>
                      </a:srgbClr>
                    </a:solidFill>
                    <a:latin typeface="Courier New"/>
                    <a:ea typeface="Courier New"/>
                    <a:cs typeface="Courier New"/>
                  </a:rPr>
                  <a:t>&lt;/&gt;</a:t>
                </a:r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945642" y="3216592"/>
              <a:ext cx="1258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💻 代码实操案例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952500" y="347662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47547" y="3580924"/>
              <a:ext cx="9234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ScenarioAgent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7547" y="3799999"/>
              <a:ext cx="928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交互式代码沙盒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7547" y="4019074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即学即练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4381500" y="3000375"/>
            <a:ext cx="3238500" cy="1476375"/>
            <a:chOff x="4381500" y="3000375"/>
            <a:chExt cx="3238500" cy="1476375"/>
          </a:xfrm>
        </p:grpSpPr>
        <p:sp>
          <p:nvSpPr>
            <p:cNvPr id="59" name="Rectangle 59"/>
            <p:cNvSpPr/>
            <p:nvPr/>
          </p:nvSpPr>
          <p:spPr>
            <a:xfrm>
              <a:off x="4381500" y="3000375"/>
              <a:ext cx="3238500" cy="1476375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4381500" y="3000375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048500" y="3190875"/>
              <a:ext cx="333375" cy="285750"/>
              <a:chOff x="7048500" y="3190875"/>
              <a:chExt cx="333375" cy="285750"/>
            </a:xfrm>
          </p:grpSpPr>
          <p:sp>
            <p:nvSpPr>
              <p:cNvPr id="61" name="Polygon 61"/>
              <p:cNvSpPr/>
              <p:nvPr/>
            </p:nvSpPr>
            <p:spPr>
              <a:xfrm>
                <a:off x="7239000" y="3190875"/>
                <a:ext cx="14287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85750">
                    <a:moveTo>
                      <a:pt x="0" y="0"/>
                    </a:moveTo>
                    <a:lnTo>
                      <a:pt x="142875" y="142875"/>
                    </a:lnTo>
                    <a:lnTo>
                      <a:pt x="0" y="285750"/>
                    </a:ln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7048500" y="3238500"/>
                <a:ext cx="114300" cy="28575"/>
              </a:xfrm>
              <a:prstGeom prst="roundRect">
                <a:avLst>
                  <a:gd name="adj" fmla="val 33333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63" name="Rectangle 63"/>
              <p:cNvSpPr/>
              <p:nvPr/>
            </p:nvSpPr>
            <p:spPr>
              <a:xfrm>
                <a:off x="7048500" y="3314700"/>
                <a:ext cx="114300" cy="28575"/>
              </a:xfrm>
              <a:prstGeom prst="roundRect">
                <a:avLst>
                  <a:gd name="adj" fmla="val 33333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7048500" y="3390900"/>
                <a:ext cx="114300" cy="28575"/>
              </a:xfrm>
              <a:prstGeom prst="roundRect">
                <a:avLst>
                  <a:gd name="adj" fmla="val 33333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4565142" y="3216592"/>
              <a:ext cx="1465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🎬 Trace 执行动画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4572000" y="347662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4567047" y="3580924"/>
              <a:ext cx="7399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TraceAgent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567047" y="3799999"/>
              <a:ext cx="9811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13 种可视化类型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567047" y="4019074"/>
              <a:ext cx="1059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代码逐行追踪诊断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001000" y="3000375"/>
            <a:ext cx="3238500" cy="1476375"/>
            <a:chOff x="8001000" y="3000375"/>
            <a:chExt cx="3238500" cy="1476375"/>
          </a:xfrm>
        </p:grpSpPr>
        <p:sp>
          <p:nvSpPr>
            <p:cNvPr id="72" name="Rectangle 72"/>
            <p:cNvSpPr/>
            <p:nvPr/>
          </p:nvSpPr>
          <p:spPr>
            <a:xfrm>
              <a:off x="8001000" y="3000375"/>
              <a:ext cx="3238500" cy="1476375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8001000" y="3000375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10668000" y="3143250"/>
              <a:ext cx="333375" cy="428625"/>
              <a:chOff x="10668000" y="3143250"/>
              <a:chExt cx="333375" cy="428625"/>
            </a:xfrm>
          </p:grpSpPr>
          <p:sp>
            <p:nvSpPr>
              <p:cNvPr id="74" name="Rectangle 74"/>
              <p:cNvSpPr/>
              <p:nvPr/>
            </p:nvSpPr>
            <p:spPr>
              <a:xfrm>
                <a:off x="10668000" y="3143250"/>
                <a:ext cx="333375" cy="428625"/>
              </a:xfrm>
              <a:prstGeom prst="roundRect">
                <a:avLst>
                  <a:gd name="adj" fmla="val 5714"/>
                </a:avLst>
              </a:pr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75" name="Line 75"/>
              <p:cNvSpPr/>
              <p:nvPr/>
            </p:nvSpPr>
            <p:spPr>
              <a:xfrm>
                <a:off x="10715625" y="3238500"/>
                <a:ext cx="238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9525">
                    <a:moveTo>
                      <a:pt x="0" y="0"/>
                    </a:moveTo>
                    <a:lnTo>
                      <a:pt x="238125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10000"/>
                  </a:srgbClr>
                </a:solidFill>
              </a:ln>
            </p:spPr>
          </p:sp>
          <p:sp>
            <p:nvSpPr>
              <p:cNvPr id="76" name="Line 76"/>
              <p:cNvSpPr/>
              <p:nvPr/>
            </p:nvSpPr>
            <p:spPr>
              <a:xfrm>
                <a:off x="10715625" y="33147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10000"/>
                  </a:srgbClr>
                </a:solidFill>
              </a:ln>
            </p:spPr>
          </p:sp>
          <p:sp>
            <p:nvSpPr>
              <p:cNvPr id="77" name="Line 77"/>
              <p:cNvSpPr/>
              <p:nvPr/>
            </p:nvSpPr>
            <p:spPr>
              <a:xfrm>
                <a:off x="10715625" y="3390900"/>
                <a:ext cx="238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9525">
                    <a:moveTo>
                      <a:pt x="0" y="0"/>
                    </a:moveTo>
                    <a:lnTo>
                      <a:pt x="238125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10000"/>
                  </a:srgbClr>
                </a:solidFill>
              </a:ln>
            </p:spPr>
          </p:sp>
          <p:sp>
            <p:nvSpPr>
              <p:cNvPr id="78" name="Line 78"/>
              <p:cNvSpPr/>
              <p:nvPr/>
            </p:nvSpPr>
            <p:spPr>
              <a:xfrm>
                <a:off x="10715625" y="346710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10000"/>
                  </a:srgbClr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8184642" y="3216592"/>
              <a:ext cx="1258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📖 分层拓展阅读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8191500" y="347662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186547" y="3580924"/>
              <a:ext cx="851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ReadingAgent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186547" y="3799999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分层难度匹配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186547" y="4019074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拓展知识边界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762000" y="4762500"/>
            <a:ext cx="10668000" cy="381000"/>
            <a:chOff x="762000" y="4762500"/>
            <a:chExt cx="10668000" cy="381000"/>
          </a:xfrm>
        </p:grpSpPr>
        <p:sp>
          <p:nvSpPr>
            <p:cNvPr id="86" name="Rectangle 86"/>
            <p:cNvSpPr/>
            <p:nvPr/>
          </p:nvSpPr>
          <p:spPr>
            <a:xfrm>
              <a:off x="762000" y="4762500"/>
              <a:ext cx="106680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762000" y="4762500"/>
              <a:ext cx="10668000" cy="38100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540954" y="490347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理解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3191008" y="4903470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→ 结构化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108962" y="4903470"/>
              <a:ext cx="3548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→ 练习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775837" y="4903470"/>
              <a:ext cx="3548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→ 实践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490337" y="4903470"/>
              <a:ext cx="3548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→ 调试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300087" y="4903470"/>
              <a:ext cx="3548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→ 拓展</a:t>
              </a:r>
            </a:p>
          </p:txBody>
        </p:sp>
      </p:grpSp>
      <p:sp>
        <p:nvSpPr>
          <p:cNvPr id="95" name="TextBox 95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12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7238" y="283845"/>
            <a:ext cx="17505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04 · CORE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1332" y="582930"/>
            <a:ext cx="353110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纠你：在线 OJ + 代码诊断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34" name="Group 34"/>
          <p:cNvGrpSpPr/>
          <p:nvPr/>
        </p:nvGrpSpPr>
        <p:grpSpPr>
          <a:xfrm>
            <a:off x="762000" y="1333500"/>
            <a:ext cx="6096000" cy="3429000"/>
            <a:chOff x="762000" y="1333500"/>
            <a:chExt cx="6096000" cy="342900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6096000" cy="3429000"/>
            </a:xfrm>
            <a:prstGeom prst="roundRect">
              <a:avLst>
                <a:gd name="adj" fmla="val 1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2035" y="1545431"/>
              <a:ext cx="1387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OJ 代码编辑器界面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1857375"/>
              <a:ext cx="5715000" cy="381000"/>
            </a:xfrm>
            <a:prstGeom prst="roundRect">
              <a:avLst>
                <a:gd name="adj" fmla="val 10000"/>
              </a:avLst>
            </a:prstGeom>
            <a:solidFill>
              <a:srgbClr val="0F1D3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0612" y="1998345"/>
              <a:ext cx="3181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Inter"/>
                  <a:ea typeface="Inter"/>
                  <a:cs typeface="Inter"/>
                </a:rPr>
                <a:t>▶ Run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62112" y="1998345"/>
              <a:ext cx="458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|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52612" y="1998345"/>
              <a:ext cx="5170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Python 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14612" y="1998345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C++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05488" y="1998345"/>
              <a:ext cx="4436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chemeClr val="accent6"/>
                </a:buClr>
                <a:buSzTx/>
                <a:buFontTx/>
                <a:buChar char="●"/>
              </a:pPr>
              <a:r>
                <a:rPr lang="en-US" sz="900" dirty="0">
                  <a:solidFill>
                    <a:schemeClr val="accent6"/>
                  </a:solidFill>
                  <a:latin typeface="Inter"/>
                  <a:ea typeface="Inter"/>
                  <a:cs typeface="Inter"/>
                </a:rPr>
                <a:t>Trace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0612" y="2379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E8E8E8">
                      <a:alphaMod val="50000"/>
                    </a:srgbClr>
                  </a:solidFill>
                  <a:latin typeface="JetBrains Mono"/>
                  <a:ea typeface="JetBrains Mono"/>
                  <a:cs typeface="JetBrains Mono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33488" y="2379345"/>
              <a:ext cx="14513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JetBrains Mono"/>
                  <a:ea typeface="JetBrains Mono"/>
                  <a:cs typeface="JetBrains Mono"/>
                </a:rPr>
                <a:t>def reverse_list(head):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0612" y="25888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E8E8E8">
                      <a:alphaMod val="50000"/>
                    </a:srgbClr>
                  </a:solidFill>
                  <a:latin typeface="JetBrains Mono"/>
                  <a:ea typeface="JetBrains Mono"/>
                  <a:cs typeface="JetBrains Mono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33488" y="2588895"/>
              <a:ext cx="686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JetBrains Mono"/>
                  <a:ea typeface="JetBrains Mono"/>
                  <a:cs typeface="JetBrains Mono"/>
                </a:rPr>
                <a:t>prev = None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0612" y="27984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E8E8E8">
                      <a:alphaMod val="50000"/>
                    </a:srgbClr>
                  </a:solidFill>
                  <a:latin typeface="JetBrains Mono"/>
                  <a:ea typeface="JetBrains Mono"/>
                  <a:cs typeface="JetBrains Mono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33488" y="2798445"/>
              <a:ext cx="6819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JetBrains Mono"/>
                  <a:ea typeface="JetBrains Mono"/>
                  <a:cs typeface="JetBrains Mono"/>
                </a:rPr>
                <a:t>curr = head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0612" y="30079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E8E8E8">
                      <a:alphaMod val="50000"/>
                    </a:srgbClr>
                  </a:solidFill>
                  <a:latin typeface="JetBrains Mono"/>
                  <a:ea typeface="JetBrains Mono"/>
                  <a:cs typeface="JetBrains Mono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33488" y="3007995"/>
              <a:ext cx="6758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JetBrains Mono"/>
                  <a:ea typeface="JetBrains Mono"/>
                  <a:cs typeface="JetBrains Mono"/>
                </a:rPr>
                <a:t>while curr: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0612" y="32175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E8E8E8">
                      <a:alphaMod val="50000"/>
                    </a:srgbClr>
                  </a:solidFill>
                  <a:latin typeface="JetBrains Mono"/>
                  <a:ea typeface="JetBrains Mono"/>
                  <a:cs typeface="JetBrains Mono"/>
                </a:rPr>
                <a:t>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33488" y="3217545"/>
              <a:ext cx="13483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next_node = curr.next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0612" y="34270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E8E8E8">
                      <a:alphaMod val="50000"/>
                    </a:srgbClr>
                  </a:solidFill>
                  <a:latin typeface="JetBrains Mono"/>
                  <a:ea typeface="JetBrains Mono"/>
                  <a:cs typeface="JetBrains Mono"/>
                </a:rPr>
                <a:t>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33488" y="342709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JetBrains Mono"/>
                  <a:ea typeface="JetBrains Mono"/>
                  <a:cs typeface="JetBrains Mono"/>
                </a:rPr>
                <a:t>curr.next = prev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0612" y="3636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E8E8E8">
                      <a:alphaMod val="50000"/>
                    </a:srgbClr>
                  </a:solidFill>
                  <a:latin typeface="JetBrains Mono"/>
                  <a:ea typeface="JetBrains Mono"/>
                  <a:cs typeface="JetBrains Mono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33488" y="3636645"/>
              <a:ext cx="6819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JetBrains Mono"/>
                  <a:ea typeface="JetBrains Mono"/>
                  <a:cs typeface="JetBrains Mono"/>
                </a:rPr>
                <a:t>prev = curr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0612" y="38461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E8E8E8">
                      <a:alphaMod val="50000"/>
                    </a:srgbClr>
                  </a:solidFill>
                  <a:latin typeface="JetBrains Mono"/>
                  <a:ea typeface="JetBrains Mono"/>
                  <a:cs typeface="JetBrains Mono"/>
                </a:rPr>
                <a:t>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33488" y="384619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JetBrains Mono"/>
                  <a:ea typeface="JetBrains Mono"/>
                  <a:cs typeface="JetBrains Mono"/>
                </a:rPr>
                <a:t>curr = next_node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0612" y="40557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E8E8E8">
                      <a:alphaMod val="50000"/>
                    </a:srgbClr>
                  </a:solidFill>
                  <a:latin typeface="JetBrains Mono"/>
                  <a:ea typeface="JetBrains Mono"/>
                  <a:cs typeface="JetBrains Mono"/>
                </a:rPr>
                <a:t>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33488" y="4055745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JetBrains Mono"/>
                  <a:ea typeface="JetBrains Mono"/>
                  <a:cs typeface="JetBrains Mono"/>
                </a:rPr>
                <a:t>return prev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52500" y="4286250"/>
              <a:ext cx="5715000" cy="333375"/>
            </a:xfrm>
            <a:prstGeom prst="roundRect">
              <a:avLst>
                <a:gd name="adj" fmla="val 11429"/>
              </a:avLst>
            </a:prstGeom>
            <a:solidFill>
              <a:srgbClr val="0F1D3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0612" y="4408170"/>
              <a:ext cx="20741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Inter"/>
                  <a:ea typeface="Microsoft YaHei"/>
                  <a:cs typeface="Inter"/>
                </a:rPr>
                <a:t>✓ 测试通过 (3/3) | Trace 动画已生成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143750" y="1333500"/>
            <a:ext cx="1905000" cy="762000"/>
            <a:chOff x="7143750" y="1333500"/>
            <a:chExt cx="1905000" cy="762000"/>
          </a:xfrm>
        </p:grpSpPr>
        <p:sp>
          <p:nvSpPr>
            <p:cNvPr id="35" name="Rectangle 35"/>
            <p:cNvSpPr/>
            <p:nvPr/>
          </p:nvSpPr>
          <p:spPr>
            <a:xfrm>
              <a:off x="7143750" y="1333500"/>
              <a:ext cx="190500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80910" y="1478756"/>
              <a:ext cx="9974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🐍 Python 判题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81862" y="1731645"/>
              <a:ext cx="11968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subprocess 沙盒执行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81862" y="1903095"/>
              <a:ext cx="7849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3s 超时硬上限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334500" y="1333500"/>
            <a:ext cx="1905000" cy="762000"/>
            <a:chOff x="9334500" y="1333500"/>
            <a:chExt cx="1905000" cy="762000"/>
          </a:xfrm>
        </p:grpSpPr>
        <p:sp>
          <p:nvSpPr>
            <p:cNvPr id="40" name="Rectangle 40"/>
            <p:cNvSpPr/>
            <p:nvPr/>
          </p:nvSpPr>
          <p:spPr>
            <a:xfrm>
              <a:off x="9334500" y="1333500"/>
              <a:ext cx="190500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71660" y="1478756"/>
              <a:ext cx="779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⚡ C++ 判题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72612" y="1731645"/>
              <a:ext cx="8697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g++ 编译 + 运行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72612" y="19030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危险调用拦截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143750" y="2286000"/>
            <a:ext cx="1905000" cy="762000"/>
            <a:chOff x="7143750" y="2286000"/>
            <a:chExt cx="1905000" cy="762000"/>
          </a:xfrm>
        </p:grpSpPr>
        <p:sp>
          <p:nvSpPr>
            <p:cNvPr id="45" name="Rectangle 45"/>
            <p:cNvSpPr/>
            <p:nvPr/>
          </p:nvSpPr>
          <p:spPr>
            <a:xfrm>
              <a:off x="7143750" y="2286000"/>
              <a:ext cx="190500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80910" y="2431256"/>
              <a:ext cx="779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🔍 AST 审计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81862" y="26841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死循环检测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81862" y="28555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数组越界检查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334500" y="2286000"/>
            <a:ext cx="1905000" cy="762000"/>
            <a:chOff x="9334500" y="2286000"/>
            <a:chExt cx="1905000" cy="762000"/>
          </a:xfrm>
        </p:grpSpPr>
        <p:sp>
          <p:nvSpPr>
            <p:cNvPr id="50" name="Rectangle 50"/>
            <p:cNvSpPr/>
            <p:nvPr/>
          </p:nvSpPr>
          <p:spPr>
            <a:xfrm>
              <a:off x="9334500" y="2286000"/>
              <a:ext cx="190500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471660" y="2431256"/>
              <a:ext cx="8292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🛡️ 安全机制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72612" y="268414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危险调用拦截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72612" y="28555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输出截断保护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143750" y="3333750"/>
            <a:ext cx="4095750" cy="771239"/>
            <a:chOff x="7143750" y="3333750"/>
            <a:chExt cx="4095750" cy="771239"/>
          </a:xfrm>
        </p:grpSpPr>
        <p:sp>
          <p:nvSpPr>
            <p:cNvPr id="55" name="Rectangle 55"/>
            <p:cNvSpPr/>
            <p:nvPr/>
          </p:nvSpPr>
          <p:spPr>
            <a:xfrm>
              <a:off x="7143750" y="3333750"/>
              <a:ext cx="4095750" cy="762000"/>
            </a:xfrm>
            <a:prstGeom prst="roundRect">
              <a:avLst>
                <a:gd name="adj" fmla="val 7500"/>
              </a:avLst>
            </a:prstGeom>
            <a:solidFill>
              <a:srgbClr val="E8F0FE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328535" y="3479006"/>
              <a:ext cx="9715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🎯 AI 诊断分析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29297" y="3723799"/>
              <a:ext cx="25431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错误代码自动分析 + 优化建议 + 知识点关联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29297" y="3914299"/>
              <a:ext cx="21248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基于 RAG 知识库的上下文感知诊断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13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905000"/>
          </a:xfrm>
          <a:prstGeom prst="rect">
            <a:avLst/>
          </a:prstGeom>
          <a:gradFill>
            <a:gsLst>
              <a:gs pos="0">
                <a:schemeClr val="accent1">
                  <a:alpha val="4000"/>
                </a:schemeClr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-190500" y="4476750"/>
            <a:ext cx="12858750" cy="2667000"/>
            <a:chOff x="-190500" y="4476750"/>
            <a:chExt cx="12858750" cy="2667000"/>
          </a:xfrm>
        </p:grpSpPr>
        <p:sp>
          <p:nvSpPr>
            <p:cNvPr id="4" name="Ellipse 4"/>
            <p:cNvSpPr/>
            <p:nvPr/>
          </p:nvSpPr>
          <p:spPr>
            <a:xfrm>
              <a:off x="10191750" y="4476750"/>
              <a:ext cx="2476500" cy="2476500"/>
            </a:xfrm>
            <a:prstGeom prst="ellipse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0500" y="5238750"/>
              <a:ext cx="1905000" cy="1905000"/>
            </a:xfrm>
            <a:prstGeom prst="ellipse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757238" y="283845"/>
            <a:ext cx="17505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04 · CORE FEATURES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1332" y="582930"/>
            <a:ext cx="415262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代码 Trace 可视化——看见每一步</a:t>
            </a:r>
          </a:p>
        </p:txBody>
      </p:sp>
      <p:sp>
        <p:nvSpPr>
          <p:cNvPr id="9" name="Line 9"/>
          <p:cNvSpPr/>
          <p:nvPr/>
        </p:nvSpPr>
        <p:spPr>
          <a:xfrm>
            <a:off x="762000" y="952500"/>
            <a:ext cx="3524250" cy="9525"/>
          </a:xfrm>
          <a:custGeom>
            <a:avLst/>
            <a:gdLst/>
            <a:ahLst/>
            <a:cxnLst/>
            <a:rect l="l" t="t" r="r" b="b"/>
            <a:pathLst>
              <a:path w="3524250" h="9525">
                <a:moveTo>
                  <a:pt x="0" y="0"/>
                </a:moveTo>
                <a:lnTo>
                  <a:pt x="35242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762000" y="1238250"/>
            <a:ext cx="5143500" cy="2571750"/>
            <a:chOff x="762000" y="1238250"/>
            <a:chExt cx="5143500" cy="2571750"/>
          </a:xfrm>
        </p:grpSpPr>
        <p:sp>
          <p:nvSpPr>
            <p:cNvPr id="10" name="Rectangle 10"/>
            <p:cNvSpPr/>
            <p:nvPr/>
          </p:nvSpPr>
          <p:spPr>
            <a:xfrm>
              <a:off x="762000" y="1238250"/>
              <a:ext cx="5143500" cy="2571750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238250"/>
              <a:ext cx="5143500" cy="38100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857250" y="131445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2903" y="1387316"/>
              <a:ext cx="772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56716" y="1363028"/>
              <a:ext cx="19926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Python Trace：sys.settrace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952500" y="1857375"/>
              <a:ext cx="2476500" cy="1381125"/>
              <a:chOff x="952500" y="1857375"/>
              <a:chExt cx="2476500" cy="1381125"/>
            </a:xfrm>
          </p:grpSpPr>
          <p:sp>
            <p:nvSpPr>
              <p:cNvPr id="15" name="Line 15"/>
              <p:cNvSpPr/>
              <p:nvPr/>
            </p:nvSpPr>
            <p:spPr>
              <a:xfrm>
                <a:off x="952500" y="1857375"/>
                <a:ext cx="2476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76500" h="9525">
                    <a:moveTo>
                      <a:pt x="0" y="0"/>
                    </a:moveTo>
                    <a:lnTo>
                      <a:pt x="2476500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46107" y="1903095"/>
                <a:ext cx="38428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Step 1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952500" y="2095500"/>
                <a:ext cx="1143000" cy="57150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42988" y="2188845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变量追踪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42988" y="2387441"/>
                <a:ext cx="814826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20" dirty="0">
                    <a:solidFill>
                      <a:schemeClr val="accent2"/>
                    </a:solidFill>
                    <a:latin typeface="Inter"/>
                    <a:ea typeface="Inter"/>
                    <a:cs typeface="Inter"/>
                  </a:rPr>
                  <a:t>curr → Node(3)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2286000" y="2095500"/>
                <a:ext cx="1143000" cy="57150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2376488" y="2188845"/>
                <a:ext cx="37299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调用栈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376488" y="2387441"/>
                <a:ext cx="687000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2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reverse_list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384883" y="2768441"/>
                <a:ext cx="65923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Inter"/>
                    <a:ea typeface="Microsoft YaHei"/>
                    <a:cs typeface="Inter"/>
                  </a:rPr>
                  <a:t>↓ 统一事件流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333500" y="2952750"/>
                <a:ext cx="11430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E8F0FE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609843" y="3054191"/>
                <a:ext cx="590314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820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Normalized</a:t>
                </a:r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6191250" y="1238250"/>
            <a:ext cx="5143500" cy="2571750"/>
            <a:chOff x="6191250" y="1238250"/>
            <a:chExt cx="5143500" cy="2571750"/>
          </a:xfrm>
        </p:grpSpPr>
        <p:sp>
          <p:nvSpPr>
            <p:cNvPr id="28" name="Rectangle 28"/>
            <p:cNvSpPr/>
            <p:nvPr/>
          </p:nvSpPr>
          <p:spPr>
            <a:xfrm>
              <a:off x="6191250" y="1238250"/>
              <a:ext cx="5143500" cy="2571750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191250" y="1238250"/>
              <a:ext cx="5143500" cy="3810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6286500" y="13144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62153" y="1387316"/>
              <a:ext cx="772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C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85966" y="1363028"/>
              <a:ext cx="12847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C++ Trace：GDB MI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6381750" y="1857375"/>
              <a:ext cx="2667000" cy="1381125"/>
              <a:chOff x="6381750" y="1857375"/>
              <a:chExt cx="2667000" cy="1381125"/>
            </a:xfrm>
          </p:grpSpPr>
          <p:sp>
            <p:nvSpPr>
              <p:cNvPr id="33" name="Line 33"/>
              <p:cNvSpPr/>
              <p:nvPr/>
            </p:nvSpPr>
            <p:spPr>
              <a:xfrm>
                <a:off x="6381750" y="1857375"/>
                <a:ext cx="209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">
                    <a:moveTo>
                      <a:pt x="0" y="0"/>
                    </a:moveTo>
                    <a:lnTo>
                      <a:pt x="2095500" y="0"/>
                    </a:lnTo>
                  </a:path>
                </a:pathLst>
              </a:custGeom>
              <a:noFill/>
              <a:ln w="9525">
                <a:solidFill>
                  <a:schemeClr val="accent1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475357" y="1903095"/>
                <a:ext cx="38428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Step 1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381750" y="2095500"/>
                <a:ext cx="1238250" cy="57150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472238" y="2188845"/>
                <a:ext cx="77122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GDB 单步追踪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472238" y="2395538"/>
                <a:ext cx="963644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75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line 42: curr-&gt;next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7810500" y="2095500"/>
                <a:ext cx="1238250" cy="57150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900988" y="2188845"/>
                <a:ext cx="77122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STL 容器提取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900988" y="2395538"/>
                <a:ext cx="81724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75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gdb_stl_extract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814133" y="2768441"/>
                <a:ext cx="65923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Inter"/>
                    <a:ea typeface="Microsoft YaHei"/>
                    <a:cs typeface="Inter"/>
                  </a:rPr>
                  <a:t>↓ 统一事件流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6762750" y="2952750"/>
                <a:ext cx="11430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E8F0FE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039093" y="3054191"/>
                <a:ext cx="590314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820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Normalized</a:t>
                </a:r>
              </a:p>
            </p:txBody>
          </p:sp>
        </p:grpSp>
      </p:grpSp>
      <p:grpSp>
        <p:nvGrpSpPr>
          <p:cNvPr id="73" name="Group 73"/>
          <p:cNvGrpSpPr/>
          <p:nvPr/>
        </p:nvGrpSpPr>
        <p:grpSpPr>
          <a:xfrm>
            <a:off x="755904" y="3918585"/>
            <a:ext cx="7721346" cy="1043940"/>
            <a:chOff x="755904" y="3918585"/>
            <a:chExt cx="7721346" cy="1043940"/>
          </a:xfrm>
        </p:grpSpPr>
        <p:sp>
          <p:nvSpPr>
            <p:cNvPr id="46" name="TextBox 46"/>
            <p:cNvSpPr txBox="1"/>
            <p:nvPr/>
          </p:nvSpPr>
          <p:spPr>
            <a:xfrm>
              <a:off x="755904" y="3918585"/>
              <a:ext cx="17684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13 种 Trace 可视化类型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762000" y="418147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62000" y="4333875"/>
              <a:ext cx="7715250" cy="628650"/>
              <a:chOff x="762000" y="4333875"/>
              <a:chExt cx="7715250" cy="62865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762000" y="4333875"/>
                <a:ext cx="1190625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52488" y="442722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变量追踪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2066925" y="4333875"/>
                <a:ext cx="1190625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2157412" y="4427220"/>
                <a:ext cx="37299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调用栈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3371850" y="4333875"/>
                <a:ext cx="1190625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3462338" y="442722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内存状态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4676775" y="4333875"/>
                <a:ext cx="1190625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4767262" y="442722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链表结构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5981700" y="4333875"/>
                <a:ext cx="1190625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6072188" y="4427220"/>
                <a:ext cx="31847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树/图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7286625" y="4333875"/>
                <a:ext cx="1190625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377112" y="4427220"/>
                <a:ext cx="25184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数组</a:t>
                </a: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762000" y="4676775"/>
                <a:ext cx="1190625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852488" y="477012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指针引用</a:t>
                </a: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2066925" y="4676775"/>
                <a:ext cx="1190625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2157412" y="477012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递归展开</a:t>
                </a:r>
              </a:p>
            </p:txBody>
          </p:sp>
          <p:sp>
            <p:nvSpPr>
              <p:cNvPr id="64" name="Rectangle 64"/>
              <p:cNvSpPr/>
              <p:nvPr/>
            </p:nvSpPr>
            <p:spPr>
              <a:xfrm>
                <a:off x="3371850" y="4676775"/>
                <a:ext cx="1190625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3462338" y="477012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循环展开</a:t>
                </a:r>
              </a:p>
            </p:txBody>
          </p:sp>
          <p:sp>
            <p:nvSpPr>
              <p:cNvPr id="66" name="Rectangle 66"/>
              <p:cNvSpPr/>
              <p:nvPr/>
            </p:nvSpPr>
            <p:spPr>
              <a:xfrm>
                <a:off x="4676775" y="4676775"/>
                <a:ext cx="1190625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4767262" y="477012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条件分支</a:t>
                </a:r>
              </a:p>
            </p:txBody>
          </p:sp>
          <p:sp>
            <p:nvSpPr>
              <p:cNvPr id="68" name="Rectangle 68"/>
              <p:cNvSpPr/>
              <p:nvPr/>
            </p:nvSpPr>
            <p:spPr>
              <a:xfrm>
                <a:off x="5981700" y="4676775"/>
                <a:ext cx="1190625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6072188" y="4770120"/>
                <a:ext cx="37299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时间线</a:t>
                </a:r>
              </a:p>
            </p:txBody>
          </p:sp>
          <p:sp>
            <p:nvSpPr>
              <p:cNvPr id="70" name="Rectangle 70"/>
              <p:cNvSpPr/>
              <p:nvPr/>
            </p:nvSpPr>
            <p:spPr>
              <a:xfrm>
                <a:off x="7286625" y="4676775"/>
                <a:ext cx="1190625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377112" y="4770120"/>
                <a:ext cx="25184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旁白</a:t>
                </a:r>
              </a:p>
            </p:txBody>
          </p:sp>
        </p:grpSp>
      </p:grpSp>
      <p:grpSp>
        <p:nvGrpSpPr>
          <p:cNvPr id="77" name="Group 77"/>
          <p:cNvGrpSpPr/>
          <p:nvPr/>
        </p:nvGrpSpPr>
        <p:grpSpPr>
          <a:xfrm>
            <a:off x="762000" y="5143500"/>
            <a:ext cx="10668000" cy="419100"/>
            <a:chOff x="762000" y="5143500"/>
            <a:chExt cx="10668000" cy="419100"/>
          </a:xfrm>
        </p:grpSpPr>
        <p:sp>
          <p:nvSpPr>
            <p:cNvPr id="74" name="Rectangle 74"/>
            <p:cNvSpPr/>
            <p:nvPr/>
          </p:nvSpPr>
          <p:spPr>
            <a:xfrm>
              <a:off x="762000" y="5143500"/>
              <a:ext cx="10668000" cy="41910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62000" y="5143500"/>
              <a:ext cx="38100" cy="419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47547" y="5295424"/>
              <a:ext cx="57911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✦ Python sys.settrace + C++ GDB MI 统一为 13 类可视化类型 · 确定性旁白确保经典题目可复现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14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7238" y="283845"/>
            <a:ext cx="17505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04 · CORE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1332" y="582930"/>
            <a:ext cx="399409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学情全景：AI 辅导 + 教师看板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3524250" cy="9525"/>
          </a:xfrm>
          <a:custGeom>
            <a:avLst/>
            <a:gdLst/>
            <a:ahLst/>
            <a:cxnLst/>
            <a:rect l="l" t="t" r="r" b="b"/>
            <a:pathLst>
              <a:path w="3524250" h="9525">
                <a:moveTo>
                  <a:pt x="0" y="0"/>
                </a:moveTo>
                <a:lnTo>
                  <a:pt x="35242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31" name="Group 31"/>
          <p:cNvGrpSpPr/>
          <p:nvPr/>
        </p:nvGrpSpPr>
        <p:grpSpPr>
          <a:xfrm>
            <a:off x="762000" y="1333500"/>
            <a:ext cx="5143500" cy="3619500"/>
            <a:chOff x="762000" y="1333500"/>
            <a:chExt cx="5143500" cy="361950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5143500" cy="3619500"/>
            </a:xfrm>
            <a:prstGeom prst="roundRect">
              <a:avLst>
                <a:gd name="adj" fmla="val 1579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333500"/>
              <a:ext cx="5143500" cy="381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95350" y="14287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51953" y="1482566"/>
              <a:ext cx="772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2535" y="1450181"/>
              <a:ext cx="1475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学生端：AI 智能辅导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952500" y="1905000"/>
              <a:ext cx="2286000" cy="650557"/>
              <a:chOff x="952500" y="1905000"/>
              <a:chExt cx="2286000" cy="650557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952500" y="1905000"/>
                <a:ext cx="2286000" cy="619125"/>
              </a:xfrm>
              <a:prstGeom prst="roundRect">
                <a:avLst>
                  <a:gd name="adj" fmla="val 615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42416" y="2001202"/>
                <a:ext cx="120548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💬 AI 助教流式答疑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42988" y="2226945"/>
                <a:ext cx="157772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基于 RAG 知识库上下文感知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42988" y="2379345"/>
                <a:ext cx="102725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SSE 流式实时输出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3381375" y="1905000"/>
              <a:ext cx="2286000" cy="650557"/>
              <a:chOff x="3381375" y="1905000"/>
              <a:chExt cx="2286000" cy="650557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3381375" y="1905000"/>
                <a:ext cx="2286000" cy="619125"/>
              </a:xfrm>
              <a:prstGeom prst="roundRect">
                <a:avLst>
                  <a:gd name="adj" fmla="val 615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471291" y="2001202"/>
                <a:ext cx="97398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🔍 OJ 智能诊断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471862" y="2226945"/>
                <a:ext cx="9787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错误代码自动分析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471862" y="2379345"/>
                <a:ext cx="99588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Trace 可视化回放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952500" y="2714625"/>
              <a:ext cx="2286000" cy="650557"/>
              <a:chOff x="952500" y="2714625"/>
              <a:chExt cx="2286000" cy="650557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952500" y="2714625"/>
                <a:ext cx="2286000" cy="619125"/>
              </a:xfrm>
              <a:prstGeom prst="roundRect">
                <a:avLst>
                  <a:gd name="adj" fmla="val 615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42416" y="2810828"/>
                <a:ext cx="83757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📊 掌握度评估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42988" y="3036570"/>
                <a:ext cx="108090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MasteryEvalAgent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42988" y="3188970"/>
                <a:ext cx="122110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基于学习事件数据分析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3381375" y="2714625"/>
              <a:ext cx="2286000" cy="650557"/>
              <a:chOff x="3381375" y="2714625"/>
              <a:chExt cx="2286000" cy="650557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3381375" y="2714625"/>
                <a:ext cx="2286000" cy="619125"/>
              </a:xfrm>
              <a:prstGeom prst="roundRect">
                <a:avLst>
                  <a:gd name="adj" fmla="val 615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471291" y="2810828"/>
                <a:ext cx="97892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📝 个性化错题本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471862" y="3036570"/>
                <a:ext cx="89283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WeakPoint 标注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471862" y="3188970"/>
                <a:ext cx="85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针对性巩固练习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6286500" y="1333500"/>
            <a:ext cx="5143500" cy="3619500"/>
            <a:chOff x="6286500" y="1333500"/>
            <a:chExt cx="5143500" cy="3619500"/>
          </a:xfrm>
        </p:grpSpPr>
        <p:sp>
          <p:nvSpPr>
            <p:cNvPr id="32" name="Rectangle 32"/>
            <p:cNvSpPr/>
            <p:nvPr/>
          </p:nvSpPr>
          <p:spPr>
            <a:xfrm>
              <a:off x="6286500" y="1333500"/>
              <a:ext cx="5143500" cy="3619500"/>
            </a:xfrm>
            <a:prstGeom prst="roundRect">
              <a:avLst>
                <a:gd name="adj" fmla="val 1579"/>
              </a:avLst>
            </a:prstGeom>
            <a:solidFill>
              <a:srgbClr val="FFFFFF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86500" y="1333500"/>
              <a:ext cx="5143500" cy="381000"/>
            </a:xfrm>
            <a:prstGeom prst="roundRect">
              <a:avLst>
                <a:gd name="adj" fmla="val 15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419850" y="1428750"/>
              <a:ext cx="190500" cy="190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76453" y="1482566"/>
              <a:ext cx="772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57035" y="1450181"/>
              <a:ext cx="152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教师端：全面学情看板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6477000" y="1905000"/>
              <a:ext cx="2286000" cy="650557"/>
              <a:chOff x="6477000" y="1905000"/>
              <a:chExt cx="2286000" cy="650557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477000" y="1905000"/>
                <a:ext cx="2286000" cy="619125"/>
              </a:xfrm>
              <a:prstGeom prst="roundRect">
                <a:avLst>
                  <a:gd name="adj" fmla="val 6154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566916" y="2001202"/>
                <a:ext cx="97892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🔥 掌握度热力图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567488" y="2226945"/>
                <a:ext cx="122110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班级整体学情一目了然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567488" y="2379345"/>
                <a:ext cx="109994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颜色标注薄弱知识点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8905875" y="1905000"/>
              <a:ext cx="2286000" cy="650557"/>
              <a:chOff x="8905875" y="1905000"/>
              <a:chExt cx="2286000" cy="650557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8905875" y="1905000"/>
                <a:ext cx="2286000" cy="619125"/>
              </a:xfrm>
              <a:prstGeom prst="roundRect">
                <a:avLst>
                  <a:gd name="adj" fmla="val 6154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995791" y="2001202"/>
                <a:ext cx="83757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📋 学生花名册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996362" y="2226945"/>
                <a:ext cx="109994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逐个查看学生薄弱点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996362" y="2379345"/>
                <a:ext cx="85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针对性辅导参考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477000" y="2714625"/>
              <a:ext cx="2286000" cy="650557"/>
              <a:chOff x="6477000" y="2714625"/>
              <a:chExt cx="2286000" cy="650557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6477000" y="2714625"/>
                <a:ext cx="2286000" cy="619125"/>
              </a:xfrm>
              <a:prstGeom prst="roundRect">
                <a:avLst>
                  <a:gd name="adj" fmla="val 6154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6566916" y="2810828"/>
                <a:ext cx="97398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📊 OJ 学情分析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567488" y="3036570"/>
                <a:ext cx="127688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全班 OJ 完成情况统计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567488" y="3188970"/>
                <a:ext cx="99696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通过率 / 错误分布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8905875" y="2714625"/>
              <a:ext cx="2286000" cy="650557"/>
              <a:chOff x="8905875" y="2714625"/>
              <a:chExt cx="2286000" cy="650557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8905875" y="2714625"/>
                <a:ext cx="2286000" cy="619125"/>
              </a:xfrm>
              <a:prstGeom prst="roundRect">
                <a:avLst>
                  <a:gd name="adj" fmla="val 6154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8995791" y="2810828"/>
                <a:ext cx="97892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📈 学习事件追踪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996362" y="3036570"/>
                <a:ext cx="109994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学习行为记录与分析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996362" y="3188970"/>
                <a:ext cx="96061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7 表外键关联数据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762000" y="5238750"/>
            <a:ext cx="10668000" cy="419100"/>
            <a:chOff x="762000" y="5238750"/>
            <a:chExt cx="10668000" cy="419100"/>
          </a:xfrm>
        </p:grpSpPr>
        <p:sp>
          <p:nvSpPr>
            <p:cNvPr id="58" name="Rectangle 58"/>
            <p:cNvSpPr/>
            <p:nvPr/>
          </p:nvSpPr>
          <p:spPr>
            <a:xfrm>
              <a:off x="762000" y="5238750"/>
              <a:ext cx="10668000" cy="419100"/>
            </a:xfrm>
            <a:prstGeom prst="roundRect">
              <a:avLst>
                <a:gd name="adj" fmla="val 13636"/>
              </a:avLst>
            </a:prstGeom>
            <a:noFill/>
            <a:ln w="9525">
              <a:solidFill>
                <a:schemeClr val="accent2"/>
              </a:solidFill>
              <a:custDash>
                <a:ds d="400000" sp="300000"/>
              </a:custDash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813773" y="5382578"/>
              <a:ext cx="6564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✦ AiTutorAgent + TeacherDashboardAgent + MasteryEvalAgent + LearningEventAgent 四引擎驱动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15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7238" y="283845"/>
            <a:ext cx="22946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05 · SAFETY &amp; INNOVATION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1332" y="582930"/>
            <a:ext cx="493501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如何让 AI 不说胡话？三重防幻觉防线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4476750" cy="9525"/>
          </a:xfrm>
          <a:custGeom>
            <a:avLst/>
            <a:gdLst/>
            <a:ahLst/>
            <a:cxnLst/>
            <a:rect l="l" t="t" r="r" b="b"/>
            <a:pathLst>
              <a:path w="4476750" h="9525">
                <a:moveTo>
                  <a:pt x="0" y="0"/>
                </a:moveTo>
                <a:lnTo>
                  <a:pt x="44767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14" name="Group 14"/>
          <p:cNvGrpSpPr/>
          <p:nvPr/>
        </p:nvGrpSpPr>
        <p:grpSpPr>
          <a:xfrm>
            <a:off x="4095750" y="1809750"/>
            <a:ext cx="4000500" cy="4000500"/>
            <a:chOff x="4095750" y="1809750"/>
            <a:chExt cx="4000500" cy="4000500"/>
          </a:xfrm>
        </p:grpSpPr>
        <p:sp>
          <p:nvSpPr>
            <p:cNvPr id="6" name="Ellipse 6"/>
            <p:cNvSpPr/>
            <p:nvPr/>
          </p:nvSpPr>
          <p:spPr>
            <a:xfrm>
              <a:off x="4095750" y="1809750"/>
              <a:ext cx="4000500" cy="4000500"/>
            </a:xfrm>
            <a:prstGeom prst="ellipse">
              <a:avLst/>
            </a:pr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4714875" y="2428875"/>
              <a:ext cx="2762250" cy="276225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0" y="3048000"/>
              <a:ext cx="1524000" cy="1524000"/>
            </a:xfrm>
            <a:prstGeom prst="ellipse">
              <a:avLst/>
            </a:pr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5715000" y="3429000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42247" y="3744278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安全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78640" y="32204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Inter"/>
                  <a:ea typeface="Microsoft YaHei"/>
                  <a:cs typeface="Inter"/>
                </a:rPr>
                <a:t>第一层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78765" y="26965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第二层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97890" y="20774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第三层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1333500"/>
            <a:ext cx="3238500" cy="3048000"/>
            <a:chOff x="762000" y="1333500"/>
            <a:chExt cx="3238500" cy="3048000"/>
          </a:xfrm>
        </p:grpSpPr>
        <p:sp>
          <p:nvSpPr>
            <p:cNvPr id="15" name="Rectangle 15"/>
            <p:cNvSpPr/>
            <p:nvPr/>
          </p:nvSpPr>
          <p:spPr>
            <a:xfrm>
              <a:off x="762000" y="1333500"/>
              <a:ext cx="3238500" cy="3048000"/>
            </a:xfrm>
            <a:prstGeom prst="roundRect">
              <a:avLst>
                <a:gd name="adj" fmla="val 1875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2000" y="1333500"/>
              <a:ext cx="3238500" cy="400050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76300" y="141922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7747" y="1475899"/>
              <a:ext cx="857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13485" y="1459706"/>
              <a:ext cx="963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RAG 知识约束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947166" y="1791652"/>
              <a:ext cx="2862834" cy="1922812"/>
              <a:chOff x="947166" y="1791652"/>
              <a:chExt cx="2862834" cy="1922812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947166" y="1791652"/>
                <a:ext cx="11254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Okapi BM25 检索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47547" y="203787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检索课程知识库切片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47547" y="2256949"/>
                <a:ext cx="118178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约束 LLM 生成范围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47547" y="247602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同义词扩展增强召回</a:t>
                </a:r>
              </a:p>
            </p:txBody>
          </p:sp>
          <p:sp>
            <p:nvSpPr>
              <p:cNvPr id="24" name="Line 24"/>
              <p:cNvSpPr/>
              <p:nvPr/>
            </p:nvSpPr>
            <p:spPr>
              <a:xfrm>
                <a:off x="952500" y="276225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47166" y="2839402"/>
                <a:ext cx="116371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课程级 Markdown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47547" y="3085624"/>
                <a:ext cx="137495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14 章 + 6 实验 + 2 项目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47547" y="330469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结构化切片存储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47547" y="3523774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加权打分排序</a:t>
                </a: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4286250" y="1333500"/>
            <a:ext cx="3238500" cy="3048000"/>
            <a:chOff x="4286250" y="1333500"/>
            <a:chExt cx="3238500" cy="3048000"/>
          </a:xfrm>
        </p:grpSpPr>
        <p:sp>
          <p:nvSpPr>
            <p:cNvPr id="31" name="Rectangle 31"/>
            <p:cNvSpPr/>
            <p:nvPr/>
          </p:nvSpPr>
          <p:spPr>
            <a:xfrm>
              <a:off x="4286250" y="1333500"/>
              <a:ext cx="3238500" cy="3048000"/>
            </a:xfrm>
            <a:prstGeom prst="roundRect">
              <a:avLst>
                <a:gd name="adj" fmla="val 1875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286250" y="1333500"/>
              <a:ext cx="3238500" cy="400050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4400550" y="1419225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471997" y="1475899"/>
              <a:ext cx="857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37735" y="145970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校验闭环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4471416" y="1791652"/>
              <a:ext cx="2862834" cy="2389537"/>
              <a:chOff x="4471416" y="1791652"/>
              <a:chExt cx="2862834" cy="2389537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4471416" y="1791652"/>
                <a:ext cx="15074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ContentVerifierAgent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471797" y="203787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对照知识库校验内容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471797" y="225694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检测事实性错误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4476750" y="257175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471416" y="26679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有限重试机制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471797" y="2914174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校验失败自动回流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471797" y="3133249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携带校验反馈重试</a:t>
                </a: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4476750" y="342900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4471416" y="352520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结构化输出校验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471797" y="3771424"/>
                <a:ext cx="13661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Pydantic Schema 验证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471797" y="3990499"/>
                <a:ext cx="113213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格式/类型自动校验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7810500" y="1333500"/>
            <a:ext cx="3238500" cy="3048000"/>
            <a:chOff x="7810500" y="1333500"/>
            <a:chExt cx="3238500" cy="3048000"/>
          </a:xfrm>
        </p:grpSpPr>
        <p:sp>
          <p:nvSpPr>
            <p:cNvPr id="49" name="Rectangle 49"/>
            <p:cNvSpPr/>
            <p:nvPr/>
          </p:nvSpPr>
          <p:spPr>
            <a:xfrm>
              <a:off x="7810500" y="1333500"/>
              <a:ext cx="3238500" cy="3048000"/>
            </a:xfrm>
            <a:prstGeom prst="roundRect">
              <a:avLst>
                <a:gd name="adj" fmla="val 1875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810500" y="1333500"/>
              <a:ext cx="3238500" cy="400050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7924800" y="141922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96247" y="1475899"/>
              <a:ext cx="857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61985" y="145970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内容安全审查</a:t>
              </a:r>
            </a:p>
          </p:txBody>
        </p:sp>
        <p:grpSp>
          <p:nvGrpSpPr>
            <p:cNvPr id="66" name="Group 66"/>
            <p:cNvGrpSpPr/>
            <p:nvPr/>
          </p:nvGrpSpPr>
          <p:grpSpPr>
            <a:xfrm>
              <a:off x="7995666" y="1791652"/>
              <a:ext cx="2862834" cy="2580037"/>
              <a:chOff x="7995666" y="1791652"/>
              <a:chExt cx="2862834" cy="2580037"/>
            </a:xfrm>
          </p:grpSpPr>
          <p:sp>
            <p:nvSpPr>
              <p:cNvPr id="54" name="TextBox 54"/>
              <p:cNvSpPr txBox="1"/>
              <p:nvPr/>
            </p:nvSpPr>
            <p:spPr>
              <a:xfrm>
                <a:off x="7995666" y="1791652"/>
                <a:ext cx="87464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SafetyAgent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996047" y="2037874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敏感词检测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996047" y="2256949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幻觉题号识别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996047" y="2476024"/>
                <a:ext cx="104334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Prompt 注入防护</a:t>
                </a:r>
              </a:p>
            </p:txBody>
          </p:sp>
          <p:sp>
            <p:nvSpPr>
              <p:cNvPr id="58" name="Line 58"/>
              <p:cNvSpPr/>
              <p:nvPr/>
            </p:nvSpPr>
            <p:spPr>
              <a:xfrm>
                <a:off x="8001000" y="276225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995666" y="28584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内容输出安全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996047" y="3104674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输出内容截断保护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996047" y="3323749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敏感内容过滤</a:t>
                </a:r>
              </a:p>
            </p:txBody>
          </p:sp>
          <p:sp>
            <p:nvSpPr>
              <p:cNvPr id="62" name="Line 62"/>
              <p:cNvSpPr/>
              <p:nvPr/>
            </p:nvSpPr>
            <p:spPr>
              <a:xfrm>
                <a:off x="8001000" y="361950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7995666" y="3715702"/>
                <a:ext cx="89931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C++ 安全拦截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996047" y="3961924"/>
                <a:ext cx="127651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check_cpp_security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996047" y="4180999"/>
                <a:ext cx="149308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system/fork/exec 拦截</a:t>
                </a:r>
              </a:p>
            </p:txBody>
          </p:sp>
        </p:grpSp>
      </p:grpSp>
      <p:sp>
        <p:nvSpPr>
          <p:cNvPr id="68" name="TextBox 68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16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00"/>
          </a:xfrm>
          <a:prstGeom prst="rect">
            <a:avLst/>
          </a:prstGeom>
          <a:gradFill>
            <a:gsLst>
              <a:gs pos="0">
                <a:schemeClr val="accent1">
                  <a:alpha val="3000"/>
                </a:schemeClr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-190500" y="-476250"/>
            <a:ext cx="12858750" cy="7905750"/>
            <a:chOff x="-190500" y="-476250"/>
            <a:chExt cx="12858750" cy="7905750"/>
          </a:xfrm>
        </p:grpSpPr>
        <p:sp>
          <p:nvSpPr>
            <p:cNvPr id="4" name="Ellipse 4"/>
            <p:cNvSpPr/>
            <p:nvPr/>
          </p:nvSpPr>
          <p:spPr>
            <a:xfrm>
              <a:off x="10191750" y="-476250"/>
              <a:ext cx="2476500" cy="2476500"/>
            </a:xfrm>
            <a:prstGeom prst="ellipse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0500" y="5524500"/>
              <a:ext cx="1905000" cy="1905000"/>
            </a:xfrm>
            <a:prstGeom prst="ellipse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757238" y="283845"/>
            <a:ext cx="22946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05 · SAFETY &amp; INNOVATION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1332" y="582930"/>
            <a:ext cx="313105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从代码到内容，层层设防</a:t>
            </a:r>
          </a:p>
        </p:txBody>
      </p:sp>
      <p:sp>
        <p:nvSpPr>
          <p:cNvPr id="9" name="Line 9"/>
          <p:cNvSpPr/>
          <p:nvPr/>
        </p:nvSpPr>
        <p:spPr>
          <a:xfrm>
            <a:off x="762000" y="9525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762000" y="1238250"/>
            <a:ext cx="3286125" cy="1238250"/>
            <a:chOff x="762000" y="1238250"/>
            <a:chExt cx="3286125" cy="1238250"/>
          </a:xfrm>
        </p:grpSpPr>
        <p:sp>
          <p:nvSpPr>
            <p:cNvPr id="10" name="Rectangle 10"/>
            <p:cNvSpPr/>
            <p:nvPr/>
          </p:nvSpPr>
          <p:spPr>
            <a:xfrm>
              <a:off x="762000" y="1238250"/>
              <a:ext cx="3286125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238250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3524250" y="1381125"/>
              <a:ext cx="333375" cy="333375"/>
              <a:chOff x="3524250" y="1381125"/>
              <a:chExt cx="333375" cy="33337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524250" y="1381125"/>
                <a:ext cx="333375" cy="333375"/>
              </a:xfrm>
              <a:prstGeom prst="roundRect">
                <a:avLst>
                  <a:gd name="adj" fmla="val 11429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540142" y="1470660"/>
                <a:ext cx="2920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>
                        <a:alphaMod val="10000"/>
                      </a:srgbClr>
                    </a:solidFill>
                    <a:latin typeface="Inter"/>
                    <a:ea typeface="Inter"/>
                    <a:cs typeface="Inter"/>
                  </a:rPr>
                  <a:t>&lt;/&gt;</a:t>
                </a: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984504" y="1413510"/>
              <a:ext cx="1172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🔍 AST 静态审计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5647" y="1685449"/>
              <a:ext cx="11519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ASTAnalyzerAgent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5647" y="1894999"/>
              <a:ext cx="13224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识别死循环、数组越界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5647" y="2085499"/>
              <a:ext cx="15849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执行前熔断，防止资源耗尽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381500" y="1238250"/>
            <a:ext cx="3286125" cy="1238250"/>
            <a:chOff x="4381500" y="1238250"/>
            <a:chExt cx="3286125" cy="1238250"/>
          </a:xfrm>
        </p:grpSpPr>
        <p:sp>
          <p:nvSpPr>
            <p:cNvPr id="20" name="Rectangle 20"/>
            <p:cNvSpPr/>
            <p:nvPr/>
          </p:nvSpPr>
          <p:spPr>
            <a:xfrm>
              <a:off x="4381500" y="1238250"/>
              <a:ext cx="3286125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381500" y="1238250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143750" y="1381125"/>
              <a:ext cx="333375" cy="333375"/>
              <a:chOff x="7143750" y="1381125"/>
              <a:chExt cx="333375" cy="33337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143750" y="1381125"/>
                <a:ext cx="33337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333375">
                    <a:moveTo>
                      <a:pt x="95250" y="0"/>
                    </a:moveTo>
                    <a:lnTo>
                      <a:pt x="238125" y="0"/>
                    </a:lnTo>
                    <a:lnTo>
                      <a:pt x="333375" y="95250"/>
                    </a:lnTo>
                    <a:lnTo>
                      <a:pt x="238125" y="333375"/>
                    </a:lnTo>
                    <a:lnTo>
                      <a:pt x="95250" y="333375"/>
                    </a:lnTo>
                    <a:lnTo>
                      <a:pt x="0" y="2381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259526" y="148685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>
                        <a:alphaMod val="10000"/>
                      </a:srgbClr>
                    </a:solidFill>
                    <a:latin typeface="Inter"/>
                    <a:ea typeface="Inter"/>
                    <a:cs typeface="Inter"/>
                  </a:rPr>
                  <a:t>✓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4604004" y="1413510"/>
              <a:ext cx="12667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🛡️ C++ 安全拦截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05147" y="1685449"/>
              <a:ext cx="15783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check_cpp_security 正则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05147" y="1894999"/>
              <a:ext cx="20837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拦截 system() / fork() / exec()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05147" y="2085499"/>
              <a:ext cx="1059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防止危险系统调用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01000" y="1238250"/>
            <a:ext cx="3286125" cy="1238250"/>
            <a:chOff x="8001000" y="1238250"/>
            <a:chExt cx="3286125" cy="1238250"/>
          </a:xfrm>
        </p:grpSpPr>
        <p:sp>
          <p:nvSpPr>
            <p:cNvPr id="30" name="Rectangle 30"/>
            <p:cNvSpPr/>
            <p:nvPr/>
          </p:nvSpPr>
          <p:spPr>
            <a:xfrm>
              <a:off x="8001000" y="1238250"/>
              <a:ext cx="3286125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001000" y="1238250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0763250" y="1381125"/>
              <a:ext cx="323850" cy="323850"/>
              <a:chOff x="10763250" y="1381125"/>
              <a:chExt cx="323850" cy="32385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10763250" y="1381125"/>
                <a:ext cx="323850" cy="323850"/>
              </a:xfrm>
              <a:prstGeom prst="ellipse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825787" y="14611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>
                        <a:alphaMod val="10000"/>
                      </a:srgbClr>
                    </a:solidFill>
                    <a:latin typeface="Inter"/>
                    <a:ea typeface="Inter"/>
                    <a:cs typeface="Inter"/>
                  </a:rPr>
                  <a:t>3s</a:t>
                </a:r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8223504" y="141351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⏱️ 子进程超时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24647" y="1685449"/>
              <a:ext cx="14342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Python 判题 3 秒硬上限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24647" y="1894999"/>
              <a:ext cx="13271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C++ Trace 3 秒硬上限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4647" y="2085499"/>
              <a:ext cx="1667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TLE 自动返回，不阻塞系统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2667000"/>
            <a:ext cx="3286125" cy="1238250"/>
            <a:chOff x="762000" y="2667000"/>
            <a:chExt cx="3286125" cy="1238250"/>
          </a:xfrm>
        </p:grpSpPr>
        <p:sp>
          <p:nvSpPr>
            <p:cNvPr id="40" name="Rectangle 40"/>
            <p:cNvSpPr/>
            <p:nvPr/>
          </p:nvSpPr>
          <p:spPr>
            <a:xfrm>
              <a:off x="762000" y="2667000"/>
              <a:ext cx="3286125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2000" y="2667000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3571875" y="2809875"/>
              <a:ext cx="238125" cy="333375"/>
              <a:chOff x="3571875" y="2809875"/>
              <a:chExt cx="238125" cy="333375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3571875" y="2809875"/>
                <a:ext cx="238125" cy="333375"/>
              </a:xfrm>
              <a:prstGeom prst="roundRect">
                <a:avLst>
                  <a:gd name="adj" fmla="val 8000"/>
                </a:avLst>
              </a:pr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3686175" y="2905125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9050">
                <a:solidFill>
                  <a:srgbClr val="FFFFFF">
                    <a:alpha val="10000"/>
                  </a:srgbClr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3619500" y="29718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FFFFFF">
                    <a:alpha val="10000"/>
                  </a:srgbClr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984504" y="2842260"/>
              <a:ext cx="12076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✂️ 输出截断保护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85647" y="3114199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防止无限输出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5647" y="3323749"/>
              <a:ext cx="1059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控制输出长度上限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4381500" y="2667000"/>
            <a:ext cx="3286125" cy="1238250"/>
            <a:chOff x="4381500" y="2667000"/>
            <a:chExt cx="3286125" cy="1238250"/>
          </a:xfrm>
        </p:grpSpPr>
        <p:sp>
          <p:nvSpPr>
            <p:cNvPr id="50" name="Rectangle 50"/>
            <p:cNvSpPr/>
            <p:nvPr/>
          </p:nvSpPr>
          <p:spPr>
            <a:xfrm>
              <a:off x="4381500" y="2667000"/>
              <a:ext cx="3286125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4381500" y="2667000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153275" y="2819400"/>
              <a:ext cx="304800" cy="304800"/>
              <a:chOff x="7153275" y="2819400"/>
              <a:chExt cx="304800" cy="304800"/>
            </a:xfrm>
          </p:grpSpPr>
          <p:sp>
            <p:nvSpPr>
              <p:cNvPr id="52" name="Ellipse 52"/>
              <p:cNvSpPr/>
              <p:nvPr/>
            </p:nvSpPr>
            <p:spPr>
              <a:xfrm>
                <a:off x="7153275" y="2819400"/>
                <a:ext cx="304800" cy="304800"/>
              </a:xfrm>
              <a:prstGeom prst="ellipse">
                <a:avLst/>
              </a:prstGeom>
              <a:noFill/>
              <a:ln w="19050">
                <a:solidFill>
                  <a:schemeClr val="accent1">
                    <a:alpha val="10000"/>
                  </a:schemeClr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278078" y="2906078"/>
                <a:ext cx="5519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accent1">
                        <a:alphaMod val="10000"/>
                      </a:schemeClr>
                    </a:solidFill>
                    <a:latin typeface="Inter"/>
                    <a:ea typeface="Inter"/>
                    <a:cs typeface="Inter"/>
                  </a:rPr>
                  <a:t>!</a:t>
                </a:r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4604004" y="284226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🚫 内容安全检测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605147" y="3114199"/>
              <a:ext cx="10796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敏感词 / 幻觉检测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605147" y="3323749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题目编号真实性校验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001000" y="2667000"/>
            <a:ext cx="3286125" cy="1238250"/>
            <a:chOff x="8001000" y="2667000"/>
            <a:chExt cx="3286125" cy="1238250"/>
          </a:xfrm>
        </p:grpSpPr>
        <p:sp>
          <p:nvSpPr>
            <p:cNvPr id="59" name="Rectangle 59"/>
            <p:cNvSpPr/>
            <p:nvPr/>
          </p:nvSpPr>
          <p:spPr>
            <a:xfrm>
              <a:off x="8001000" y="2667000"/>
              <a:ext cx="3286125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8001000" y="2667000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10791825" y="2838450"/>
              <a:ext cx="266700" cy="266700"/>
              <a:chOff x="10791825" y="2838450"/>
              <a:chExt cx="266700" cy="26670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10791825" y="2838450"/>
                <a:ext cx="266700" cy="266700"/>
              </a:xfrm>
              <a:prstGeom prst="roundRect">
                <a:avLst>
                  <a:gd name="adj" fmla="val 14286"/>
                </a:avLst>
              </a:prstGeom>
              <a:noFill/>
              <a:ln w="19050">
                <a:solidFill>
                  <a:schemeClr val="accent2">
                    <a:alpha val="10000"/>
                  </a:schemeClr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0877550" y="29241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95250"/>
                    </a:lnTo>
                    <a:moveTo>
                      <a:pt x="9525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chemeClr val="accent2">
                    <a:alpha val="10000"/>
                  </a:schemeClr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8223504" y="2842260"/>
              <a:ext cx="1096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🔐 Prompt 防护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224647" y="3114199"/>
              <a:ext cx="10433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Prompt 注入检测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24647" y="3323749"/>
              <a:ext cx="1059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防止恶意指令绕过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62000" y="4191000"/>
            <a:ext cx="10668000" cy="619125"/>
            <a:chOff x="762000" y="4191000"/>
            <a:chExt cx="10668000" cy="619125"/>
          </a:xfrm>
        </p:grpSpPr>
        <p:sp>
          <p:nvSpPr>
            <p:cNvPr id="68" name="Rectangle 68"/>
            <p:cNvSpPr/>
            <p:nvPr/>
          </p:nvSpPr>
          <p:spPr>
            <a:xfrm>
              <a:off x="762000" y="4191000"/>
              <a:ext cx="10668000" cy="619125"/>
            </a:xfrm>
            <a:prstGeom prst="roundRect">
              <a:avLst>
                <a:gd name="adj" fmla="val 1230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238839" y="4336256"/>
              <a:ext cx="37143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六道安全防线 · 覆盖代码执行 + 内容生成 + 输出全链路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925348" y="4561999"/>
              <a:ext cx="43413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3"/>
                  </a:solidFill>
                  <a:latin typeface="Inter"/>
                  <a:ea typeface="Microsoft YaHei"/>
                  <a:cs typeface="Inter"/>
                </a:rPr>
                <a:t>大模型生成内容仍可能存在错误，重要学术内容应由学生或教师进一步复核</a:t>
              </a:r>
            </a:p>
          </p:txBody>
        </p:sp>
      </p:grpSp>
      <p:sp>
        <p:nvSpPr>
          <p:cNvPr id="72" name="Rectangle 72"/>
          <p:cNvSpPr/>
          <p:nvPr/>
        </p:nvSpPr>
        <p:spPr>
          <a:xfrm>
            <a:off x="762000" y="5143500"/>
            <a:ext cx="10668000" cy="9525"/>
          </a:xfrm>
          <a:prstGeom prst="rect">
            <a:avLst/>
          </a:prstGeom>
          <a:solidFill>
            <a:schemeClr val="accent1">
              <a:alpha val="6000"/>
            </a:schemeClr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17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905000"/>
          </a:xfrm>
          <a:prstGeom prst="rect">
            <a:avLst/>
          </a:prstGeom>
          <a:gradFill>
            <a:gsLst>
              <a:gs pos="0">
                <a:schemeClr val="accent1">
                  <a:alpha val="4000"/>
                </a:schemeClr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-381000" y="-571500"/>
            <a:ext cx="12192000" cy="8191500"/>
            <a:chOff x="-381000" y="-571500"/>
            <a:chExt cx="12192000" cy="8191500"/>
          </a:xfrm>
        </p:grpSpPr>
        <p:sp>
          <p:nvSpPr>
            <p:cNvPr id="4" name="Ellipse 4"/>
            <p:cNvSpPr/>
            <p:nvPr/>
          </p:nvSpPr>
          <p:spPr>
            <a:xfrm>
              <a:off x="9144000" y="-571500"/>
              <a:ext cx="2667000" cy="2667000"/>
            </a:xfrm>
            <a:prstGeom prst="ellipse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381000" y="5334000"/>
              <a:ext cx="2286000" cy="2286000"/>
            </a:xfrm>
            <a:prstGeom prst="ellipse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757238" y="283845"/>
            <a:ext cx="14369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06 · INNOVATION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1332" y="582930"/>
            <a:ext cx="368046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零依赖的自研 DAG 编排引擎</a:t>
            </a:r>
          </a:p>
        </p:txBody>
      </p:sp>
      <p:sp>
        <p:nvSpPr>
          <p:cNvPr id="9" name="Line 9"/>
          <p:cNvSpPr/>
          <p:nvPr/>
        </p:nvSpPr>
        <p:spPr>
          <a:xfrm>
            <a:off x="762000" y="952500"/>
            <a:ext cx="3524250" cy="9525"/>
          </a:xfrm>
          <a:custGeom>
            <a:avLst/>
            <a:gdLst/>
            <a:ahLst/>
            <a:cxnLst/>
            <a:rect l="l" t="t" r="r" b="b"/>
            <a:pathLst>
              <a:path w="3524250" h="9525">
                <a:moveTo>
                  <a:pt x="0" y="0"/>
                </a:moveTo>
                <a:lnTo>
                  <a:pt x="35242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44" name="Group 44"/>
          <p:cNvGrpSpPr/>
          <p:nvPr/>
        </p:nvGrpSpPr>
        <p:grpSpPr>
          <a:xfrm>
            <a:off x="762000" y="1238250"/>
            <a:ext cx="6096000" cy="3905250"/>
            <a:chOff x="762000" y="1238250"/>
            <a:chExt cx="6096000" cy="3905250"/>
          </a:xfrm>
        </p:grpSpPr>
        <p:sp>
          <p:nvSpPr>
            <p:cNvPr id="10" name="Rectangle 10"/>
            <p:cNvSpPr/>
            <p:nvPr/>
          </p:nvSpPr>
          <p:spPr>
            <a:xfrm>
              <a:off x="762000" y="1238250"/>
              <a:ext cx="6096000" cy="3905250"/>
            </a:xfrm>
            <a:prstGeom prst="roundRect">
              <a:avLst>
                <a:gd name="adj" fmla="val 1951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238250"/>
              <a:ext cx="6096000" cy="38100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6785" y="1364456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自研编排器流程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143000" y="1857375"/>
              <a:ext cx="4191000" cy="381000"/>
              <a:chOff x="1143000" y="1857375"/>
              <a:chExt cx="4191000" cy="381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143000" y="1857375"/>
                <a:ext cx="1143000" cy="381000"/>
              </a:xfrm>
              <a:prstGeom prst="roundRect">
                <a:avLst>
                  <a:gd name="adj" fmla="val 15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468313" y="1990249"/>
                <a:ext cx="49237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Pipeline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2286000" y="2047875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6" name="Polygon 16"/>
              <p:cNvSpPr/>
              <p:nvPr/>
            </p:nvSpPr>
            <p:spPr>
              <a:xfrm>
                <a:off x="2495550" y="1990725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76200" y="57150"/>
                    </a:moveTo>
                    <a:lnTo>
                      <a:pt x="0" y="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2571750" y="1857375"/>
                <a:ext cx="1143000" cy="381000"/>
              </a:xfrm>
              <a:prstGeom prst="roundRect">
                <a:avLst>
                  <a:gd name="adj" fmla="val 15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875788" y="1990249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资源调度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3714750" y="2047875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0" name="Polygon 20"/>
              <p:cNvSpPr/>
              <p:nvPr/>
            </p:nvSpPr>
            <p:spPr>
              <a:xfrm>
                <a:off x="3924300" y="1990725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76200" y="57150"/>
                    </a:moveTo>
                    <a:lnTo>
                      <a:pt x="0" y="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4000500" y="1857375"/>
                <a:ext cx="1333500" cy="381000"/>
              </a:xfrm>
              <a:prstGeom prst="roundRect">
                <a:avLst>
                  <a:gd name="adj" fmla="val 15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334161" y="1990249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并行执行器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524000" y="2571750"/>
              <a:ext cx="1009650" cy="1524000"/>
              <a:chOff x="1524000" y="2571750"/>
              <a:chExt cx="1009650" cy="1524000"/>
            </a:xfrm>
          </p:grpSpPr>
          <p:sp>
            <p:nvSpPr>
              <p:cNvPr id="24" name="Line 24"/>
              <p:cNvSpPr/>
              <p:nvPr/>
            </p:nvSpPr>
            <p:spPr>
              <a:xfrm>
                <a:off x="2095500" y="2571750"/>
                <a:ext cx="9525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5">
                    <a:moveTo>
                      <a:pt x="0" y="0"/>
                    </a:moveTo>
                    <a:lnTo>
                      <a:pt x="0" y="238125"/>
                    </a:lnTo>
                  </a:path>
                </a:pathLst>
              </a:custGeom>
              <a:noFill/>
              <a:ln w="14288">
                <a:solidFill>
                  <a:schemeClr val="accent4"/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1666875" y="2809875"/>
                <a:ext cx="857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0" h="9525">
                    <a:moveTo>
                      <a:pt x="0" y="0"/>
                    </a:moveTo>
                    <a:lnTo>
                      <a:pt x="857250" y="0"/>
                    </a:lnTo>
                  </a:path>
                </a:pathLst>
              </a:custGeom>
              <a:noFill/>
              <a:ln w="14288">
                <a:solidFill>
                  <a:schemeClr val="accent4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1666875" y="2809875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4288">
                <a:solidFill>
                  <a:schemeClr val="accent4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2524125" y="2809875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4288">
                <a:solidFill>
                  <a:schemeClr val="accent4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1524000" y="3000375"/>
                <a:ext cx="285750" cy="523875"/>
              </a:xfrm>
              <a:prstGeom prst="roundRect">
                <a:avLst>
                  <a:gd name="adj" fmla="val 13333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561148" y="3138488"/>
                <a:ext cx="21145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串行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561148" y="3271838"/>
                <a:ext cx="21145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节点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2238375" y="3000375"/>
                <a:ext cx="285750" cy="523875"/>
              </a:xfrm>
              <a:prstGeom prst="roundRect">
                <a:avLst>
                  <a:gd name="adj" fmla="val 13333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2275522" y="3138488"/>
                <a:ext cx="21145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并行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275522" y="3271838"/>
                <a:ext cx="21145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节点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1666875" y="352425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4288">
                <a:solidFill>
                  <a:schemeClr val="accent4"/>
                </a:solidFill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2524125" y="352425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4288">
                <a:solidFill>
                  <a:schemeClr val="accent4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1666875" y="3667125"/>
                <a:ext cx="857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0" h="9525">
                    <a:moveTo>
                      <a:pt x="0" y="0"/>
                    </a:moveTo>
                    <a:lnTo>
                      <a:pt x="857250" y="0"/>
                    </a:lnTo>
                  </a:path>
                </a:pathLst>
              </a:custGeom>
              <a:noFill/>
              <a:ln w="14288">
                <a:solidFill>
                  <a:schemeClr val="accent4"/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2095500" y="3667125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4288">
                <a:solidFill>
                  <a:schemeClr val="accent4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1857375" y="3810000"/>
                <a:ext cx="476250" cy="28575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955578" y="3903345"/>
                <a:ext cx="27984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Done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1143000" y="4476750"/>
              <a:ext cx="5334000" cy="342900"/>
              <a:chOff x="1143000" y="4476750"/>
              <a:chExt cx="5334000" cy="3429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1143000" y="4476750"/>
                <a:ext cx="5334000" cy="342900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2072488" y="4590574"/>
                <a:ext cx="347502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支持串行 / 并行 / 条件分支拓扑 · 188 测试验证编排正确性</a:t>
                </a: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7239000" y="1238250"/>
            <a:ext cx="4000500" cy="1190625"/>
            <a:chOff x="7239000" y="1238250"/>
            <a:chExt cx="4000500" cy="1190625"/>
          </a:xfrm>
        </p:grpSpPr>
        <p:sp>
          <p:nvSpPr>
            <p:cNvPr id="45" name="Rectangle 45"/>
            <p:cNvSpPr/>
            <p:nvPr/>
          </p:nvSpPr>
          <p:spPr>
            <a:xfrm>
              <a:off x="7239000" y="1238250"/>
              <a:ext cx="4000500" cy="1190625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239000" y="1238250"/>
              <a:ext cx="38100" cy="119062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7353300" y="135255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62847" y="1447324"/>
              <a:ext cx="857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66304" y="1423035"/>
              <a:ext cx="1420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零 langgraph 依赖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24547" y="1752124"/>
              <a:ext cx="24022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借鉴状态图与 DAG 编排思想，自主实现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24547" y="1971199"/>
              <a:ext cx="17819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不依赖任何第三方 Agent 框架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24547" y="2180749"/>
              <a:ext cx="171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部署简单，无额外运行时依赖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239000" y="2619375"/>
            <a:ext cx="4000500" cy="1190625"/>
            <a:chOff x="7239000" y="2619375"/>
            <a:chExt cx="4000500" cy="1190625"/>
          </a:xfrm>
        </p:grpSpPr>
        <p:sp>
          <p:nvSpPr>
            <p:cNvPr id="54" name="Rectangle 54"/>
            <p:cNvSpPr/>
            <p:nvPr/>
          </p:nvSpPr>
          <p:spPr>
            <a:xfrm>
              <a:off x="7239000" y="2619375"/>
              <a:ext cx="4000500" cy="1190625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239000" y="2619375"/>
              <a:ext cx="38100" cy="119062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7353300" y="2733675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462847" y="2828449"/>
              <a:ext cx="857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✦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66304" y="28041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灵活拓扑编排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24547" y="3133249"/>
              <a:ext cx="18049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DAG 拓扑定义 Agent 依赖关系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24547" y="3352324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四阶段并行资源生成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24547" y="3561874"/>
              <a:ext cx="17421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任务级调度精确到每个 Agent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239000" y="4000500"/>
            <a:ext cx="4000500" cy="1190625"/>
            <a:chOff x="7239000" y="4000500"/>
            <a:chExt cx="4000500" cy="1190625"/>
          </a:xfrm>
        </p:grpSpPr>
        <p:sp>
          <p:nvSpPr>
            <p:cNvPr id="63" name="Rectangle 63"/>
            <p:cNvSpPr/>
            <p:nvPr/>
          </p:nvSpPr>
          <p:spPr>
            <a:xfrm>
              <a:off x="7239000" y="4000500"/>
              <a:ext cx="4000500" cy="1190625"/>
            </a:xfrm>
            <a:prstGeom prst="roundRect">
              <a:avLst>
                <a:gd name="adj" fmla="val 6400"/>
              </a:avLst>
            </a:prstGeom>
            <a:solidFill>
              <a:srgbClr val="E8F0FE"/>
            </a:solidFill>
            <a:ln w="14288">
              <a:solidFill>
                <a:schemeClr val="accent2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239000" y="4000500"/>
              <a:ext cx="38100" cy="119062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7353300" y="411480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462847" y="4209574"/>
              <a:ext cx="857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✦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766304" y="4185285"/>
              <a:ext cx="1021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188 测试通过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424547" y="4514374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涵盖编排器核心逻辑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24547" y="4733449"/>
              <a:ext cx="12112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Agent 调用链路测试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424547" y="4942999"/>
              <a:ext cx="928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端到端流程验证</a:t>
              </a:r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18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905000"/>
          </a:xfrm>
          <a:prstGeom prst="rect">
            <a:avLst/>
          </a:prstGeom>
          <a:gradFill>
            <a:gsLst>
              <a:gs pos="0">
                <a:schemeClr val="accent1">
                  <a:alpha val="4000"/>
                </a:schemeClr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95250" y="-190500"/>
            <a:ext cx="11811000" cy="7715250"/>
            <a:chOff x="95250" y="-190500"/>
            <a:chExt cx="11811000" cy="7715250"/>
          </a:xfrm>
        </p:grpSpPr>
        <p:sp>
          <p:nvSpPr>
            <p:cNvPr id="4" name="Ellipse 4"/>
            <p:cNvSpPr/>
            <p:nvPr/>
          </p:nvSpPr>
          <p:spPr>
            <a:xfrm>
              <a:off x="95250" y="4857750"/>
              <a:ext cx="2667000" cy="2667000"/>
            </a:xfrm>
            <a:prstGeom prst="ellipse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001250" y="-190500"/>
              <a:ext cx="1905000" cy="1905000"/>
            </a:xfrm>
            <a:prstGeom prst="ellipse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757238" y="283845"/>
            <a:ext cx="14369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06 · INNOVATION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1332" y="582930"/>
            <a:ext cx="456557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Python/C++ Trace 协议统一归一化</a:t>
            </a:r>
          </a:p>
        </p:txBody>
      </p:sp>
      <p:sp>
        <p:nvSpPr>
          <p:cNvPr id="9" name="Line 9"/>
          <p:cNvSpPr/>
          <p:nvPr/>
        </p:nvSpPr>
        <p:spPr>
          <a:xfrm>
            <a:off x="762000" y="952500"/>
            <a:ext cx="4000500" cy="9525"/>
          </a:xfrm>
          <a:custGeom>
            <a:avLst/>
            <a:gdLst/>
            <a:ahLst/>
            <a:cxnLst/>
            <a:rect l="l" t="t" r="r" b="b"/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24" name="Group 24"/>
          <p:cNvGrpSpPr/>
          <p:nvPr/>
        </p:nvGrpSpPr>
        <p:grpSpPr>
          <a:xfrm>
            <a:off x="762000" y="1238250"/>
            <a:ext cx="5143500" cy="1333500"/>
            <a:chOff x="762000" y="1238250"/>
            <a:chExt cx="5143500" cy="1333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238250"/>
              <a:ext cx="5143500" cy="1333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238250"/>
              <a:ext cx="5143500" cy="361950"/>
            </a:xfrm>
            <a:prstGeom prst="roundRect">
              <a:avLst>
                <a:gd name="adj" fmla="val 2105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876300" y="132397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5984" y="1385888"/>
              <a:ext cx="7113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56716" y="1353502"/>
              <a:ext cx="12459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Python Trace 路径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952500" y="1762125"/>
              <a:ext cx="2619375" cy="428625"/>
              <a:chOff x="952500" y="1762125"/>
              <a:chExt cx="2619375" cy="428625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952500" y="1762125"/>
                <a:ext cx="1238250" cy="428625"/>
              </a:xfrm>
              <a:prstGeom prst="roundRect">
                <a:avLst>
                  <a:gd name="adj" fmla="val 1333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348059" y="1847374"/>
                <a:ext cx="44713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Python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80040" y="2033588"/>
                <a:ext cx="983171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5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sys.settrace HOOK</a:t>
                </a: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2190750" y="1971675"/>
                <a:ext cx="238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9525">
                    <a:moveTo>
                      <a:pt x="0" y="0"/>
                    </a:moveTo>
                    <a:lnTo>
                      <a:pt x="2381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9" name="Polygon 19"/>
              <p:cNvSpPr/>
              <p:nvPr/>
            </p:nvSpPr>
            <p:spPr>
              <a:xfrm>
                <a:off x="2362200" y="1924050"/>
                <a:ext cx="666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0">
                    <a:moveTo>
                      <a:pt x="66675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2428875" y="1762125"/>
                <a:ext cx="1143000" cy="428625"/>
              </a:xfrm>
              <a:prstGeom prst="roundRect">
                <a:avLst>
                  <a:gd name="adj" fmla="val 13333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2667286" y="1847374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统一事件流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548223" y="2033588"/>
                <a:ext cx="904304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5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Normalized Events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762000" y="2762250"/>
            <a:ext cx="5143500" cy="1333500"/>
            <a:chOff x="762000" y="2762250"/>
            <a:chExt cx="5143500" cy="1333500"/>
          </a:xfrm>
        </p:grpSpPr>
        <p:sp>
          <p:nvSpPr>
            <p:cNvPr id="25" name="Rectangle 25"/>
            <p:cNvSpPr/>
            <p:nvPr/>
          </p:nvSpPr>
          <p:spPr>
            <a:xfrm>
              <a:off x="762000" y="2762250"/>
              <a:ext cx="5143500" cy="1333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2000" y="2762250"/>
              <a:ext cx="5143500" cy="361950"/>
            </a:xfrm>
            <a:prstGeom prst="roundRect">
              <a:avLst>
                <a:gd name="adj" fmla="val 2105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876300" y="2847975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5984" y="2909888"/>
              <a:ext cx="7113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6716" y="2877502"/>
              <a:ext cx="1018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C++ Trace 路径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952500" y="3286125"/>
              <a:ext cx="4095750" cy="428625"/>
              <a:chOff x="952500" y="3286125"/>
              <a:chExt cx="4095750" cy="4286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952500" y="3286125"/>
                <a:ext cx="1238250" cy="428625"/>
              </a:xfrm>
              <a:prstGeom prst="roundRect">
                <a:avLst>
                  <a:gd name="adj" fmla="val 1333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240765" y="3371374"/>
                <a:ext cx="66172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C++ (GDB)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284160" y="3557588"/>
                <a:ext cx="574929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GDB MI 单步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2190750" y="3495675"/>
                <a:ext cx="238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9525">
                    <a:moveTo>
                      <a:pt x="0" y="0"/>
                    </a:moveTo>
                    <a:lnTo>
                      <a:pt x="2381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4" name="Polygon 34"/>
              <p:cNvSpPr/>
              <p:nvPr/>
            </p:nvSpPr>
            <p:spPr>
              <a:xfrm>
                <a:off x="2362200" y="3448050"/>
                <a:ext cx="666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0">
                    <a:moveTo>
                      <a:pt x="66675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2428875" y="3286125"/>
                <a:ext cx="1238250" cy="428625"/>
              </a:xfrm>
              <a:prstGeom prst="roundRect">
                <a:avLst>
                  <a:gd name="adj" fmla="val 13333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630462" y="3371374"/>
                <a:ext cx="83507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STL 容器提取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639378" y="3557588"/>
                <a:ext cx="81724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5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gdb_stl_extract</a:t>
                </a:r>
              </a:p>
            </p:txBody>
          </p:sp>
          <p:sp>
            <p:nvSpPr>
              <p:cNvPr id="38" name="Line 38"/>
              <p:cNvSpPr/>
              <p:nvPr/>
            </p:nvSpPr>
            <p:spPr>
              <a:xfrm>
                <a:off x="3667125" y="3495675"/>
                <a:ext cx="238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9525">
                    <a:moveTo>
                      <a:pt x="0" y="0"/>
                    </a:moveTo>
                    <a:lnTo>
                      <a:pt x="2381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9" name="Polygon 39"/>
              <p:cNvSpPr/>
              <p:nvPr/>
            </p:nvSpPr>
            <p:spPr>
              <a:xfrm>
                <a:off x="3838575" y="3448050"/>
                <a:ext cx="666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0">
                    <a:moveTo>
                      <a:pt x="66675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3905250" y="3286125"/>
                <a:ext cx="1143000" cy="428625"/>
              </a:xfrm>
              <a:prstGeom prst="roundRect">
                <a:avLst>
                  <a:gd name="adj" fmla="val 13333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4143661" y="3371374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统一事件流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024598" y="3557588"/>
                <a:ext cx="904304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5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Normalized Events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6286500" y="1238250"/>
            <a:ext cx="5143500" cy="2857500"/>
            <a:chOff x="6286500" y="1238250"/>
            <a:chExt cx="5143500" cy="2857500"/>
          </a:xfrm>
        </p:grpSpPr>
        <p:sp>
          <p:nvSpPr>
            <p:cNvPr id="45" name="Rectangle 45"/>
            <p:cNvSpPr/>
            <p:nvPr/>
          </p:nvSpPr>
          <p:spPr>
            <a:xfrm>
              <a:off x="6286500" y="1238250"/>
              <a:ext cx="5143500" cy="2857500"/>
            </a:xfrm>
            <a:prstGeom prst="roundRect">
              <a:avLst>
                <a:gd name="adj" fmla="val 2667"/>
              </a:avLst>
            </a:prstGeom>
            <a:solidFill>
              <a:srgbClr val="FFFFFF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86500" y="1238250"/>
              <a:ext cx="5143500" cy="361950"/>
            </a:xfrm>
            <a:prstGeom prst="roundRect">
              <a:avLst>
                <a:gd name="adj" fmla="val 2105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6400800" y="1323975"/>
              <a:ext cx="190500" cy="190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62134" y="1385888"/>
              <a:ext cx="6783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→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81216" y="1353502"/>
              <a:ext cx="1763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统一输出：13 类可视化类型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6477000" y="1762125"/>
              <a:ext cx="4476750" cy="971550"/>
              <a:chOff x="6477000" y="1762125"/>
              <a:chExt cx="4476750" cy="9715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477000" y="1762125"/>
                <a:ext cx="219075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605588" y="185547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变量追踪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8763000" y="1762125"/>
                <a:ext cx="219075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8891588" y="1855470"/>
                <a:ext cx="37299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调用栈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6477000" y="2105025"/>
                <a:ext cx="219075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605588" y="219837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内存状态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8763000" y="2105025"/>
                <a:ext cx="219075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891588" y="219837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链表结构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6477000" y="2447925"/>
                <a:ext cx="219075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6605588" y="2541270"/>
                <a:ext cx="56079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树/图遍历</a:t>
                </a: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8763000" y="2447925"/>
                <a:ext cx="219075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8891588" y="254127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数组操作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6477000" y="2857500"/>
              <a:ext cx="4762500" cy="381000"/>
              <a:chOff x="6477000" y="2857500"/>
              <a:chExt cx="4762500" cy="381000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6477000" y="2857500"/>
                <a:ext cx="47625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903807" y="2990374"/>
                <a:ext cx="190888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D3.js 13 个可视化组件前端渲染</a:t>
                </a:r>
              </a:p>
            </p:txBody>
          </p:sp>
        </p:grpSp>
      </p:grpSp>
      <p:grpSp>
        <p:nvGrpSpPr>
          <p:cNvPr id="74" name="Group 74"/>
          <p:cNvGrpSpPr/>
          <p:nvPr/>
        </p:nvGrpSpPr>
        <p:grpSpPr>
          <a:xfrm>
            <a:off x="6286500" y="4333875"/>
            <a:ext cx="5143500" cy="857250"/>
            <a:chOff x="6286500" y="4333875"/>
            <a:chExt cx="5143500" cy="857250"/>
          </a:xfrm>
        </p:grpSpPr>
        <p:sp>
          <p:nvSpPr>
            <p:cNvPr id="67" name="Rectangle 67"/>
            <p:cNvSpPr/>
            <p:nvPr/>
          </p:nvSpPr>
          <p:spPr>
            <a:xfrm>
              <a:off x="6286500" y="4333875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286500" y="4333875"/>
              <a:ext cx="57150" cy="8572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6419850" y="4467225"/>
              <a:ext cx="266700" cy="2667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516368" y="4559141"/>
              <a:ext cx="736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✦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776085" y="4526756"/>
              <a:ext cx="806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确定性旁白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72047" y="4781074"/>
              <a:ext cx="30388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经典题目（反转链表、unique-paths）无 LLM 依赖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72047" y="4971574"/>
              <a:ext cx="18474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确保可复现、可验证的旁白内容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756666" y="4458652"/>
            <a:ext cx="22298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两种语言 → 统一协议 → 13 种可视化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19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7238" y="283845"/>
            <a:ext cx="14369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06 · INNOVATION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1332" y="582930"/>
            <a:ext cx="171754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更多技术创新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2571750" cy="9525"/>
          </a:xfrm>
          <a:custGeom>
            <a:avLst/>
            <a:gdLst/>
            <a:ahLst/>
            <a:cxnLst/>
            <a:rect l="l" t="t" r="r" b="b"/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22" name="Group 22"/>
          <p:cNvGrpSpPr/>
          <p:nvPr/>
        </p:nvGrpSpPr>
        <p:grpSpPr>
          <a:xfrm>
            <a:off x="762000" y="1333500"/>
            <a:ext cx="3429000" cy="4000500"/>
            <a:chOff x="762000" y="1333500"/>
            <a:chExt cx="3429000" cy="400050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3429000" cy="40005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9525">
              <a:solidFill>
                <a:schemeClr val="accent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333500"/>
              <a:ext cx="3429000" cy="47625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6404" y="15087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创新三：四阶段并行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947166" y="2000250"/>
              <a:ext cx="3053334" cy="2199989"/>
              <a:chOff x="947166" y="2000250"/>
              <a:chExt cx="3053334" cy="2199989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52500" y="2000250"/>
                <a:ext cx="3048000" cy="428625"/>
              </a:xfrm>
              <a:prstGeom prst="roundRect">
                <a:avLst>
                  <a:gd name="adj" fmla="val 888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460068" y="2074545"/>
                <a:ext cx="203286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document → (mindmap ∥ exercises)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529734" y="2245995"/>
                <a:ext cx="189353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→ code_case → (trace ∥ reading)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952500" y="2571750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47547" y="2656999"/>
                <a:ext cx="121088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串行依赖 → 并行拓扑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47547" y="2847499"/>
                <a:ext cx="96150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效率提升 2-3 倍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952500" y="3095625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47166" y="32013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技术细节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7547" y="3438049"/>
                <a:ext cx="204983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Phase 2 的 mindmap 和 exercises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7547" y="3628549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互不依赖，可并行生成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7547" y="3819049"/>
                <a:ext cx="204454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Phase 4 的 trace 和 reading 同理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47547" y="4009549"/>
                <a:ext cx="184746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自研 DAG 调度确保拓扑正确性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4381500" y="1333500"/>
            <a:ext cx="3429000" cy="4000500"/>
            <a:chOff x="4381500" y="1333500"/>
            <a:chExt cx="34290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4381500" y="1333500"/>
              <a:ext cx="3429000" cy="40005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381500" y="1333500"/>
              <a:ext cx="3429000" cy="476250"/>
            </a:xfrm>
            <a:prstGeom prst="roundRect">
              <a:avLst>
                <a:gd name="adj" fmla="val 12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5904" y="15087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创新四：三重防幻觉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4567047" y="2000250"/>
              <a:ext cx="3052953" cy="2161889"/>
              <a:chOff x="4567047" y="2000250"/>
              <a:chExt cx="3052953" cy="2161889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572000" y="2000250"/>
                <a:ext cx="3048000" cy="428625"/>
              </a:xfrm>
              <a:prstGeom prst="roundRect">
                <a:avLst>
                  <a:gd name="adj" fmla="val 8889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5131118" y="2074545"/>
                <a:ext cx="192976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BM25 约束 → 校验回流 → 安全审查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485448" y="2245995"/>
                <a:ext cx="122110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三层防线系统级降风险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4572000" y="2571750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567047" y="2656999"/>
                <a:ext cx="185171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第一层：Okapi BM25 知识约束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567047" y="2847499"/>
                <a:ext cx="171621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检索课程知识库约束生成范围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4572000" y="3095625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567047" y="3209449"/>
                <a:ext cx="192925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第二层：ContentVerifierAgent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567047" y="33999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对照知识库校验回流重试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4572000" y="3648075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567047" y="3761899"/>
                <a:ext cx="134258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第三层：SafetyAgent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567047" y="3971449"/>
                <a:ext cx="197079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敏感词 / 幻觉 / Prompt注入检测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8001000" y="1333500"/>
            <a:ext cx="3429000" cy="4000500"/>
            <a:chOff x="8001000" y="1333500"/>
            <a:chExt cx="3429000" cy="4000500"/>
          </a:xfrm>
        </p:grpSpPr>
        <p:sp>
          <p:nvSpPr>
            <p:cNvPr id="40" name="Rectangle 40"/>
            <p:cNvSpPr/>
            <p:nvPr/>
          </p:nvSpPr>
          <p:spPr>
            <a:xfrm>
              <a:off x="8001000" y="1333500"/>
              <a:ext cx="3429000" cy="40005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001000" y="1333500"/>
              <a:ext cx="3429000" cy="476250"/>
            </a:xfrm>
            <a:prstGeom prst="roundRect">
              <a:avLst>
                <a:gd name="adj" fmla="val 12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185404" y="15087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创新五：确定性旁白</a:t>
              </a:r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8186166" y="2000250"/>
              <a:ext cx="3053334" cy="2314289"/>
              <a:chOff x="8186166" y="2000250"/>
              <a:chExt cx="3053334" cy="2314289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8191500" y="2000250"/>
                <a:ext cx="3048000" cy="428625"/>
              </a:xfrm>
              <a:prstGeom prst="roundRect">
                <a:avLst>
                  <a:gd name="adj" fmla="val 8889"/>
                </a:avLst>
              </a:prstGeom>
              <a:solidFill>
                <a:srgbClr val="F0FDF4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032253" y="2074545"/>
                <a:ext cx="136649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经典题目 → 无 LLM 依赖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277598" y="2245995"/>
                <a:ext cx="87580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可复现 · 可验证</a:t>
                </a:r>
              </a:p>
            </p:txBody>
          </p:sp>
          <p:sp>
            <p:nvSpPr>
              <p:cNvPr id="46" name="Line 46"/>
              <p:cNvSpPr/>
              <p:nvPr/>
            </p:nvSpPr>
            <p:spPr>
              <a:xfrm>
                <a:off x="8191500" y="2571750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186166" y="266795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解决的问题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186547" y="2923699"/>
                <a:ext cx="132047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纯 LLM 旁白不可复现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86547" y="311419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每次生成结果不一致</a:t>
                </a:r>
              </a:p>
            </p:txBody>
          </p:sp>
          <p:sp>
            <p:nvSpPr>
              <p:cNvPr id="50" name="Line 50"/>
              <p:cNvSpPr/>
              <p:nvPr/>
            </p:nvSpPr>
            <p:spPr>
              <a:xfrm>
                <a:off x="8191500" y="3381375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186166" y="34871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技术方案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186547" y="37428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经典题目预定义旁白模板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186547" y="3933349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基于代码执行状态映射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86547" y="4123849"/>
                <a:ext cx="193278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覆盖反转链表、unique-paths 等</a:t>
                </a:r>
              </a:p>
            </p:txBody>
          </p:sp>
        </p:grpSp>
      </p:grpSp>
      <p:sp>
        <p:nvSpPr>
          <p:cNvPr id="57" name="TextBox 57"/>
          <p:cNvSpPr txBox="1"/>
          <p:nvPr/>
        </p:nvSpPr>
        <p:spPr>
          <a:xfrm>
            <a:off x="11019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20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905000"/>
          </a:xfrm>
          <a:prstGeom prst="rect">
            <a:avLst/>
          </a:prstGeom>
          <a:gradFill>
            <a:gsLst>
              <a:gs pos="0">
                <a:schemeClr val="accent1">
                  <a:alpha val="4000"/>
                </a:schemeClr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381000" y="-190500"/>
            <a:ext cx="11239500" cy="7905750"/>
            <a:chOff x="381000" y="-190500"/>
            <a:chExt cx="11239500" cy="7905750"/>
          </a:xfrm>
        </p:grpSpPr>
        <p:sp>
          <p:nvSpPr>
            <p:cNvPr id="4" name="Ellipse 4"/>
            <p:cNvSpPr/>
            <p:nvPr/>
          </p:nvSpPr>
          <p:spPr>
            <a:xfrm>
              <a:off x="381000" y="4667250"/>
              <a:ext cx="3048000" cy="3048000"/>
            </a:xfrm>
            <a:prstGeom prst="ellipse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334500" y="-190500"/>
              <a:ext cx="2286000" cy="2286000"/>
            </a:xfrm>
            <a:prstGeom prst="ellipse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1">
                  <a:alpha val="3000"/>
                </a:schemeClr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757238" y="283845"/>
            <a:ext cx="20961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07 · APPLICATION VALUE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1332" y="582930"/>
            <a:ext cx="256565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三种角色，一套平台</a:t>
            </a:r>
          </a:p>
        </p:txBody>
      </p:sp>
      <p:sp>
        <p:nvSpPr>
          <p:cNvPr id="10" name="Line 10"/>
          <p:cNvSpPr/>
          <p:nvPr/>
        </p:nvSpPr>
        <p:spPr>
          <a:xfrm>
            <a:off x="762000" y="952500"/>
            <a:ext cx="2571750" cy="9525"/>
          </a:xfrm>
          <a:custGeom>
            <a:avLst/>
            <a:gdLst/>
            <a:ahLst/>
            <a:cxnLst/>
            <a:rect l="l" t="t" r="r" b="b"/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36" name="Group 36"/>
          <p:cNvGrpSpPr/>
          <p:nvPr/>
        </p:nvGrpSpPr>
        <p:grpSpPr>
          <a:xfrm>
            <a:off x="762000" y="1238250"/>
            <a:ext cx="3429000" cy="3905250"/>
            <a:chOff x="762000" y="1238250"/>
            <a:chExt cx="3429000" cy="3905250"/>
          </a:xfrm>
        </p:grpSpPr>
        <p:sp>
          <p:nvSpPr>
            <p:cNvPr id="11" name="Rectangle 11"/>
            <p:cNvSpPr/>
            <p:nvPr/>
          </p:nvSpPr>
          <p:spPr>
            <a:xfrm>
              <a:off x="762000" y="1238250"/>
              <a:ext cx="3429000" cy="390525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1238250"/>
              <a:ext cx="3429000" cy="1428750"/>
            </a:xfrm>
            <a:prstGeom prst="roundRect">
              <a:avLst>
                <a:gd name="adj" fmla="val 533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952625" y="1524000"/>
              <a:ext cx="1047750" cy="485775"/>
              <a:chOff x="1952625" y="1524000"/>
              <a:chExt cx="1047750" cy="485775"/>
            </a:xfrm>
          </p:grpSpPr>
          <p:sp>
            <p:nvSpPr>
              <p:cNvPr id="13" name="Polygon 13"/>
              <p:cNvSpPr/>
              <p:nvPr/>
            </p:nvSpPr>
            <p:spPr>
              <a:xfrm>
                <a:off x="2286000" y="1524000"/>
                <a:ext cx="3810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457200">
                    <a:moveTo>
                      <a:pt x="190500" y="0"/>
                    </a:moveTo>
                    <a:lnTo>
                      <a:pt x="381000" y="114300"/>
                    </a:lnTo>
                    <a:lnTo>
                      <a:pt x="381000" y="342900"/>
                    </a:lnTo>
                    <a:lnTo>
                      <a:pt x="190500" y="457200"/>
                    </a:lnTo>
                    <a:lnTo>
                      <a:pt x="0" y="342900"/>
                    </a:lnTo>
                    <a:lnTo>
                      <a:pt x="0" y="114300"/>
                    </a:lnTo>
                    <a:close/>
                  </a:path>
                </a:pathLst>
              </a:custGeom>
              <a:noFill/>
              <a:ln w="9525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14" name="Polygon 14"/>
              <p:cNvSpPr/>
              <p:nvPr/>
            </p:nvSpPr>
            <p:spPr>
              <a:xfrm>
                <a:off x="2714625" y="1666875"/>
                <a:ext cx="285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342900">
                    <a:moveTo>
                      <a:pt x="142875" y="0"/>
                    </a:moveTo>
                    <a:lnTo>
                      <a:pt x="285750" y="85725"/>
                    </a:lnTo>
                    <a:lnTo>
                      <a:pt x="285750" y="257175"/>
                    </a:lnTo>
                    <a:lnTo>
                      <a:pt x="142875" y="342900"/>
                    </a:lnTo>
                    <a:lnTo>
                      <a:pt x="0" y="257175"/>
                    </a:lnTo>
                    <a:lnTo>
                      <a:pt x="0" y="85725"/>
                    </a:lnTo>
                    <a:close/>
                  </a:path>
                </a:pathLst>
              </a:custGeom>
              <a:noFill/>
              <a:ln w="4762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15" name="Polygon 15"/>
              <p:cNvSpPr/>
              <p:nvPr/>
            </p:nvSpPr>
            <p:spPr>
              <a:xfrm>
                <a:off x="1952625" y="1666875"/>
                <a:ext cx="285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342900">
                    <a:moveTo>
                      <a:pt x="142875" y="0"/>
                    </a:moveTo>
                    <a:lnTo>
                      <a:pt x="285750" y="85725"/>
                    </a:lnTo>
                    <a:lnTo>
                      <a:pt x="285750" y="257175"/>
                    </a:lnTo>
                    <a:lnTo>
                      <a:pt x="142875" y="342900"/>
                    </a:lnTo>
                    <a:lnTo>
                      <a:pt x="0" y="257175"/>
                    </a:lnTo>
                    <a:lnTo>
                      <a:pt x="0" y="85725"/>
                    </a:lnTo>
                    <a:close/>
                  </a:path>
                </a:pathLst>
              </a:custGeom>
              <a:noFill/>
              <a:ln w="4762">
                <a:solidFill>
                  <a:srgbClr val="FFFFFF">
                    <a:alpha val="8000"/>
                  </a:srgbClr>
                </a:solidFill>
              </a:ln>
            </p:spPr>
          </p:sp>
        </p:grpSp>
        <p:sp>
          <p:nvSpPr>
            <p:cNvPr id="17" name="Ellipse 17"/>
            <p:cNvSpPr/>
            <p:nvPr/>
          </p:nvSpPr>
          <p:spPr>
            <a:xfrm>
              <a:off x="2047875" y="1619250"/>
              <a:ext cx="857250" cy="857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047875" y="1619250"/>
              <a:ext cx="857250" cy="857250"/>
            </a:xfrm>
            <a:prstGeom prst="ellipse">
              <a:avLst/>
            </a:prstGeom>
            <a:noFill/>
            <a:ln w="19050">
              <a:solidFill>
                <a:srgbClr val="FFFFFF">
                  <a:alpha val="20000"/>
                </a:srgbClr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343150" y="1790700"/>
              <a:ext cx="266700" cy="266700"/>
            </a:xfrm>
            <a:prstGeom prst="ellipse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2286000" y="2190750"/>
              <a:ext cx="381000" cy="95250"/>
            </a:xfrm>
            <a:custGeom>
              <a:avLst/>
              <a:gdLst/>
              <a:ahLst/>
              <a:cxnLst/>
              <a:rect l="l" t="t" r="r" b="b"/>
              <a:pathLst>
                <a:path w="381000" h="95250">
                  <a:moveTo>
                    <a:pt x="0" y="95250"/>
                  </a:moveTo>
                  <a:cubicBezTo>
                    <a:pt x="127000" y="0"/>
                    <a:pt x="254000" y="0"/>
                    <a:pt x="381000" y="95250"/>
                  </a:cubicBezTo>
                </a:path>
              </a:pathLst>
            </a:custGeom>
            <a:noFill/>
            <a:ln w="28575" cap="rnd">
              <a:solidFill>
                <a:srgbClr val="FFFFFF">
                  <a:alpha val="80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234889" y="2536508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学生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16839" y="2847499"/>
              <a:ext cx="5193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3"/>
                  </a:solidFill>
                  <a:latin typeface="Inter"/>
                  <a:ea typeface="Inter"/>
                  <a:cs typeface="Inter"/>
                </a:rPr>
                <a:t>Student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990600" y="2943225"/>
              <a:ext cx="1427577" cy="1644586"/>
              <a:chOff x="990600" y="2943225"/>
              <a:chExt cx="1427577" cy="1644586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990600" y="294322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213866" y="295370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个性化学习路径</a:t>
                </a:r>
              </a:p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990600" y="322897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213866" y="323945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多维度智能资源</a:t>
                </a: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990600" y="351472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213866" y="3525202"/>
                <a:ext cx="12043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代码 Trace 可视化</a:t>
                </a:r>
              </a:p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990600" y="380047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213866" y="3810952"/>
                <a:ext cx="10785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AI 智能辅导答疑</a:t>
                </a:r>
              </a:p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990600" y="408622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213866" y="409670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掌握度量化评估</a:t>
                </a:r>
              </a:p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990600" y="437197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13866" y="438245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持久化学习记忆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4381500" y="1238250"/>
            <a:ext cx="3429000" cy="3905250"/>
            <a:chOff x="4381500" y="1238250"/>
            <a:chExt cx="3429000" cy="3905250"/>
          </a:xfrm>
        </p:grpSpPr>
        <p:sp>
          <p:nvSpPr>
            <p:cNvPr id="37" name="Rectangle 37"/>
            <p:cNvSpPr/>
            <p:nvPr/>
          </p:nvSpPr>
          <p:spPr>
            <a:xfrm>
              <a:off x="4381500" y="1238250"/>
              <a:ext cx="3429000" cy="390525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381500" y="1238250"/>
              <a:ext cx="3429000" cy="1428750"/>
            </a:xfrm>
            <a:prstGeom prst="roundRect">
              <a:avLst>
                <a:gd name="adj" fmla="val 533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5619750" y="1524000"/>
              <a:ext cx="952500" cy="428625"/>
              <a:chOff x="5619750" y="1524000"/>
              <a:chExt cx="952500" cy="428625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5810250" y="1524000"/>
                <a:ext cx="381000" cy="381000"/>
              </a:xfrm>
              <a:prstGeom prst="roundRect">
                <a:avLst>
                  <a:gd name="adj" fmla="val 10000"/>
                </a:avLst>
              </a:prstGeom>
              <a:noFill/>
              <a:ln w="9525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286500" y="1666875"/>
                <a:ext cx="285750" cy="285750"/>
              </a:xfrm>
              <a:prstGeom prst="roundRect">
                <a:avLst>
                  <a:gd name="adj" fmla="val 10000"/>
                </a:avLst>
              </a:prstGeom>
              <a:noFill/>
              <a:ln w="4762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5619750" y="1666875"/>
                <a:ext cx="285750" cy="285750"/>
              </a:xfrm>
              <a:prstGeom prst="roundRect">
                <a:avLst>
                  <a:gd name="adj" fmla="val 10000"/>
                </a:avLst>
              </a:prstGeom>
              <a:noFill/>
              <a:ln w="4762">
                <a:solidFill>
                  <a:srgbClr val="FFFFFF">
                    <a:alpha val="8000"/>
                  </a:srgbClr>
                </a:solidFill>
              </a:ln>
            </p:spPr>
          </p:sp>
        </p:grpSp>
        <p:sp>
          <p:nvSpPr>
            <p:cNvPr id="43" name="Ellipse 43"/>
            <p:cNvSpPr/>
            <p:nvPr/>
          </p:nvSpPr>
          <p:spPr>
            <a:xfrm>
              <a:off x="5667375" y="1619250"/>
              <a:ext cx="857250" cy="857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43600" y="1828800"/>
              <a:ext cx="304800" cy="209550"/>
            </a:xfrm>
            <a:prstGeom prst="roundRect">
              <a:avLst>
                <a:gd name="adj" fmla="val 13636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5981700" y="19240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5905500" y="2219325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114300"/>
                  </a:moveTo>
                  <a:cubicBezTo>
                    <a:pt x="127000" y="0"/>
                    <a:pt x="254000" y="0"/>
                    <a:pt x="381000" y="114300"/>
                  </a:cubicBezTo>
                </a:path>
              </a:pathLst>
            </a:custGeom>
            <a:noFill/>
            <a:ln w="28575" cap="rnd">
              <a:solidFill>
                <a:srgbClr val="FFFFFF">
                  <a:alpha val="80000"/>
                </a:srgbClr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854389" y="2536508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教师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836339" y="2847499"/>
              <a:ext cx="5193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3"/>
                  </a:solidFill>
                  <a:latin typeface="Inter"/>
                  <a:ea typeface="Inter"/>
                  <a:cs typeface="Inter"/>
                </a:rPr>
                <a:t>Teacher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4610100" y="2943225"/>
              <a:ext cx="1364742" cy="1358836"/>
              <a:chOff x="4610100" y="2943225"/>
              <a:chExt cx="1364742" cy="1358836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4610100" y="294322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4833366" y="295370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全面学情看板</a:t>
                </a:r>
              </a:p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4610100" y="322897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4833366" y="32394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掌握度热力图</a:t>
                </a:r>
              </a:p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4610100" y="351472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4833366" y="3525202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精准识别薄弱学生</a:t>
                </a:r>
              </a:p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4610100" y="380047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4833366" y="3810952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教学效果量化评估</a:t>
                </a:r>
              </a:p>
            </p:txBody>
          </p:sp>
          <p:sp>
            <p:nvSpPr>
              <p:cNvPr id="57" name="Ellipse 57"/>
              <p:cNvSpPr/>
              <p:nvPr/>
            </p:nvSpPr>
            <p:spPr>
              <a:xfrm>
                <a:off x="4610100" y="408622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4833366" y="4096702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因材施教辅助决策</a:t>
                </a:r>
              </a:p>
            </p:txBody>
          </p:sp>
        </p:grpSp>
      </p:grpSp>
      <p:grpSp>
        <p:nvGrpSpPr>
          <p:cNvPr id="83" name="Group 83"/>
          <p:cNvGrpSpPr/>
          <p:nvPr/>
        </p:nvGrpSpPr>
        <p:grpSpPr>
          <a:xfrm>
            <a:off x="8001000" y="1238250"/>
            <a:ext cx="3429000" cy="3905250"/>
            <a:chOff x="8001000" y="1238250"/>
            <a:chExt cx="3429000" cy="3905250"/>
          </a:xfrm>
        </p:grpSpPr>
        <p:sp>
          <p:nvSpPr>
            <p:cNvPr id="61" name="Rectangle 61"/>
            <p:cNvSpPr/>
            <p:nvPr/>
          </p:nvSpPr>
          <p:spPr>
            <a:xfrm>
              <a:off x="8001000" y="1238250"/>
              <a:ext cx="3429000" cy="390525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8001000" y="1238250"/>
              <a:ext cx="3429000" cy="1428750"/>
            </a:xfrm>
            <a:prstGeom prst="roundRect">
              <a:avLst>
                <a:gd name="adj" fmla="val 533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9429750" y="1476375"/>
              <a:ext cx="571500" cy="571500"/>
              <a:chOff x="9429750" y="1476375"/>
              <a:chExt cx="571500" cy="571500"/>
            </a:xfrm>
          </p:grpSpPr>
          <p:sp>
            <p:nvSpPr>
              <p:cNvPr id="63" name="Ellipse 63"/>
              <p:cNvSpPr/>
              <p:nvPr/>
            </p:nvSpPr>
            <p:spPr>
              <a:xfrm>
                <a:off x="9429750" y="1476375"/>
                <a:ext cx="571500" cy="571500"/>
              </a:xfrm>
              <a:prstGeom prst="ellipse">
                <a:avLst/>
              </a:prstGeom>
              <a:noFill/>
              <a:ln w="9525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9525000" y="1571625"/>
                <a:ext cx="381000" cy="381000"/>
              </a:xfrm>
              <a:prstGeom prst="ellipse">
                <a:avLst/>
              </a:prstGeom>
              <a:noFill/>
              <a:ln w="4762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9620250" y="1666875"/>
                <a:ext cx="190500" cy="190500"/>
              </a:xfrm>
              <a:prstGeom prst="ellipse">
                <a:avLst/>
              </a:prstGeom>
              <a:noFill/>
              <a:ln w="4762">
                <a:solidFill>
                  <a:srgbClr val="FFFFFF">
                    <a:alpha val="8000"/>
                  </a:srgbClr>
                </a:solidFill>
              </a:ln>
            </p:spPr>
          </p:sp>
        </p:grpSp>
        <p:sp>
          <p:nvSpPr>
            <p:cNvPr id="67" name="Ellipse 67"/>
            <p:cNvSpPr/>
            <p:nvPr/>
          </p:nvSpPr>
          <p:spPr>
            <a:xfrm>
              <a:off x="9286875" y="1619250"/>
              <a:ext cx="857250" cy="857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9572625" y="1952625"/>
              <a:ext cx="285750" cy="254000"/>
            </a:xfrm>
            <a:custGeom>
              <a:avLst/>
              <a:gdLst/>
              <a:ahLst/>
              <a:cxnLst/>
              <a:rect l="l" t="t" r="r" b="b"/>
              <a:pathLst>
                <a:path w="285750" h="254000">
                  <a:moveTo>
                    <a:pt x="0" y="0"/>
                  </a:moveTo>
                  <a:lnTo>
                    <a:pt x="285750" y="0"/>
                  </a:lnTo>
                  <a:lnTo>
                    <a:pt x="285750" y="190500"/>
                  </a:lnTo>
                  <a:cubicBezTo>
                    <a:pt x="190500" y="254000"/>
                    <a:pt x="95250" y="254000"/>
                    <a:pt x="0" y="19050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9677400" y="1962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473889" y="2536508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教育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00159" y="2847499"/>
              <a:ext cx="630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3"/>
                  </a:solidFill>
                  <a:latin typeface="Inter"/>
                  <a:ea typeface="Inter"/>
                  <a:cs typeface="Inter"/>
                </a:rPr>
                <a:t>Education</a:t>
              </a:r>
            </a:p>
          </p:txBody>
        </p:sp>
        <p:grpSp>
          <p:nvGrpSpPr>
            <p:cNvPr id="82" name="Group 82"/>
            <p:cNvGrpSpPr/>
            <p:nvPr/>
          </p:nvGrpSpPr>
          <p:grpSpPr>
            <a:xfrm>
              <a:off x="8229600" y="2943225"/>
              <a:ext cx="1689849" cy="1358836"/>
              <a:chOff x="8229600" y="2943225"/>
              <a:chExt cx="1689849" cy="1358836"/>
            </a:xfrm>
          </p:grpSpPr>
          <p:sp>
            <p:nvSpPr>
              <p:cNvPr id="72" name="Ellipse 72"/>
              <p:cNvSpPr/>
              <p:nvPr/>
            </p:nvSpPr>
            <p:spPr>
              <a:xfrm>
                <a:off x="8229600" y="294322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8452866" y="2953702"/>
                <a:ext cx="14145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AI+教育深度融合实践</a:t>
                </a:r>
              </a:p>
            </p:txBody>
          </p:sp>
          <p:sp>
            <p:nvSpPr>
              <p:cNvPr id="74" name="Ellipse 74"/>
              <p:cNvSpPr/>
              <p:nvPr/>
            </p:nvSpPr>
            <p:spPr>
              <a:xfrm>
                <a:off x="8229600" y="322897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8452866" y="3239452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降低大模型幻觉风险</a:t>
                </a:r>
              </a:p>
            </p:txBody>
          </p:sp>
          <p:sp>
            <p:nvSpPr>
              <p:cNvPr id="76" name="Ellipse 76"/>
              <p:cNvSpPr/>
              <p:nvPr/>
            </p:nvSpPr>
            <p:spPr>
              <a:xfrm>
                <a:off x="8229600" y="351472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452866" y="3525202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可复制的智能教育范式</a:t>
                </a:r>
              </a:p>
            </p:txBody>
          </p:sp>
          <p:sp>
            <p:nvSpPr>
              <p:cNvPr id="78" name="Ellipse 78"/>
              <p:cNvSpPr/>
              <p:nvPr/>
            </p:nvSpPr>
            <p:spPr>
              <a:xfrm>
                <a:off x="8229600" y="380047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8452866" y="3810952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多智能体协同参考架构</a:t>
                </a:r>
              </a:p>
            </p:txBody>
          </p:sp>
          <p:sp>
            <p:nvSpPr>
              <p:cNvPr id="80" name="Ellipse 80"/>
              <p:cNvSpPr/>
              <p:nvPr/>
            </p:nvSpPr>
            <p:spPr>
              <a:xfrm>
                <a:off x="8229600" y="408622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8452866" y="4096702"/>
                <a:ext cx="14665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零 langgraph 轻量部署</a:t>
                </a:r>
              </a:p>
            </p:txBody>
          </p:sp>
        </p:grpSp>
      </p:grpSp>
      <p:sp>
        <p:nvSpPr>
          <p:cNvPr id="84" name="TextBox 84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21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905000"/>
          </a:xfrm>
          <a:prstGeom prst="rect">
            <a:avLst/>
          </a:prstGeom>
          <a:gradFill>
            <a:gsLst>
              <a:gs pos="0">
                <a:schemeClr val="accent1">
                  <a:alpha val="3000"/>
                </a:schemeClr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952500" y="-190500"/>
            <a:ext cx="11430000" cy="7810500"/>
            <a:chOff x="952500" y="-190500"/>
            <a:chExt cx="11430000" cy="7810500"/>
          </a:xfrm>
        </p:grpSpPr>
        <p:sp>
          <p:nvSpPr>
            <p:cNvPr id="4" name="Ellipse 4"/>
            <p:cNvSpPr/>
            <p:nvPr/>
          </p:nvSpPr>
          <p:spPr>
            <a:xfrm>
              <a:off x="8572500" y="3810000"/>
              <a:ext cx="3810000" cy="3810000"/>
            </a:xfrm>
            <a:prstGeom prst="ellipse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52500" y="-190500"/>
              <a:ext cx="1905000" cy="1905000"/>
            </a:xfrm>
            <a:prstGeom prst="ellipse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757238" y="283845"/>
            <a:ext cx="20961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07 · APPLICATION VALUE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1332" y="582930"/>
            <a:ext cx="228295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用数据证明完成度</a:t>
            </a:r>
          </a:p>
        </p:txBody>
      </p:sp>
      <p:sp>
        <p:nvSpPr>
          <p:cNvPr id="9" name="Line 9"/>
          <p:cNvSpPr/>
          <p:nvPr/>
        </p:nvSpPr>
        <p:spPr>
          <a:xfrm>
            <a:off x="762000" y="952500"/>
            <a:ext cx="2571750" cy="9525"/>
          </a:xfrm>
          <a:custGeom>
            <a:avLst/>
            <a:gdLst/>
            <a:ahLst/>
            <a:cxnLst/>
            <a:rect l="l" t="t" r="r" b="b"/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22" name="Group 22"/>
          <p:cNvGrpSpPr/>
          <p:nvPr/>
        </p:nvGrpSpPr>
        <p:grpSpPr>
          <a:xfrm>
            <a:off x="762000" y="1333500"/>
            <a:ext cx="3238500" cy="1905000"/>
            <a:chOff x="762000" y="1333500"/>
            <a:chExt cx="3238500" cy="1905000"/>
          </a:xfrm>
        </p:grpSpPr>
        <p:sp>
          <p:nvSpPr>
            <p:cNvPr id="10" name="Rectangle 10"/>
            <p:cNvSpPr/>
            <p:nvPr/>
          </p:nvSpPr>
          <p:spPr>
            <a:xfrm>
              <a:off x="762000" y="1333500"/>
              <a:ext cx="3238500" cy="1905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333500"/>
              <a:ext cx="3238500" cy="47625"/>
            </a:xfrm>
            <a:prstGeom prst="roundRect">
              <a:avLst>
                <a:gd name="adj" fmla="val 4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52500" y="1619250"/>
              <a:ext cx="828675" cy="1047750"/>
              <a:chOff x="952500" y="1619250"/>
              <a:chExt cx="828675" cy="10477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952500" y="1809750"/>
                <a:ext cx="114300" cy="857250"/>
              </a:xfrm>
              <a:prstGeom prst="rect">
                <a:avLst/>
              </a:prstGeom>
              <a:solidFill>
                <a:schemeClr val="accent1">
                  <a:alpha val="6000"/>
                </a:schemeClr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1190625" y="1619250"/>
                <a:ext cx="114300" cy="1047750"/>
              </a:xfrm>
              <a:prstGeom prst="rect">
                <a:avLst/>
              </a:prstGeom>
              <a:solidFill>
                <a:schemeClr val="accent2">
                  <a:alpha val="6000"/>
                </a:schemeClr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1428750" y="1905000"/>
                <a:ext cx="114300" cy="762000"/>
              </a:xfrm>
              <a:prstGeom prst="rect">
                <a:avLst/>
              </a:prstGeom>
              <a:solidFill>
                <a:schemeClr val="accent1">
                  <a:alpha val="6000"/>
                </a:schemeClr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1666875" y="1714500"/>
                <a:ext cx="114300" cy="952500"/>
              </a:xfrm>
              <a:prstGeom prst="rect">
                <a:avLst/>
              </a:prstGeom>
              <a:solidFill>
                <a:schemeClr val="accent2">
                  <a:alpha val="6000"/>
                </a:schemeClr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802450" y="1577340"/>
              <a:ext cx="115760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800" b="1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188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36295" y="2259806"/>
              <a:ext cx="16899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Backend pytest passed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238250" y="2524125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21421" y="2637949"/>
              <a:ext cx="1919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32 个测试文件 · 全覆盖核心逻辑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00531" y="2847499"/>
              <a:ext cx="21614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Frontend typecheck + build 均通过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81500" y="1333500"/>
            <a:ext cx="3238500" cy="1905000"/>
            <a:chOff x="4381500" y="1333500"/>
            <a:chExt cx="3238500" cy="1905000"/>
          </a:xfrm>
        </p:grpSpPr>
        <p:sp>
          <p:nvSpPr>
            <p:cNvPr id="23" name="Rectangle 23"/>
            <p:cNvSpPr/>
            <p:nvPr/>
          </p:nvSpPr>
          <p:spPr>
            <a:xfrm>
              <a:off x="4381500" y="1333500"/>
              <a:ext cx="3238500" cy="1905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381500" y="1333500"/>
              <a:ext cx="3238500" cy="47625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4953000" y="1714500"/>
              <a:ext cx="762000" cy="762000"/>
              <a:chOff x="4953000" y="1714500"/>
              <a:chExt cx="762000" cy="762000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4953000" y="1714500"/>
                <a:ext cx="762000" cy="762000"/>
              </a:xfrm>
              <a:prstGeom prst="ellipse">
                <a:avLst/>
              </a:prstGeom>
              <a:noFill/>
              <a:ln w="9525">
                <a:solidFill>
                  <a:schemeClr val="accent2">
                    <a:alpha val="6000"/>
                  </a:schemeClr>
                </a:solidFill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5095875" y="1857375"/>
                <a:ext cx="476250" cy="476250"/>
              </a:xfrm>
              <a:prstGeom prst="ellipse">
                <a:avLst/>
              </a:prstGeom>
              <a:noFill/>
              <a:ln w="9525">
                <a:solidFill>
                  <a:schemeClr val="accent2">
                    <a:alpha val="6000"/>
                  </a:schemeClr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5238750" y="2000250"/>
                <a:ext cx="190500" cy="190500"/>
              </a:xfrm>
              <a:prstGeom prst="ellipse">
                <a:avLst/>
              </a:prstGeom>
              <a:solidFill>
                <a:schemeClr val="accent2">
                  <a:alpha val="6000"/>
                </a:schemeClr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5678502" y="1674495"/>
              <a:ext cx="64449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900" b="1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22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20426" y="2259806"/>
              <a:ext cx="1760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多智能体注册 / 20 已实现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4857750" y="2524125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62406" y="2637949"/>
              <a:ext cx="14766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6 个 Layer · 端到端覆盖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14996" y="2847499"/>
              <a:ext cx="11715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2 个规划中扩展节点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001000" y="1333500"/>
            <a:ext cx="3238500" cy="1905000"/>
            <a:chOff x="8001000" y="1333500"/>
            <a:chExt cx="3238500" cy="1905000"/>
          </a:xfrm>
        </p:grpSpPr>
        <p:sp>
          <p:nvSpPr>
            <p:cNvPr id="35" name="Rectangle 35"/>
            <p:cNvSpPr/>
            <p:nvPr/>
          </p:nvSpPr>
          <p:spPr>
            <a:xfrm>
              <a:off x="8001000" y="1333500"/>
              <a:ext cx="3238500" cy="1905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001000" y="1333500"/>
              <a:ext cx="3238500" cy="47625"/>
            </a:xfrm>
            <a:prstGeom prst="roundRect">
              <a:avLst>
                <a:gd name="adj" fmla="val 4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477250" y="1581150"/>
              <a:ext cx="990600" cy="514350"/>
              <a:chOff x="8477250" y="1581150"/>
              <a:chExt cx="990600" cy="5143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477250" y="1619250"/>
                <a:ext cx="9525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476250">
                    <a:moveTo>
                      <a:pt x="0" y="476250"/>
                    </a:moveTo>
                    <a:lnTo>
                      <a:pt x="190500" y="190500"/>
                    </a:lnTo>
                    <a:lnTo>
                      <a:pt x="381000" y="333375"/>
                    </a:lnTo>
                    <a:lnTo>
                      <a:pt x="571500" y="95250"/>
                    </a:lnTo>
                    <a:lnTo>
                      <a:pt x="762000" y="238125"/>
                    </a:lnTo>
                    <a:lnTo>
                      <a:pt x="952500" y="0"/>
                    </a:lnTo>
                  </a:path>
                </a:pathLst>
              </a:custGeom>
              <a:noFill/>
              <a:ln w="19050">
                <a:solidFill>
                  <a:schemeClr val="accent1">
                    <a:alpha val="6000"/>
                  </a:schemeClr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9391650" y="1581150"/>
                <a:ext cx="76200" cy="76200"/>
              </a:xfrm>
              <a:prstGeom prst="ellipse">
                <a:avLst/>
              </a:prstGeom>
              <a:solidFill>
                <a:schemeClr val="accent1">
                  <a:alpha val="6000"/>
                </a:schemeClr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9298002" y="1674495"/>
              <a:ext cx="64449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900" b="1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13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98058" y="2259806"/>
              <a:ext cx="12443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Trace 可视化类型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8477250" y="2524125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943670" y="2637949"/>
              <a:ext cx="13531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Python sys.settrace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04542" y="2847499"/>
              <a:ext cx="14314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C++ GDB MI 统一归一化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2000" y="3524250"/>
            <a:ext cx="3238500" cy="1905000"/>
            <a:chOff x="762000" y="3524250"/>
            <a:chExt cx="3238500" cy="1905000"/>
          </a:xfrm>
        </p:grpSpPr>
        <p:sp>
          <p:nvSpPr>
            <p:cNvPr id="46" name="Rectangle 46"/>
            <p:cNvSpPr/>
            <p:nvPr/>
          </p:nvSpPr>
          <p:spPr>
            <a:xfrm>
              <a:off x="762000" y="3524250"/>
              <a:ext cx="3238500" cy="1905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62000" y="3524250"/>
              <a:ext cx="3238500" cy="47625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952500" y="4095750"/>
              <a:ext cx="762000" cy="571500"/>
              <a:chOff x="952500" y="4095750"/>
              <a:chExt cx="762000" cy="5715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952500" y="4095750"/>
                <a:ext cx="762000" cy="571500"/>
              </a:xfrm>
              <a:prstGeom prst="roundRect">
                <a:avLst>
                  <a:gd name="adj" fmla="val 6667"/>
                </a:avLst>
              </a:prstGeom>
              <a:noFill/>
              <a:ln w="9525">
                <a:solidFill>
                  <a:schemeClr val="accent2">
                    <a:alpha val="6000"/>
                  </a:schemeClr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114450" y="4234815"/>
                <a:ext cx="4381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accent2">
                        <a:alphaMod val="6000"/>
                      </a:schemeClr>
                    </a:solidFill>
                    <a:latin typeface="Inter"/>
                    <a:ea typeface="Inter"/>
                    <a:cs typeface="Inter"/>
                  </a:rPr>
                  <a:t>&lt;/&gt;</a:t>
                </a:r>
              </a:p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1907403" y="3865245"/>
              <a:ext cx="94769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900" b="1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70+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677305" y="4450556"/>
              <a:ext cx="1407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Vue 组件 / 30+ 页面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1238250" y="4714875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307238" y="4828699"/>
              <a:ext cx="21480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Vue 3 + TypeScript + Element Plus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360833" y="5038249"/>
              <a:ext cx="2040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13 个算法游戏 + 13 个 Trace 组件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381500" y="3524250"/>
            <a:ext cx="3238500" cy="1905000"/>
            <a:chOff x="4381500" y="3524250"/>
            <a:chExt cx="3238500" cy="1905000"/>
          </a:xfrm>
        </p:grpSpPr>
        <p:sp>
          <p:nvSpPr>
            <p:cNvPr id="57" name="Rectangle 57"/>
            <p:cNvSpPr/>
            <p:nvPr/>
          </p:nvSpPr>
          <p:spPr>
            <a:xfrm>
              <a:off x="4381500" y="3524250"/>
              <a:ext cx="3238500" cy="1905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4381500" y="3524250"/>
              <a:ext cx="3238500" cy="47625"/>
            </a:xfrm>
            <a:prstGeom prst="roundRect">
              <a:avLst>
                <a:gd name="adj" fmla="val 4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4667250" y="4000500"/>
              <a:ext cx="1047750" cy="476250"/>
              <a:chOff x="4667250" y="4000500"/>
              <a:chExt cx="1047750" cy="47625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4667250" y="4000500"/>
                <a:ext cx="285750" cy="476250"/>
              </a:xfrm>
              <a:prstGeom prst="roundRect">
                <a:avLst>
                  <a:gd name="adj" fmla="val 10000"/>
                </a:avLst>
              </a:prstGeom>
              <a:noFill/>
              <a:ln w="9525">
                <a:solidFill>
                  <a:schemeClr val="accent1">
                    <a:alpha val="6000"/>
                  </a:schemeClr>
                </a:solidFill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5048250" y="4095750"/>
                <a:ext cx="285750" cy="381000"/>
              </a:xfrm>
              <a:prstGeom prst="roundRect">
                <a:avLst>
                  <a:gd name="adj" fmla="val 10000"/>
                </a:avLst>
              </a:prstGeom>
              <a:noFill/>
              <a:ln w="9525">
                <a:solidFill>
                  <a:schemeClr val="accent1">
                    <a:alpha val="6000"/>
                  </a:schemeClr>
                </a:solidFill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5429250" y="4191000"/>
                <a:ext cx="285750" cy="285750"/>
              </a:xfrm>
              <a:prstGeom prst="roundRect">
                <a:avLst>
                  <a:gd name="adj" fmla="val 10000"/>
                </a:avLst>
              </a:prstGeom>
              <a:noFill/>
              <a:ln w="9525">
                <a:solidFill>
                  <a:schemeClr val="accent1">
                    <a:alpha val="6000"/>
                  </a:schemeClr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5830101" y="3865245"/>
              <a:ext cx="34129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900" b="1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6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248370" y="4450556"/>
              <a:ext cx="1504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Layer / 6 种资源类型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4857750" y="4714875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027795" y="4828699"/>
              <a:ext cx="19459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画像/资源/路径/辅导/安全/评估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283741" y="5038249"/>
              <a:ext cx="14340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6 种资源覆盖学习全链路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8001000" y="3524250"/>
            <a:ext cx="3238500" cy="1905000"/>
            <a:chOff x="8001000" y="3524250"/>
            <a:chExt cx="3238500" cy="1905000"/>
          </a:xfrm>
        </p:grpSpPr>
        <p:sp>
          <p:nvSpPr>
            <p:cNvPr id="69" name="Rectangle 69"/>
            <p:cNvSpPr/>
            <p:nvPr/>
          </p:nvSpPr>
          <p:spPr>
            <a:xfrm>
              <a:off x="8001000" y="3524250"/>
              <a:ext cx="3238500" cy="1905000"/>
            </a:xfrm>
            <a:prstGeom prst="roundRect">
              <a:avLst>
                <a:gd name="adj" fmla="val 4000"/>
              </a:avLst>
            </a:prstGeom>
            <a:solidFill>
              <a:srgbClr val="E8F0FE"/>
            </a:solidFill>
            <a:ln w="14288">
              <a:solidFill>
                <a:schemeClr val="accent2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001000" y="3524250"/>
              <a:ext cx="3238500" cy="47625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8286750" y="4048125"/>
              <a:ext cx="476250" cy="571500"/>
              <a:chOff x="8286750" y="4048125"/>
              <a:chExt cx="476250" cy="571500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8286750" y="4048125"/>
                <a:ext cx="476250" cy="571500"/>
              </a:xfrm>
              <a:prstGeom prst="roundRect">
                <a:avLst>
                  <a:gd name="adj" fmla="val 4000"/>
                </a:avLst>
              </a:prstGeom>
              <a:solidFill>
                <a:schemeClr val="accent2">
                  <a:alpha val="6000"/>
                </a:schemeClr>
              </a:solidFill>
              <a:ln>
                <a:noFill/>
              </a:ln>
            </p:spPr>
          </p:sp>
          <p:sp>
            <p:nvSpPr>
              <p:cNvPr id="72" name="Line 72"/>
              <p:cNvSpPr/>
              <p:nvPr/>
            </p:nvSpPr>
            <p:spPr>
              <a:xfrm>
                <a:off x="8334375" y="4143375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FFFFFF">
                    <a:alpha val="6000"/>
                  </a:srgbClr>
                </a:solidFill>
              </a:ln>
            </p:spPr>
          </p:sp>
          <p:sp>
            <p:nvSpPr>
              <p:cNvPr id="73" name="Line 73"/>
              <p:cNvSpPr/>
              <p:nvPr/>
            </p:nvSpPr>
            <p:spPr>
              <a:xfrm>
                <a:off x="8334375" y="4238625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FFFFFF">
                    <a:alpha val="6000"/>
                  </a:srgbClr>
                </a:solidFill>
              </a:ln>
            </p:spPr>
          </p:sp>
          <p:sp>
            <p:nvSpPr>
              <p:cNvPr id="74" name="Line 74"/>
              <p:cNvSpPr/>
              <p:nvPr/>
            </p:nvSpPr>
            <p:spPr>
              <a:xfrm>
                <a:off x="8334375" y="4333875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FFFFFF">
                    <a:alpha val="6000"/>
                  </a:srgbClr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9212761" y="3819525"/>
              <a:ext cx="81497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2"/>
                  </a:solidFill>
                  <a:latin typeface="Inter"/>
                  <a:ea typeface="Microsoft YaHei"/>
                  <a:cs typeface="Inter"/>
                </a:rPr>
                <a:t>6 份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160192" y="4307681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完整比赛文档</a:t>
              </a:r>
            </a:p>
          </p:txBody>
        </p:sp>
        <p:sp>
          <p:nvSpPr>
            <p:cNvPr id="78" name="Line 78"/>
            <p:cNvSpPr/>
            <p:nvPr/>
          </p:nvSpPr>
          <p:spPr>
            <a:xfrm>
              <a:off x="8477250" y="45720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752299" y="4733449"/>
              <a:ext cx="1735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项目说明书 · 系统开发说明书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732610" y="4942999"/>
              <a:ext cx="17752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测试 · 部署 · 手册 · 开源说明</a:t>
              </a:r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22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905000"/>
          </a:xfrm>
          <a:prstGeom prst="rect">
            <a:avLst/>
          </a:prstGeom>
          <a:gradFill>
            <a:gsLst>
              <a:gs pos="0">
                <a:schemeClr val="accent1">
                  <a:alpha val="3000"/>
                </a:schemeClr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0" y="3333750"/>
            <a:ext cx="12858750" cy="4286250"/>
            <a:chOff x="0" y="3333750"/>
            <a:chExt cx="12858750" cy="4286250"/>
          </a:xfrm>
        </p:grpSpPr>
        <p:sp>
          <p:nvSpPr>
            <p:cNvPr id="4" name="Ellipse 4"/>
            <p:cNvSpPr/>
            <p:nvPr/>
          </p:nvSpPr>
          <p:spPr>
            <a:xfrm>
              <a:off x="10001250" y="4762500"/>
              <a:ext cx="2857500" cy="2857500"/>
            </a:xfrm>
            <a:prstGeom prst="ellipse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3333750"/>
              <a:ext cx="12192000" cy="9525"/>
            </a:xfrm>
            <a:prstGeom prst="rect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757238" y="283845"/>
            <a:ext cx="20961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07 · APPLICATION VALUE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1332" y="582930"/>
            <a:ext cx="200025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完整的项目交付</a:t>
            </a:r>
          </a:p>
        </p:txBody>
      </p:sp>
      <p:sp>
        <p:nvSpPr>
          <p:cNvPr id="9" name="Line 9"/>
          <p:cNvSpPr/>
          <p:nvPr/>
        </p:nvSpPr>
        <p:spPr>
          <a:xfrm>
            <a:off x="762000" y="9525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762000" y="1333500"/>
            <a:ext cx="3238500" cy="1047750"/>
            <a:chOff x="762000" y="1333500"/>
            <a:chExt cx="3238500" cy="1047750"/>
          </a:xfrm>
        </p:grpSpPr>
        <p:sp>
          <p:nvSpPr>
            <p:cNvPr id="10" name="Rectangle 10"/>
            <p:cNvSpPr/>
            <p:nvPr/>
          </p:nvSpPr>
          <p:spPr>
            <a:xfrm>
              <a:off x="762000" y="1333500"/>
              <a:ext cx="323850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333500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3524250" y="1524000"/>
              <a:ext cx="285750" cy="361950"/>
              <a:chOff x="3524250" y="1524000"/>
              <a:chExt cx="285750" cy="3619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524250" y="1524000"/>
                <a:ext cx="285750" cy="361950"/>
              </a:xfrm>
              <a:prstGeom prst="roundRect">
                <a:avLst>
                  <a:gd name="adj" fmla="val 6667"/>
                </a:avLst>
              </a:prstGeom>
              <a:solidFill>
                <a:schemeClr val="accent1">
                  <a:alpha val="8000"/>
                </a:schemeClr>
              </a:solidFill>
              <a:ln>
                <a:noFill/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3562350" y="1600200"/>
                <a:ext cx="209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9525">
                    <a:moveTo>
                      <a:pt x="0" y="0"/>
                    </a:moveTo>
                    <a:lnTo>
                      <a:pt x="209550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562350" y="167640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3562350" y="1752600"/>
                <a:ext cx="209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9525">
                    <a:moveTo>
                      <a:pt x="0" y="0"/>
                    </a:moveTo>
                    <a:lnTo>
                      <a:pt x="209550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8000"/>
                  </a:srgbClr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984123" y="1557814"/>
              <a:ext cx="11114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01 项目说明书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5647" y="1847374"/>
              <a:ext cx="2503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项目背景、目标用户、创新价值、技术实现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5838" y="2074545"/>
              <a:ext cx="27113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涵盖五大痛点分析 · 目标用户定义 · 赛题对应关系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81500" y="1333500"/>
            <a:ext cx="3238500" cy="1047750"/>
            <a:chOff x="4381500" y="1333500"/>
            <a:chExt cx="3238500" cy="1047750"/>
          </a:xfrm>
        </p:grpSpPr>
        <p:sp>
          <p:nvSpPr>
            <p:cNvPr id="21" name="Rectangle 21"/>
            <p:cNvSpPr/>
            <p:nvPr/>
          </p:nvSpPr>
          <p:spPr>
            <a:xfrm>
              <a:off x="4381500" y="1333500"/>
              <a:ext cx="323850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81500" y="1333500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143750" y="1524000"/>
              <a:ext cx="285750" cy="361950"/>
              <a:chOff x="7143750" y="1524000"/>
              <a:chExt cx="285750" cy="3619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143750" y="1524000"/>
                <a:ext cx="285750" cy="361950"/>
              </a:xfrm>
              <a:prstGeom prst="roundRect">
                <a:avLst>
                  <a:gd name="adj" fmla="val 6667"/>
                </a:avLst>
              </a:prstGeom>
              <a:solidFill>
                <a:schemeClr val="accent2">
                  <a:alpha val="8000"/>
                </a:schemeClr>
              </a:solidFill>
              <a:ln>
                <a:noFill/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7181850" y="1600200"/>
                <a:ext cx="209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9525">
                    <a:moveTo>
                      <a:pt x="0" y="0"/>
                    </a:moveTo>
                    <a:lnTo>
                      <a:pt x="209550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7181850" y="167640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7181850" y="17526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8000"/>
                  </a:srgbClr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4603623" y="1557814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02 系统开发说明书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05147" y="1847374"/>
              <a:ext cx="2503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架构设计、分层职责、模块说明、目录结构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5338" y="2074545"/>
              <a:ext cx="2211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9 层架构 · 16 API 路由 · 20+ 服务模块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001000" y="1333500"/>
            <a:ext cx="3238500" cy="1047750"/>
            <a:chOff x="8001000" y="1333500"/>
            <a:chExt cx="3238500" cy="1047750"/>
          </a:xfrm>
        </p:grpSpPr>
        <p:sp>
          <p:nvSpPr>
            <p:cNvPr id="32" name="Rectangle 32"/>
            <p:cNvSpPr/>
            <p:nvPr/>
          </p:nvSpPr>
          <p:spPr>
            <a:xfrm>
              <a:off x="8001000" y="1333500"/>
              <a:ext cx="323850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8001000" y="1333500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10763250" y="1524000"/>
              <a:ext cx="285750" cy="361950"/>
              <a:chOff x="10763250" y="1524000"/>
              <a:chExt cx="285750" cy="3619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10763250" y="1524000"/>
                <a:ext cx="285750" cy="361950"/>
              </a:xfrm>
              <a:prstGeom prst="roundRect">
                <a:avLst>
                  <a:gd name="adj" fmla="val 6667"/>
                </a:avLst>
              </a:prstGeom>
              <a:solidFill>
                <a:schemeClr val="accent1">
                  <a:alpha val="8000"/>
                </a:schemeClr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0853383" y="163258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>
                        <a:alphaMod val="8000"/>
                      </a:srgbClr>
                    </a:solidFill>
                    <a:latin typeface="Inter"/>
                    <a:ea typeface="Inter"/>
                    <a:cs typeface="Inter"/>
                  </a:rPr>
                  <a:t>✓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23123" y="1557814"/>
              <a:ext cx="11114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03 测试说明书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4647" y="1847374"/>
              <a:ext cx="23724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测试策略、测试用例、执行结果、覆盖率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24838" y="2074545"/>
              <a:ext cx="18753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188 pytest passed · 32 测试文件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2619375"/>
            <a:ext cx="3238500" cy="1047750"/>
            <a:chOff x="762000" y="2619375"/>
            <a:chExt cx="3238500" cy="1047750"/>
          </a:xfrm>
        </p:grpSpPr>
        <p:sp>
          <p:nvSpPr>
            <p:cNvPr id="41" name="Rectangle 41"/>
            <p:cNvSpPr/>
            <p:nvPr/>
          </p:nvSpPr>
          <p:spPr>
            <a:xfrm>
              <a:off x="762000" y="2619375"/>
              <a:ext cx="323850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62000" y="2619375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3524250" y="2809875"/>
              <a:ext cx="285750" cy="361950"/>
              <a:chOff x="3524250" y="2809875"/>
              <a:chExt cx="285750" cy="3619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3524250" y="2809875"/>
                <a:ext cx="285750" cy="361950"/>
              </a:xfrm>
              <a:prstGeom prst="roundRect">
                <a:avLst>
                  <a:gd name="adj" fmla="val 6667"/>
                </a:avLst>
              </a:prstGeom>
              <a:solidFill>
                <a:schemeClr val="accent2">
                  <a:alpha val="8000"/>
                </a:schemeClr>
              </a:solidFill>
              <a:ln>
                <a:noFill/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3619500" y="2905125"/>
                <a:ext cx="95250" cy="95250"/>
              </a:xfrm>
              <a:prstGeom prst="ellipse">
                <a:avLst/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3600450" y="2952750"/>
                <a:ext cx="133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0">
                    <a:moveTo>
                      <a:pt x="0" y="95250"/>
                    </a:moveTo>
                    <a:lnTo>
                      <a:pt x="133350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8000"/>
                  </a:srgbClr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984123" y="2843689"/>
              <a:ext cx="11114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04 部署说明书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5647" y="3133249"/>
              <a:ext cx="2503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部署架构、环境要求、启动方式、配置说明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5838" y="3360420"/>
              <a:ext cx="2018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Windows 一键启动 · 前后端分离部署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381500" y="2619375"/>
            <a:ext cx="3238500" cy="1047750"/>
            <a:chOff x="4381500" y="2619375"/>
            <a:chExt cx="3238500" cy="1047750"/>
          </a:xfrm>
        </p:grpSpPr>
        <p:sp>
          <p:nvSpPr>
            <p:cNvPr id="51" name="Rectangle 51"/>
            <p:cNvSpPr/>
            <p:nvPr/>
          </p:nvSpPr>
          <p:spPr>
            <a:xfrm>
              <a:off x="4381500" y="2619375"/>
              <a:ext cx="323850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4381500" y="2619375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143750" y="2809875"/>
              <a:ext cx="285750" cy="361950"/>
              <a:chOff x="7143750" y="2809875"/>
              <a:chExt cx="285750" cy="36195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7143750" y="2809875"/>
                <a:ext cx="285750" cy="361950"/>
              </a:xfrm>
              <a:prstGeom prst="roundRect">
                <a:avLst>
                  <a:gd name="adj" fmla="val 6667"/>
                </a:avLst>
              </a:prstGeom>
              <a:solidFill>
                <a:schemeClr val="accent1">
                  <a:alpha val="8000"/>
                </a:schemeClr>
              </a:solidFill>
              <a:ln>
                <a:noFill/>
              </a:ln>
            </p:spPr>
          </p:sp>
          <p:sp>
            <p:nvSpPr>
              <p:cNvPr id="54" name="Line 54"/>
              <p:cNvSpPr/>
              <p:nvPr/>
            </p:nvSpPr>
            <p:spPr>
              <a:xfrm>
                <a:off x="7219950" y="2924175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55" name="Line 55"/>
              <p:cNvSpPr/>
              <p:nvPr/>
            </p:nvSpPr>
            <p:spPr>
              <a:xfrm>
                <a:off x="7219950" y="3000375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56" name="Line 56"/>
              <p:cNvSpPr/>
              <p:nvPr/>
            </p:nvSpPr>
            <p:spPr>
              <a:xfrm>
                <a:off x="7219950" y="3076575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8000"/>
                  </a:srgbClr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4603623" y="2843689"/>
              <a:ext cx="12830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05 用户操作手册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605147" y="3133249"/>
              <a:ext cx="2503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功能说明、操作步骤、常见问题、系统截图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605338" y="3360420"/>
              <a:ext cx="18329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30+ 页面 · 70+ 组件完整操作指南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8001000" y="2619375"/>
            <a:ext cx="3238500" cy="1047750"/>
            <a:chOff x="8001000" y="2619375"/>
            <a:chExt cx="3238500" cy="1047750"/>
          </a:xfrm>
        </p:grpSpPr>
        <p:sp>
          <p:nvSpPr>
            <p:cNvPr id="62" name="Rectangle 62"/>
            <p:cNvSpPr/>
            <p:nvPr/>
          </p:nvSpPr>
          <p:spPr>
            <a:xfrm>
              <a:off x="8001000" y="2619375"/>
              <a:ext cx="323850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001000" y="2619375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10810875" y="2857500"/>
              <a:ext cx="190500" cy="285750"/>
              <a:chOff x="10810875" y="2857500"/>
              <a:chExt cx="190500" cy="28575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10810875" y="2857500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95250" y="0"/>
                    </a:lnTo>
                    <a:lnTo>
                      <a:pt x="190500" y="95250"/>
                    </a:lnTo>
                  </a:path>
                </a:pathLst>
              </a:custGeom>
              <a:noFill/>
              <a:ln w="19050">
                <a:solidFill>
                  <a:schemeClr val="accent2">
                    <a:alpha val="8000"/>
                  </a:schemeClr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10810875" y="3048000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0"/>
                    </a:moveTo>
                    <a:lnTo>
                      <a:pt x="95250" y="95250"/>
                    </a:ln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chemeClr val="accent2">
                    <a:alpha val="8000"/>
                  </a:schemeClr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8223123" y="2843689"/>
              <a:ext cx="13277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06 开源与AI说明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224647" y="3133249"/>
              <a:ext cx="19534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第三方依赖、AI Coding 使用说明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24838" y="3360420"/>
              <a:ext cx="22690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THIRD_PARTY_LICENSES · 开发工具声明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62000" y="4000500"/>
            <a:ext cx="10668000" cy="841057"/>
            <a:chOff x="762000" y="4000500"/>
            <a:chExt cx="10668000" cy="841057"/>
          </a:xfrm>
        </p:grpSpPr>
        <p:sp>
          <p:nvSpPr>
            <p:cNvPr id="71" name="Rectangle 71"/>
            <p:cNvSpPr/>
            <p:nvPr/>
          </p:nvSpPr>
          <p:spPr>
            <a:xfrm>
              <a:off x="762000" y="4000500"/>
              <a:ext cx="10668000" cy="809625"/>
            </a:xfrm>
            <a:prstGeom prst="roundRect">
              <a:avLst>
                <a:gd name="adj" fmla="val 941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62000" y="4000500"/>
              <a:ext cx="57150" cy="80962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84885" y="4164806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技术栈总览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990600" y="4400550"/>
              <a:ext cx="10248900" cy="9525"/>
            </a:xfrm>
            <a:custGeom>
              <a:avLst/>
              <a:gdLst/>
              <a:ahLst/>
              <a:cxnLst/>
              <a:rect l="l" t="t" r="r" b="b"/>
              <a:pathLst>
                <a:path w="10248900" h="9525">
                  <a:moveTo>
                    <a:pt x="0" y="0"/>
                  </a:moveTo>
                  <a:lnTo>
                    <a:pt x="102489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85838" y="4522470"/>
              <a:ext cx="42378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前端：Vue 3 + TypeScript + Element Plus + CodeMirror + Mermaid + D3.js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85838" y="4665345"/>
              <a:ext cx="57274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后端：FastAPI + Python + SQLAlchemy 2.0 | AI：讯飞星火 + 自研 DAG | OJ：subprocess + GDB + AST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23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5962650" y="0"/>
            <a:ext cx="266700" cy="6858000"/>
          </a:xfrm>
          <a:custGeom>
            <a:avLst/>
            <a:gdLst/>
            <a:ahLst/>
            <a:cxnLst/>
            <a:rect l="l" t="t" r="r" b="b"/>
            <a:pathLst>
              <a:path w="266700" h="6858000">
                <a:moveTo>
                  <a:pt x="0" y="0"/>
                </a:moveTo>
                <a:lnTo>
                  <a:pt x="266700" y="0"/>
                </a:lnTo>
                <a:lnTo>
                  <a:pt x="2667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742950" y="1451610"/>
            <a:ext cx="2867854" cy="1968246"/>
            <a:chOff x="742950" y="1451610"/>
            <a:chExt cx="2867854" cy="1968246"/>
          </a:xfrm>
        </p:grpSpPr>
        <p:sp>
          <p:nvSpPr>
            <p:cNvPr id="5" name="TextBox 5"/>
            <p:cNvSpPr txBox="1"/>
            <p:nvPr/>
          </p:nvSpPr>
          <p:spPr>
            <a:xfrm>
              <a:off x="742950" y="1451610"/>
              <a:ext cx="286785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Thank You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5142" y="2283142"/>
              <a:ext cx="1918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Inter"/>
                  <a:ea typeface="Microsoft YaHei"/>
                  <a:cs typeface="Inter"/>
                </a:rPr>
                <a:t>AlgoPilot — 算法领航员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26670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5904" y="2918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从不会到掌握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5904" y="3185160"/>
              <a:ext cx="25476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AlgoPilot 陪每个学习者走过每一步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56666" y="5792152"/>
            <a:ext cx="15116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2"/>
                </a:solidFill>
                <a:latin typeface="Inter"/>
                <a:ea typeface="Microsoft YaHei"/>
                <a:cs typeface="Inter"/>
              </a:rPr>
              <a:t>软件杯 A3 赛题 · 2026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191500" y="1524000"/>
            <a:ext cx="2286000" cy="2286000"/>
            <a:chOff x="8191500" y="1524000"/>
            <a:chExt cx="2286000" cy="2286000"/>
          </a:xfrm>
        </p:grpSpPr>
        <p:sp>
          <p:nvSpPr>
            <p:cNvPr id="12" name="Ellipse 12"/>
            <p:cNvSpPr/>
            <p:nvPr/>
          </p:nvSpPr>
          <p:spPr>
            <a:xfrm>
              <a:off x="8191500" y="1524000"/>
              <a:ext cx="2286000" cy="2286000"/>
            </a:xfrm>
            <a:prstGeom prst="ellipse">
              <a:avLst/>
            </a:pr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8572500" y="1905000"/>
              <a:ext cx="1524000" cy="1524000"/>
            </a:xfrm>
            <a:prstGeom prst="ellipse">
              <a:avLst/>
            </a:pr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8953500" y="2286000"/>
              <a:ext cx="762000" cy="762000"/>
            </a:xfrm>
            <a:prstGeom prst="ellipse">
              <a:avLst/>
            </a:pr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9191625" y="2524125"/>
              <a:ext cx="285750" cy="28575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8191500" y="26670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4762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9334500" y="15240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4762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0115550" y="3448050"/>
              <a:ext cx="57150" cy="5715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8496300" y="3448050"/>
              <a:ext cx="57150" cy="5715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115550" y="1828800"/>
              <a:ext cx="57150" cy="5715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8496300" y="1828800"/>
              <a:ext cx="57150" cy="5715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1019358" y="6427470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24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E2024"/>
      </a:dk1>
      <a:lt1>
        <a:srgbClr val="F7F8FA"/>
      </a:lt1>
      <a:dk2>
        <a:srgbClr val="6B7280"/>
      </a:dk2>
      <a:lt2>
        <a:srgbClr val="EDF0F5"/>
      </a:lt2>
      <a:accent1>
        <a:srgbClr val="1B2A4A"/>
      </a:accent1>
      <a:accent2>
        <a:srgbClr val="2D7DD2"/>
      </a:accent2>
      <a:accent3>
        <a:srgbClr val="4A9FE5"/>
      </a:accent3>
      <a:accent4>
        <a:srgbClr val="D1D5DB"/>
      </a:accent4>
      <a:accent5>
        <a:srgbClr val="9CA3AF"/>
      </a:accent5>
      <a:accent6>
        <a:srgbClr val="10B981"/>
      </a:accent6>
      <a:hlink>
        <a:srgbClr val="2D7DD2"/>
      </a:hlink>
      <a:folHlink>
        <a:srgbClr val="4A9FE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2026-07-12T10:30:23Z</dcterms:created>
  <dcterms:modified xsi:type="dcterms:W3CDTF">2026-07-12T10:30:23Z</dcterms:modified>
  <cp:category/>
  <cp:contentStatus/>
</cp:coreProperties>
</file>