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AlgoPilot 不是一个只会回答问题的聊天机器人，也不只是一个在线判题系统。我们的目标是让每一次错误留下证据，让系统记住学生当前的状态、解释错误发生在哪里，并据此决定下一步学什么。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算法学习效率低，根因往往不是工具太少，而是学习链路彼此断裂。概念理解、刷题、OJ 结果、错误记忆和教师反馈各自存在，但数据无法连续流动，所以学生反复犯错，教师也难以看到个体薄弱点。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AlgoPilot 把学习过程统一为六个不重复阶段：动态画像、路径规划、资源生成、训练执行、诊断评估和动态调整。最关键的是动态调整会重新写回画像与路径，因此闭环不是画出来的循环，而是状态真正发生了变化。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这套闭环已经落到真实系统界面，而不是停留在概念方案。首页把学习路径、在线 OJ、学习画像和学习资料放在同一个入口中，接下来展示的所有截图都来自同一冻结版本，没有使用 AI 重绘界面。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一次错误在 AlgoPilot 中会进入后续教学决策。当前默认配置下，连续失败达到三次会触发评估、事件广播和路径调整，修正为 AC 后再更新掌握度与画像；这个阈值是当前工程配置，不被表述为普适教学规律。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侧的答疑、诊断、错因和薄弱点会沉淀为同一条学习证据链，教师端读取的是这些记录的聚合结果。截图也保留了当前真实边界：看板入口能够运行，但当后端教学数据服务未就绪时，页面明确显示暂时无法加载，而不是展示虚构指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真正的系统核心不是前后端分离，而是所有 AI 请求都必须经过统一编排、知识检索、校验和安全治理。前端使用 Vue 3 与 TypeScript，后端使用 FastAPI，自研 DAG Orchestrator 连接 BM25、OJ、数据层和兼容的模型接口。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多智能体的价值来自职责边界，而不是数量。当前注册表有二十二个节点，按画像、资源、路径、辅导、安全和评估六层协作，其中二十个已有实现；PptAgent 与 VideoScriptAgent 只是规划节点，不能当作已完成功能宣传。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资源生成不是把所有任务同时启动，而是按数据依赖组织四阶段 DAG。文档摘要先支持思维导图和练习并行生成，再由练习重点进入代码案例，最后让 Trace 动画与扩展阅读并行；当前注册六类资源，其中五类是 A3 核心展示资源。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个性化不是一句临时提示词，而是持续更新的持久化状态。六维画像、学习记忆、掌握度和路径计划共同决定节点状态，当学生持续受挫时，系统能够把错误记忆写回并插入巩固节点。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Trace 的价值是让学生看到自己的代码如何一步步走向错误。Python 使用行级追踪，C++ 使用 GDB MI 与状态提取，两条技术轨道最终归一为统一事件协议，再交给十三类可视化组件；二百步是当前实现上限，用于控制追踪规模。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学生从写代码、运行、提交到可视化调试和 AI 深度诊断，都在同一个工作台完成。当前支持 Python 和 C++，题目默认超时三秒是工程配置；这里仍然是课程学习场景的轻量环境，不等同于公共生产级代码沙箱。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内容可靠性和代码执行安全必须分开治理。内容链使用 BM25 检索、生成校验与安全审查，当前默认 top_k 为四、校验失败最多重试两次；执行链使用 AST 门闸、超时、输出截断和 Trace 步数限制，生产部署仍需补充容器隔离与判题队列。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系统能够记住学生，前提是不会混淆学生。JWT 身份和角色是数据访问根节点，服务端从认证上下文解析用户身份，不接受客户端指定 user_id；当前冻结仓库包含八张 ORM 表，学生操作自身数据，教师只读取班级聚合结果。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我们对照 A3 要求时，不只展示功能名称，还给出代码、API、数据表或页面状态证据。画像、五类核心资源、路径、智能辅导、效果评估以及多智能体、RAG 和模型接口，都能够回到具体实现位置核验。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真正的创新不是再次解释某一个功能，而是四个机制共同改变学习过程。轻量 DAG 让并行可解释，统一 Trace 让错误过程可复盘，三重内容治理让生成有依据，失败事件闭环则让一次 WA 直接改变下一步路径。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归档测试快照显示，一百八十八个后端用例全部通过，失败数为零，同时前端类型检查与生产构建通过。需要主动说明的是，归档快照没有记录 Git commit；在二零二六年七月十三日的当前提交上重跑得到一百九十个通过，因此两次快照不混为同一版本结论。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项目完成度由四类资产共同证明，而不是靠一组互不相关的数字。产品界面、课程题库、OJ 与 Trace 实践、API 与数据工程都绑定同一个冻结提交和统计日期，主数字分别来自目录与代码扫描，可重复核验。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AlgoPilot 当前能够运行核心学习链路，也能够直接演示主页、学习路径和 OJ 工作台，但这不等于已经生产化。学生、教师和课程建设价值已经有可运行基础；容器级沙箱、HTTPS、监控告警、备份、高并发和判题队列明确属于后续升级项。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最后回到 AlgoPilot 的核心主张：让错误留下证据，让系统知道下一步。我们希望把学生的一次挫败，从一个结束状态，变成画像更新、诊断反馈和下一段学习路径的可靠依据。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71d36e6f6fa0f888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9de8fd4e5c7dd8a5.jpg"/>
  <Relationship Id="rId3" Type="http://schemas.openxmlformats.org/officeDocument/2006/relationships/image" Target="../media/image_0c78de261ca0fdda.pn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2435767728152700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e71ea7701fac37be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34849558235f6dea.jp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71d36e6f6fa0f888.jpg"/>
  <Relationship Id="rId3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6858000" cy="6858000"/>
            </a:xfrm>
            <a:prstGeom prst="rect">
              <a:avLst/>
            </a:prstGeom>
            <a:solidFill>
              <a:schemeClr val="lt1">
                <a:alpha val="57999"/>
              </a:scheme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1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9600" y="567690"/>
            <a:ext cx="4616105" cy="352044"/>
            <a:chOff x="609600" y="567690"/>
            <a:chExt cx="4616105" cy="352044"/>
          </a:xfrm>
        </p:grpSpPr>
        <p:sp>
          <p:nvSpPr>
            <p:cNvPr id="6" name="Line 6"/>
            <p:cNvSpPr/>
            <p:nvPr/>
          </p:nvSpPr>
          <p:spPr>
            <a:xfrm>
              <a:off x="609600" y="6858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62456" y="567690"/>
              <a:ext cx="38632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7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ALGORITHM LEARNING SYSTEM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325880"/>
            <a:ext cx="4005636" cy="1713547"/>
            <a:chOff x="590550" y="1325880"/>
            <a:chExt cx="4005636" cy="1713547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325880"/>
              <a:ext cx="400563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AlgoPilot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650" y="224885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算法领航员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47700" y="3009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31698" y="3260408"/>
            <a:ext cx="5072634" cy="1187577"/>
            <a:chOff x="631698" y="3260408"/>
            <a:chExt cx="5072634" cy="1187577"/>
          </a:xfrm>
        </p:grpSpPr>
        <p:sp>
          <p:nvSpPr>
            <p:cNvPr id="13" name="TextBox 13"/>
            <p:cNvSpPr txBox="1"/>
            <p:nvPr/>
          </p:nvSpPr>
          <p:spPr>
            <a:xfrm>
              <a:off x="631698" y="3260408"/>
              <a:ext cx="5072634" cy="11875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500"/>
                </a:lnSpc>
              </a:pPr>
              <a:r>
                <a:rPr lang="zh-CN" sz="31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面向《数据结构与算法》的</a:t>
              </a:r>
              <a:br/>
              <a:r>
                <a:rPr lang="zh-CN" sz="31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多智能体智能学习平台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7700" y="4895850"/>
            <a:ext cx="3086862" cy="934212"/>
            <a:chOff x="647700" y="4895850"/>
            <a:chExt cx="3086862" cy="934212"/>
          </a:xfrm>
        </p:grpSpPr>
        <p:sp>
          <p:nvSpPr>
            <p:cNvPr id="15" name="Rectangle 15"/>
            <p:cNvSpPr/>
            <p:nvPr/>
          </p:nvSpPr>
          <p:spPr>
            <a:xfrm>
              <a:off x="647700" y="4895850"/>
              <a:ext cx="57150" cy="781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1258" y="4922520"/>
              <a:ext cx="281330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记住状态 · 解释错误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据此重规划下一步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6286500"/>
            <a:ext cx="11125200" cy="423101"/>
            <a:chOff x="533400" y="6286500"/>
            <a:chExt cx="11125200" cy="423101"/>
          </a:xfrm>
        </p:grpSpPr>
        <p:sp>
          <p:nvSpPr>
            <p:cNvPr id="18" name="Line 18"/>
            <p:cNvSpPr/>
            <p:nvPr/>
          </p:nvSpPr>
          <p:spPr>
            <a:xfrm>
              <a:off x="533400" y="6286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2742" y="6445568"/>
              <a:ext cx="1501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软件杯 A3 · 2026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667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1866900"/>
            <a:ext cx="11125200" cy="3619500"/>
          </a:xfrm>
          <a:custGeom>
            <a:avLst/>
            <a:gdLst/>
            <a:ahLst/>
            <a:cxnLst/>
            <a:rect l="l" t="t" r="r" b="b"/>
            <a:pathLst>
              <a:path w="11125200" h="3619500">
                <a:moveTo>
                  <a:pt x="0" y="190500"/>
                </a:moveTo>
                <a:lnTo>
                  <a:pt x="11125200" y="190500"/>
                </a:lnTo>
                <a:moveTo>
                  <a:pt x="0" y="952500"/>
                </a:moveTo>
                <a:lnTo>
                  <a:pt x="11125200" y="952500"/>
                </a:lnTo>
                <a:moveTo>
                  <a:pt x="0" y="1714500"/>
                </a:moveTo>
                <a:lnTo>
                  <a:pt x="11125200" y="1714500"/>
                </a:lnTo>
                <a:moveTo>
                  <a:pt x="0" y="2476500"/>
                </a:moveTo>
                <a:lnTo>
                  <a:pt x="11125200" y="2476500"/>
                </a:lnTo>
                <a:moveTo>
                  <a:pt x="0" y="3238500"/>
                </a:moveTo>
                <a:lnTo>
                  <a:pt x="11125200" y="3238500"/>
                </a:lnTo>
                <a:moveTo>
                  <a:pt x="990600" y="0"/>
                </a:moveTo>
                <a:lnTo>
                  <a:pt x="990600" y="3619500"/>
                </a:lnTo>
                <a:moveTo>
                  <a:pt x="2514600" y="0"/>
                </a:moveTo>
                <a:lnTo>
                  <a:pt x="2514600" y="3619500"/>
                </a:lnTo>
                <a:moveTo>
                  <a:pt x="4038600" y="0"/>
                </a:moveTo>
                <a:lnTo>
                  <a:pt x="4038600" y="3619500"/>
                </a:lnTo>
                <a:moveTo>
                  <a:pt x="5562600" y="0"/>
                </a:moveTo>
                <a:lnTo>
                  <a:pt x="5562600" y="3619500"/>
                </a:lnTo>
                <a:moveTo>
                  <a:pt x="7086600" y="0"/>
                </a:moveTo>
                <a:lnTo>
                  <a:pt x="7086600" y="3619500"/>
                </a:lnTo>
                <a:moveTo>
                  <a:pt x="8610600" y="0"/>
                </a:moveTo>
                <a:lnTo>
                  <a:pt x="8610600" y="3619500"/>
                </a:lnTo>
                <a:moveTo>
                  <a:pt x="10134600" y="0"/>
                </a:moveTo>
                <a:lnTo>
                  <a:pt x="10134600" y="3619500"/>
                </a:lnTo>
              </a:path>
            </a:pathLst>
          </a:custGeom>
          <a:noFill/>
          <a:ln w="9525">
            <a:solidFill>
              <a:schemeClr val="accent6">
                <a:alpha val="5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4350" y="381952"/>
            <a:ext cx="11153394" cy="1381125"/>
            <a:chOff x="514350" y="381952"/>
            <a:chExt cx="11153394" cy="1381125"/>
          </a:xfrm>
        </p:grpSpPr>
        <p:sp>
          <p:nvSpPr>
            <p:cNvPr id="3" name="TextBox 3"/>
            <p:cNvSpPr txBox="1"/>
            <p:nvPr/>
          </p:nvSpPr>
          <p:spPr>
            <a:xfrm>
              <a:off x="514350" y="381952"/>
              <a:ext cx="576281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五个痛点，本质是一条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4350" y="972502"/>
              <a:ext cx="347292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断裂的学习链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9525000" y="8001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985248" y="491490"/>
              <a:ext cx="16824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PROBLEM / 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1208" y="1607820"/>
            <a:ext cx="10686288" cy="469392"/>
            <a:chOff x="521208" y="1607820"/>
            <a:chExt cx="10686288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521208" y="1607820"/>
              <a:ext cx="106862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不是缺少工具，而是概念、练习、诊断、记忆与教学反馈没有接成一条链。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840" y="3733800"/>
            <a:ext cx="11203686" cy="729234"/>
            <a:chOff x="624840" y="3733800"/>
            <a:chExt cx="11203686" cy="729234"/>
          </a:xfrm>
        </p:grpSpPr>
        <p:sp>
          <p:nvSpPr>
            <p:cNvPr id="10" name="Freeform 10"/>
            <p:cNvSpPr/>
            <p:nvPr/>
          </p:nvSpPr>
          <p:spPr>
            <a:xfrm>
              <a:off x="876300" y="3829050"/>
              <a:ext cx="10458450" cy="9525"/>
            </a:xfrm>
            <a:custGeom>
              <a:avLst/>
              <a:gdLst/>
              <a:ahLst/>
              <a:cxnLst/>
              <a:rect l="l" t="t" r="r" b="b"/>
              <a:pathLst>
                <a:path w="10458450" h="9525">
                  <a:moveTo>
                    <a:pt x="0" y="0"/>
                  </a:moveTo>
                  <a:lnTo>
                    <a:pt x="1524000" y="0"/>
                  </a:lnTo>
                  <a:moveTo>
                    <a:pt x="1828800" y="0"/>
                  </a:moveTo>
                  <a:lnTo>
                    <a:pt x="3352800" y="0"/>
                  </a:lnTo>
                  <a:moveTo>
                    <a:pt x="3657600" y="0"/>
                  </a:moveTo>
                  <a:lnTo>
                    <a:pt x="5181600" y="0"/>
                  </a:lnTo>
                  <a:moveTo>
                    <a:pt x="5486400" y="0"/>
                  </a:moveTo>
                  <a:lnTo>
                    <a:pt x="7010400" y="0"/>
                  </a:lnTo>
                  <a:moveTo>
                    <a:pt x="7315200" y="0"/>
                  </a:moveTo>
                  <a:lnTo>
                    <a:pt x="8839200" y="0"/>
                  </a:lnTo>
                  <a:moveTo>
                    <a:pt x="9144000" y="0"/>
                  </a:moveTo>
                  <a:lnTo>
                    <a:pt x="1045845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1182350" y="37433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3733800"/>
              <a:ext cx="190500" cy="1905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239500" y="3733800"/>
              <a:ext cx="190500" cy="1905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4840" y="4110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40974" y="4110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教学反馈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21917" y="2350770"/>
            <a:ext cx="1956816" cy="1649730"/>
            <a:chOff x="1621917" y="2350770"/>
            <a:chExt cx="1956816" cy="1649730"/>
          </a:xfrm>
        </p:grpSpPr>
        <p:sp>
          <p:nvSpPr>
            <p:cNvPr id="17" name="Freeform 17"/>
            <p:cNvSpPr/>
            <p:nvPr/>
          </p:nvSpPr>
          <p:spPr>
            <a:xfrm>
              <a:off x="25527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600325" y="29337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09648" y="23507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概念抽象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21917" y="27393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难以形成结构理解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450717" y="3600450"/>
            <a:ext cx="1956816" cy="2005584"/>
            <a:chOff x="3450717" y="3600450"/>
            <a:chExt cx="1956816" cy="2005584"/>
          </a:xfrm>
        </p:grpSpPr>
        <p:sp>
          <p:nvSpPr>
            <p:cNvPr id="22" name="Freeform 22"/>
            <p:cNvSpPr/>
            <p:nvPr/>
          </p:nvSpPr>
          <p:spPr>
            <a:xfrm>
              <a:off x="43815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429125" y="41719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68827" y="48463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刷题无方向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50717" y="5253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练习与薄弱点脱节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42088" y="2350770"/>
            <a:ext cx="2031675" cy="1649730"/>
            <a:chOff x="5242088" y="2350770"/>
            <a:chExt cx="2031675" cy="1649730"/>
          </a:xfrm>
        </p:grpSpPr>
        <p:sp>
          <p:nvSpPr>
            <p:cNvPr id="27" name="Freeform 27"/>
            <p:cNvSpPr/>
            <p:nvPr/>
          </p:nvSpPr>
          <p:spPr>
            <a:xfrm>
              <a:off x="62103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257925" y="29337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42088" y="2350770"/>
              <a:ext cx="20316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OJ 只给结果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0665" y="2739390"/>
              <a:ext cx="18745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6B6B"/>
                  </a:solidFill>
                  <a:latin typeface="Consolas"/>
                  <a:ea typeface="Microsoft YaHei"/>
                  <a:cs typeface="Consolas"/>
                </a:rPr>
                <a:t>WA / TLE ≠ 原因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87159" y="3600450"/>
            <a:ext cx="2199132" cy="2005584"/>
            <a:chOff x="6987159" y="3600450"/>
            <a:chExt cx="2199132" cy="2005584"/>
          </a:xfrm>
        </p:grpSpPr>
        <p:sp>
          <p:nvSpPr>
            <p:cNvPr id="32" name="Freeform 32"/>
            <p:cNvSpPr/>
            <p:nvPr/>
          </p:nvSpPr>
          <p:spPr>
            <a:xfrm>
              <a:off x="80391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086725" y="41719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96048" y="48463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记录散落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87159" y="52539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错误不能沉淀为记忆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937117" y="2350770"/>
            <a:ext cx="1956816" cy="1649730"/>
            <a:chOff x="8937117" y="2350770"/>
            <a:chExt cx="1956816" cy="1649730"/>
          </a:xfrm>
        </p:grpSpPr>
        <p:sp>
          <p:nvSpPr>
            <p:cNvPr id="37" name="Freeform 37"/>
            <p:cNvSpPr/>
            <p:nvPr/>
          </p:nvSpPr>
          <p:spPr>
            <a:xfrm>
              <a:off x="98679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915525" y="29337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55227" y="23507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个体不可见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37117" y="27393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教师难定位薄弱点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526542" y="63884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证据边界：课程观察、公开场景分析、团队经历与现有平台功能对比；不使用虚构调研比例。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1333500"/>
            <a:ext cx="11125200" cy="4476750"/>
          </a:xfrm>
          <a:custGeom>
            <a:avLst/>
            <a:gdLst/>
            <a:ahLst/>
            <a:cxnLst/>
            <a:rect l="l" t="t" r="r" b="b"/>
            <a:pathLst>
              <a:path w="11125200" h="4476750">
                <a:moveTo>
                  <a:pt x="0" y="190500"/>
                </a:moveTo>
                <a:lnTo>
                  <a:pt x="11125200" y="190500"/>
                </a:lnTo>
                <a:moveTo>
                  <a:pt x="0" y="952500"/>
                </a:moveTo>
                <a:lnTo>
                  <a:pt x="11125200" y="952500"/>
                </a:lnTo>
                <a:moveTo>
                  <a:pt x="0" y="1714500"/>
                </a:moveTo>
                <a:lnTo>
                  <a:pt x="11125200" y="1714500"/>
                </a:lnTo>
                <a:moveTo>
                  <a:pt x="0" y="2476500"/>
                </a:moveTo>
                <a:lnTo>
                  <a:pt x="11125200" y="2476500"/>
                </a:lnTo>
                <a:moveTo>
                  <a:pt x="0" y="3238500"/>
                </a:moveTo>
                <a:lnTo>
                  <a:pt x="11125200" y="3238500"/>
                </a:lnTo>
                <a:moveTo>
                  <a:pt x="0" y="4000500"/>
                </a:moveTo>
                <a:lnTo>
                  <a:pt x="11125200" y="4000500"/>
                </a:lnTo>
                <a:moveTo>
                  <a:pt x="990600" y="0"/>
                </a:moveTo>
                <a:lnTo>
                  <a:pt x="990600" y="4476750"/>
                </a:lnTo>
                <a:moveTo>
                  <a:pt x="2514600" y="0"/>
                </a:moveTo>
                <a:lnTo>
                  <a:pt x="2514600" y="4476750"/>
                </a:lnTo>
                <a:moveTo>
                  <a:pt x="4038600" y="0"/>
                </a:moveTo>
                <a:lnTo>
                  <a:pt x="4038600" y="4476750"/>
                </a:lnTo>
                <a:moveTo>
                  <a:pt x="5562600" y="0"/>
                </a:moveTo>
                <a:lnTo>
                  <a:pt x="5562600" y="4476750"/>
                </a:lnTo>
                <a:moveTo>
                  <a:pt x="7086600" y="0"/>
                </a:moveTo>
                <a:lnTo>
                  <a:pt x="7086600" y="4476750"/>
                </a:lnTo>
                <a:moveTo>
                  <a:pt x="8610600" y="0"/>
                </a:moveTo>
                <a:lnTo>
                  <a:pt x="8610600" y="4476750"/>
                </a:lnTo>
                <a:moveTo>
                  <a:pt x="10134600" y="0"/>
                </a:moveTo>
                <a:lnTo>
                  <a:pt x="10134600" y="4476750"/>
                </a:lnTo>
              </a:path>
            </a:pathLst>
          </a:custGeom>
          <a:noFill/>
          <a:ln w="9525">
            <a:solidFill>
              <a:schemeClr val="accent6">
                <a:alpha val="42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14350" y="362902"/>
            <a:ext cx="11153394" cy="790575"/>
            <a:chOff x="514350" y="362902"/>
            <a:chExt cx="11153394" cy="790575"/>
          </a:xfrm>
        </p:grpSpPr>
        <p:sp>
          <p:nvSpPr>
            <p:cNvPr id="3" name="TextBox 3"/>
            <p:cNvSpPr txBox="1"/>
            <p:nvPr/>
          </p:nvSpPr>
          <p:spPr>
            <a:xfrm>
              <a:off x="514350" y="362902"/>
              <a:ext cx="1034258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六个不重复阶段，组成会自我调整的闭环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34779" y="605790"/>
              <a:ext cx="22329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CLOSED LOOP / 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21208" y="979170"/>
            <a:ext cx="9393936" cy="469392"/>
            <a:chOff x="521208" y="979170"/>
            <a:chExt cx="9393936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521208" y="979170"/>
              <a:ext cx="93939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调整结果不是终点，而是重新写回画像与路径，驱动下一轮学习。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771650" y="1790700"/>
            <a:ext cx="9353550" cy="3029712"/>
            <a:chOff x="1771650" y="1790700"/>
            <a:chExt cx="9353550" cy="3029712"/>
          </a:xfrm>
        </p:grpSpPr>
        <p:sp>
          <p:nvSpPr>
            <p:cNvPr id="8" name="Freeform 8"/>
            <p:cNvSpPr/>
            <p:nvPr/>
          </p:nvSpPr>
          <p:spPr>
            <a:xfrm>
              <a:off x="3676650" y="22098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5238750" y="21336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819900" y="22098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8382000" y="21336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753600" y="2647950"/>
              <a:ext cx="419100" cy="647700"/>
            </a:xfrm>
            <a:custGeom>
              <a:avLst/>
              <a:gdLst/>
              <a:ahLst/>
              <a:cxnLst/>
              <a:rect l="l" t="t" r="r" b="b"/>
              <a:pathLst>
                <a:path w="419100" h="647700">
                  <a:moveTo>
                    <a:pt x="0" y="0"/>
                  </a:moveTo>
                  <a:lnTo>
                    <a:pt x="419100" y="6477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10039350" y="3143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152400"/>
                  </a:moveTo>
                  <a:lnTo>
                    <a:pt x="0" y="76200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772400" y="43434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16954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7772400" y="42672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629150" y="43434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16954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629150" y="42672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019300" y="3257550"/>
              <a:ext cx="419100" cy="647700"/>
            </a:xfrm>
            <a:custGeom>
              <a:avLst/>
              <a:gdLst/>
              <a:ahLst/>
              <a:cxnLst/>
              <a:rect l="l" t="t" r="r" b="b"/>
              <a:pathLst>
                <a:path w="419100" h="647700">
                  <a:moveTo>
                    <a:pt x="419100" y="6477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019300" y="32575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9525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71650" y="1790700"/>
              <a:ext cx="19050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83740" y="19202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3473" y="22174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动态画像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72100" y="1790700"/>
              <a:ext cx="14478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55590" y="19202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05323" y="22174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路径规划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15350" y="1790700"/>
              <a:ext cx="19050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27440" y="19202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77173" y="22174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资源生成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20200" y="3505200"/>
              <a:ext cx="19050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32290" y="36347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82023" y="3931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训练执行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24600" y="3924300"/>
              <a:ext cx="14478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8090" y="40538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PHASE 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7823" y="43510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诊断评估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24150" y="3924300"/>
              <a:ext cx="19050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3810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36240" y="40538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PHASE 06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85973" y="43510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动态调整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24450" y="2362200"/>
            <a:ext cx="1943100" cy="1943100"/>
            <a:chOff x="5124450" y="2362200"/>
            <a:chExt cx="1943100" cy="1943100"/>
          </a:xfrm>
        </p:grpSpPr>
        <p:sp>
          <p:nvSpPr>
            <p:cNvPr id="39" name="Ellipse 39"/>
            <p:cNvSpPr/>
            <p:nvPr/>
          </p:nvSpPr>
          <p:spPr>
            <a:xfrm>
              <a:off x="5124450" y="2362200"/>
              <a:ext cx="1943100" cy="1943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314950" y="2552700"/>
              <a:ext cx="1562100" cy="1562100"/>
            </a:xfrm>
            <a:prstGeom prst="ellipse">
              <a:avLst/>
            </a:prstGeom>
            <a:noFill/>
            <a:ln w="14288">
              <a:solidFill>
                <a:schemeClr val="accent6"/>
              </a:solidFill>
              <a:prstDash val="lgDash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89487" y="29175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学习状态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37632" y="3455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持续更新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9150" y="2133600"/>
            <a:ext cx="5276850" cy="3605784"/>
            <a:chOff x="819150" y="2133600"/>
            <a:chExt cx="5276850" cy="3605784"/>
          </a:xfrm>
        </p:grpSpPr>
        <p:sp>
          <p:nvSpPr>
            <p:cNvPr id="44" name="Freeform 44"/>
            <p:cNvSpPr/>
            <p:nvPr/>
          </p:nvSpPr>
          <p:spPr>
            <a:xfrm>
              <a:off x="819150" y="2152650"/>
              <a:ext cx="1905000" cy="2609850"/>
            </a:xfrm>
            <a:custGeom>
              <a:avLst/>
              <a:gdLst/>
              <a:ahLst/>
              <a:cxnLst/>
              <a:rect l="l" t="t" r="r" b="b"/>
              <a:pathLst>
                <a:path w="1905000" h="2609850">
                  <a:moveTo>
                    <a:pt x="1905000" y="2190750"/>
                  </a:moveTo>
                  <a:cubicBezTo>
                    <a:pt x="171450" y="2609850"/>
                    <a:pt x="0" y="0"/>
                    <a:pt x="952500" y="57150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prstDash val="lgDash"/>
            </a:ln>
          </p:spPr>
        </p:sp>
        <p:sp>
          <p:nvSpPr>
            <p:cNvPr id="45" name="Polygon 45"/>
            <p:cNvSpPr/>
            <p:nvPr/>
          </p:nvSpPr>
          <p:spPr>
            <a:xfrm>
              <a:off x="1638300" y="21336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733550" y="4343400"/>
              <a:ext cx="4362450" cy="1333500"/>
            </a:xfrm>
            <a:custGeom>
              <a:avLst/>
              <a:gdLst/>
              <a:ahLst/>
              <a:cxnLst/>
              <a:rect l="l" t="t" r="r" b="b"/>
              <a:pathLst>
                <a:path w="4362450" h="1333500">
                  <a:moveTo>
                    <a:pt x="990600" y="0"/>
                  </a:moveTo>
                  <a:cubicBezTo>
                    <a:pt x="0" y="1295400"/>
                    <a:pt x="3600450" y="1333500"/>
                    <a:pt x="4362450" y="41910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29106" y="4872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回写画像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24656" y="53873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同步影响下一轮路径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26542" y="6191250"/>
            <a:ext cx="11138916" cy="442151"/>
            <a:chOff x="526542" y="6191250"/>
            <a:chExt cx="11138916" cy="442151"/>
          </a:xfrm>
        </p:grpSpPr>
        <p:sp>
          <p:nvSpPr>
            <p:cNvPr id="50" name="Line 50"/>
            <p:cNvSpPr/>
            <p:nvPr/>
          </p:nvSpPr>
          <p:spPr>
            <a:xfrm>
              <a:off x="533400" y="6191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542" y="6369368"/>
              <a:ext cx="3993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LOOP CONTRACT: phase_06 → portrait + path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42923" y="63693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286702"/>
            <a:ext cx="11153394" cy="1047560"/>
            <a:chOff x="514350" y="286702"/>
            <a:chExt cx="11153394" cy="1047560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86702"/>
              <a:ext cx="862517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这套闭环，已经落到真实系统界面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208" y="86487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核心学习链路已经整合为可操作平台，而非停留在概念方案。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29216" y="529590"/>
              <a:ext cx="19385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PRODUCT PROOF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76350" y="1276350"/>
            <a:ext cx="9639300" cy="5467350"/>
            <a:chOff x="1276350" y="1276350"/>
            <a:chExt cx="9639300" cy="5467350"/>
          </a:xfrm>
        </p:grpSpPr>
        <p:sp>
          <p:nvSpPr>
            <p:cNvPr id="9" name="Rectangle 9"/>
            <p:cNvSpPr/>
            <p:nvPr/>
          </p:nvSpPr>
          <p:spPr>
            <a:xfrm>
              <a:off x="1276350" y="1276350"/>
              <a:ext cx="9639300" cy="54673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3500" y="1333500"/>
              <a:ext cx="9525000" cy="5357812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3295650" y="2105025"/>
            <a:ext cx="1514475" cy="466725"/>
            <a:chOff x="3295650" y="2105025"/>
            <a:chExt cx="1514475" cy="466725"/>
          </a:xfrm>
        </p:grpSpPr>
        <p:sp>
          <p:nvSpPr>
            <p:cNvPr id="12" name="Rectangle 12"/>
            <p:cNvSpPr/>
            <p:nvPr/>
          </p:nvSpPr>
          <p:spPr>
            <a:xfrm>
              <a:off x="3438525" y="2247900"/>
              <a:ext cx="1371600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295650" y="21050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79190" y="2178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57725" y="2105025"/>
            <a:ext cx="1466850" cy="466725"/>
            <a:chOff x="4657725" y="2105025"/>
            <a:chExt cx="1466850" cy="466725"/>
          </a:xfrm>
        </p:grpSpPr>
        <p:sp>
          <p:nvSpPr>
            <p:cNvPr id="16" name="Rectangle 16"/>
            <p:cNvSpPr/>
            <p:nvPr/>
          </p:nvSpPr>
          <p:spPr>
            <a:xfrm>
              <a:off x="4800600" y="2247900"/>
              <a:ext cx="1323975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657725" y="21050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41265" y="2178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91225" y="2105025"/>
            <a:ext cx="1476375" cy="466725"/>
            <a:chOff x="5991225" y="2105025"/>
            <a:chExt cx="1476375" cy="466725"/>
          </a:xfrm>
        </p:grpSpPr>
        <p:sp>
          <p:nvSpPr>
            <p:cNvPr id="20" name="Rectangle 20"/>
            <p:cNvSpPr/>
            <p:nvPr/>
          </p:nvSpPr>
          <p:spPr>
            <a:xfrm>
              <a:off x="6134100" y="2247900"/>
              <a:ext cx="1333500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991225" y="21050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74765" y="2178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24725" y="2105025"/>
            <a:ext cx="1495425" cy="466725"/>
            <a:chOff x="7324725" y="2105025"/>
            <a:chExt cx="1495425" cy="466725"/>
          </a:xfrm>
        </p:grpSpPr>
        <p:sp>
          <p:nvSpPr>
            <p:cNvPr id="24" name="Rectangle 24"/>
            <p:cNvSpPr/>
            <p:nvPr/>
          </p:nvSpPr>
          <p:spPr>
            <a:xfrm>
              <a:off x="7467600" y="2247900"/>
              <a:ext cx="1352550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324725" y="21050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08265" y="2178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33500" y="5943600"/>
            <a:ext cx="9525000" cy="746951"/>
            <a:chOff x="1333500" y="5943600"/>
            <a:chExt cx="9525000" cy="746951"/>
          </a:xfrm>
        </p:grpSpPr>
        <p:sp>
          <p:nvSpPr>
            <p:cNvPr id="28" name="Rectangle 28"/>
            <p:cNvSpPr/>
            <p:nvPr/>
          </p:nvSpPr>
          <p:spPr>
            <a:xfrm>
              <a:off x="1333500" y="5943600"/>
              <a:ext cx="9525000" cy="742950"/>
            </a:xfrm>
            <a:prstGeom prst="rect">
              <a:avLst/>
            </a:prstGeom>
            <a:solidFill>
              <a:schemeClr val="lt1">
                <a:alpha val="94000"/>
              </a:schemeClr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1333500" y="59436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48206" y="60636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86356" y="60636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学习路径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34206" y="60636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72356" y="6063615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 OJ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67806" y="60636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5956" y="60636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学习画像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5706" y="60636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3856" y="60636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学习资料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47381" y="6426518"/>
              <a:ext cx="2903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LOCKED SCREENSHOT · 1680×945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042923" y="64646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04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401002"/>
            <a:ext cx="9385421" cy="1227583"/>
            <a:chOff x="514350" y="401002"/>
            <a:chExt cx="9385421" cy="1227583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401002"/>
              <a:ext cx="886928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 WA，触发的不只是一次提示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1012508"/>
              <a:ext cx="93823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错误被写入事件、记忆、掌握度与下一步路径。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6300" y="3400425"/>
            <a:ext cx="10439400" cy="171450"/>
            <a:chOff x="876300" y="3400425"/>
            <a:chExt cx="10439400" cy="171450"/>
          </a:xfrm>
        </p:grpSpPr>
        <p:sp>
          <p:nvSpPr>
            <p:cNvPr id="5" name="Line 5"/>
            <p:cNvSpPr/>
            <p:nvPr/>
          </p:nvSpPr>
          <p:spPr>
            <a:xfrm>
              <a:off x="876300" y="348615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76300" y="34861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352800" y="3486150"/>
              <a:ext cx="4743450" cy="9525"/>
            </a:xfrm>
            <a:custGeom>
              <a:avLst/>
              <a:gdLst/>
              <a:ahLst/>
              <a:cxnLst/>
              <a:rect l="l" t="t" r="r" b="b"/>
              <a:pathLst>
                <a:path w="4743450" h="9525">
                  <a:moveTo>
                    <a:pt x="0" y="0"/>
                  </a:moveTo>
                  <a:lnTo>
                    <a:pt x="47434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096250" y="348615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11163300" y="34004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38654" y="2484120"/>
            <a:ext cx="1856293" cy="1363980"/>
            <a:chOff x="138654" y="2484120"/>
            <a:chExt cx="1856293" cy="1363980"/>
          </a:xfrm>
        </p:grpSpPr>
        <p:sp>
          <p:nvSpPr>
            <p:cNvPr id="11" name="Ellipse 11"/>
            <p:cNvSpPr/>
            <p:nvPr/>
          </p:nvSpPr>
          <p:spPr>
            <a:xfrm>
              <a:off x="704850" y="3124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rgbClr val="FF6B6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1619" y="3322320"/>
              <a:ext cx="4903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WA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654" y="2484120"/>
              <a:ext cx="1856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连续失败 ≥3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708" y="2910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当前默认配置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81280" y="3314700"/>
            <a:ext cx="1838140" cy="1434084"/>
            <a:chOff x="1881280" y="3314700"/>
            <a:chExt cx="1838140" cy="1434084"/>
          </a:xfrm>
        </p:grpSpPr>
        <p:sp>
          <p:nvSpPr>
            <p:cNvPr id="16" name="Ellipse 16"/>
            <p:cNvSpPr/>
            <p:nvPr/>
          </p:nvSpPr>
          <p:spPr>
            <a:xfrm>
              <a:off x="2628900" y="33147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1280" y="4072890"/>
              <a:ext cx="18381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EvaluatorAgent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5416" y="4396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归因与诊断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81450" y="3143250"/>
            <a:ext cx="1562100" cy="729234"/>
            <a:chOff x="3981450" y="3143250"/>
            <a:chExt cx="1562100" cy="729234"/>
          </a:xfrm>
        </p:grpSpPr>
        <p:sp>
          <p:nvSpPr>
            <p:cNvPr id="20" name="Rectangle 20"/>
            <p:cNvSpPr/>
            <p:nvPr/>
          </p:nvSpPr>
          <p:spPr>
            <a:xfrm>
              <a:off x="3981450" y="3143250"/>
              <a:ext cx="1562100" cy="685800"/>
            </a:xfrm>
            <a:prstGeom prst="roundRect">
              <a:avLst>
                <a:gd name="adj" fmla="val 2778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12717" y="3234690"/>
              <a:ext cx="1099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EventBus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26408" y="3520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失败事件广播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73355" y="2529840"/>
            <a:ext cx="2245390" cy="1127760"/>
            <a:chOff x="5373355" y="2529840"/>
            <a:chExt cx="2245390" cy="1127760"/>
          </a:xfrm>
        </p:grpSpPr>
        <p:sp>
          <p:nvSpPr>
            <p:cNvPr id="24" name="Ellipse 24"/>
            <p:cNvSpPr/>
            <p:nvPr/>
          </p:nvSpPr>
          <p:spPr>
            <a:xfrm>
              <a:off x="6324600" y="33147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73355" y="2529840"/>
              <a:ext cx="2245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LearningPathAgent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59958" y="2853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插入巩固节点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16774" y="3124200"/>
            <a:ext cx="987552" cy="1300734"/>
            <a:chOff x="7716774" y="3124200"/>
            <a:chExt cx="987552" cy="1300734"/>
          </a:xfrm>
        </p:grpSpPr>
        <p:sp>
          <p:nvSpPr>
            <p:cNvPr id="28" name="Ellipse 28"/>
            <p:cNvSpPr/>
            <p:nvPr/>
          </p:nvSpPr>
          <p:spPr>
            <a:xfrm>
              <a:off x="7848600" y="3124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01213" y="33223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6774" y="4072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修正提交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817559" y="2529840"/>
            <a:ext cx="1681582" cy="1127760"/>
            <a:chOff x="8817559" y="2529840"/>
            <a:chExt cx="1681582" cy="1127760"/>
          </a:xfrm>
        </p:grpSpPr>
        <p:sp>
          <p:nvSpPr>
            <p:cNvPr id="32" name="Ellipse 32"/>
            <p:cNvSpPr/>
            <p:nvPr/>
          </p:nvSpPr>
          <p:spPr>
            <a:xfrm>
              <a:off x="9486900" y="33147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17559" y="2529840"/>
              <a:ext cx="16815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MasteryAgent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43416" y="28536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更新掌握度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26778" y="3314700"/>
            <a:ext cx="1888922" cy="1434084"/>
            <a:chOff x="9426778" y="3314700"/>
            <a:chExt cx="1888922" cy="1434084"/>
          </a:xfrm>
        </p:grpSpPr>
        <p:sp>
          <p:nvSpPr>
            <p:cNvPr id="36" name="Ellipse 36"/>
            <p:cNvSpPr/>
            <p:nvPr/>
          </p:nvSpPr>
          <p:spPr>
            <a:xfrm>
              <a:off x="10972800" y="33147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37392" y="4072890"/>
              <a:ext cx="1716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ProfilingAgent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26778" y="4396740"/>
              <a:ext cx="1726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patch 动态画像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1208" y="5314950"/>
            <a:ext cx="11137392" cy="918401"/>
            <a:chOff x="521208" y="5314950"/>
            <a:chExt cx="11137392" cy="918401"/>
          </a:xfrm>
        </p:grpSpPr>
        <p:sp>
          <p:nvSpPr>
            <p:cNvPr id="40" name="Line 40"/>
            <p:cNvSpPr/>
            <p:nvPr/>
          </p:nvSpPr>
          <p:spPr>
            <a:xfrm>
              <a:off x="533400" y="531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1208" y="5494020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阈值机制属于当前工程配置，不代表普适教学规律。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6542" y="5969318"/>
              <a:ext cx="8128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backend/app/schemas/evaluation.py:48 · backend/app/services/agents/evaluation.py:163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042923" y="63884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05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401002"/>
            <a:ext cx="9197645" cy="1123760"/>
            <a:chOff x="514350" y="401002"/>
            <a:chExt cx="9197645" cy="112376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401002"/>
              <a:ext cx="919764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同一条证据链，服务学生也服务教师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5537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学生获得个性化反馈；教师看到同一批学习记录的聚合结果。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6656" y="1863090"/>
            <a:ext cx="3251058" cy="3361944"/>
            <a:chOff x="676656" y="1863090"/>
            <a:chExt cx="3251058" cy="3361944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863090"/>
              <a:ext cx="275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STUDENT EVENT STREAM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47650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26098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7958" y="25412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答疑记录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1006" y="29298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提问、知识点、响应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35814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7958" y="35128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诊断与错因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1006" y="3901440"/>
              <a:ext cx="27367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WA / TLE、Trace、评估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455295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87958" y="44843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薄弱点与掌握度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1006" y="4872990"/>
              <a:ext cx="24535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 patch、路径更新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00500" y="2990850"/>
            <a:ext cx="1771650" cy="1356551"/>
            <a:chOff x="4000500" y="2990850"/>
            <a:chExt cx="1771650" cy="1356551"/>
          </a:xfrm>
        </p:grpSpPr>
        <p:sp>
          <p:nvSpPr>
            <p:cNvPr id="17" name="Freeform 17"/>
            <p:cNvSpPr/>
            <p:nvPr/>
          </p:nvSpPr>
          <p:spPr>
            <a:xfrm>
              <a:off x="4000500" y="348615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619750" y="34004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0" y="2990850"/>
              <a:ext cx="1390650" cy="990600"/>
            </a:xfrm>
            <a:prstGeom prst="roundRect">
              <a:avLst>
                <a:gd name="adj" fmla="val 1923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733925" y="3162300"/>
              <a:ext cx="304800" cy="342900"/>
              <a:chOff x="4733925" y="3162300"/>
              <a:chExt cx="304800" cy="3429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733925" y="316230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571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733925" y="32194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571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33925" y="33337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5715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392549" y="3634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学习证据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79824" y="4083368"/>
              <a:ext cx="1613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user_id ownership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0" y="1863090"/>
            <a:ext cx="5562600" cy="3480435"/>
            <a:chOff x="6096000" y="1863090"/>
            <a:chExt cx="5562600" cy="3480435"/>
          </a:xfrm>
        </p:grpSpPr>
        <p:sp>
          <p:nvSpPr>
            <p:cNvPr id="27" name="TextBox 27"/>
            <p:cNvSpPr txBox="1"/>
            <p:nvPr/>
          </p:nvSpPr>
          <p:spPr>
            <a:xfrm>
              <a:off x="6144006" y="1863090"/>
              <a:ext cx="40251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TEACHER VIEW · REAL SCREENSHOT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0" y="2209800"/>
              <a:ext cx="5562600" cy="31337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>
              <a:alphaModFix amt="98000"/>
            </a:blip>
            <a:stretch>
              <a:fillRect/>
            </a:stretch>
          </p:blipFill>
          <p:spPr>
            <a:xfrm>
              <a:off x="6153150" y="2266950"/>
              <a:ext cx="5448300" cy="30670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6505575" y="3171825"/>
              <a:ext cx="4705350" cy="24765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362700" y="3028950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FF6B6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46240" y="3102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140958" y="5638800"/>
            <a:ext cx="6563868" cy="843534"/>
            <a:chOff x="6140958" y="5638800"/>
            <a:chExt cx="6563868" cy="843534"/>
          </a:xfrm>
        </p:grpSpPr>
        <p:sp>
          <p:nvSpPr>
            <p:cNvPr id="34" name="Line 34"/>
            <p:cNvSpPr/>
            <p:nvPr/>
          </p:nvSpPr>
          <p:spPr>
            <a:xfrm>
              <a:off x="6153150" y="56388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40958" y="574167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当前截图状态：教学数据暂时无法加载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44006" y="61302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看板入口可运行；聚合数据展示需后端服务与真实记录就绪。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526542" y="6388418"/>
              <a:ext cx="4753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EVIDENCE: events → persistent records → aggregation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12074347" cy="1104710"/>
            <a:chOff x="514350" y="381952"/>
            <a:chExt cx="12074347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998830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 AI 调用，都经过统一编排与治理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120674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前后端分离只是表层；真正的系统边界在 Orchestrator、检索、校验与安全链路。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95450" y="1847850"/>
            <a:ext cx="4457700" cy="4118801"/>
            <a:chOff x="1695450" y="1847850"/>
            <a:chExt cx="4457700" cy="4118801"/>
          </a:xfrm>
        </p:grpSpPr>
        <p:sp>
          <p:nvSpPr>
            <p:cNvPr id="5" name="Freeform 5"/>
            <p:cNvSpPr/>
            <p:nvPr/>
          </p:nvSpPr>
          <p:spPr>
            <a:xfrm>
              <a:off x="1695450" y="1847850"/>
              <a:ext cx="4457700" cy="1257300"/>
            </a:xfrm>
            <a:custGeom>
              <a:avLst/>
              <a:gdLst/>
              <a:ahLst/>
              <a:cxnLst/>
              <a:rect l="l" t="t" r="r" b="b"/>
              <a:pathLst>
                <a:path w="4457700" h="1257300">
                  <a:moveTo>
                    <a:pt x="0" y="628650"/>
                  </a:moveTo>
                  <a:lnTo>
                    <a:pt x="2228850" y="0"/>
                  </a:lnTo>
                  <a:lnTo>
                    <a:pt x="4457700" y="628650"/>
                  </a:lnTo>
                  <a:lnTo>
                    <a:pt x="2228850" y="12573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695450" y="2476500"/>
              <a:ext cx="2228850" cy="952500"/>
            </a:xfrm>
            <a:custGeom>
              <a:avLst/>
              <a:gdLst/>
              <a:ahLst/>
              <a:cxnLst/>
              <a:rect l="l" t="t" r="r" b="b"/>
              <a:pathLst>
                <a:path w="2228850" h="952500">
                  <a:moveTo>
                    <a:pt x="0" y="0"/>
                  </a:moveTo>
                  <a:lnTo>
                    <a:pt x="0" y="323850"/>
                  </a:lnTo>
                  <a:lnTo>
                    <a:pt x="2228850" y="952500"/>
                  </a:lnTo>
                  <a:lnTo>
                    <a:pt x="2228850" y="62865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924300" y="2476500"/>
              <a:ext cx="2228850" cy="952500"/>
            </a:xfrm>
            <a:custGeom>
              <a:avLst/>
              <a:gdLst/>
              <a:ahLst/>
              <a:cxnLst/>
              <a:rect l="l" t="t" r="r" b="b"/>
              <a:pathLst>
                <a:path w="2228850" h="952500">
                  <a:moveTo>
                    <a:pt x="0" y="628650"/>
                  </a:moveTo>
                  <a:lnTo>
                    <a:pt x="0" y="952500"/>
                  </a:lnTo>
                  <a:lnTo>
                    <a:pt x="2228850" y="323850"/>
                  </a:lnTo>
                  <a:lnTo>
                    <a:pt x="2228850" y="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82760" y="2350770"/>
              <a:ext cx="30830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Vue 3 + TypeScript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52396" y="2739390"/>
              <a:ext cx="39438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73 components · 24 named routes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52650" y="2990850"/>
              <a:ext cx="3543300" cy="990600"/>
            </a:xfrm>
            <a:custGeom>
              <a:avLst/>
              <a:gdLst/>
              <a:ahLst/>
              <a:cxnLst/>
              <a:rect l="l" t="t" r="r" b="b"/>
              <a:pathLst>
                <a:path w="3543300" h="990600">
                  <a:moveTo>
                    <a:pt x="0" y="495300"/>
                  </a:moveTo>
                  <a:lnTo>
                    <a:pt x="1771650" y="0"/>
                  </a:lnTo>
                  <a:lnTo>
                    <a:pt x="3543300" y="495300"/>
                  </a:lnTo>
                  <a:lnTo>
                    <a:pt x="1771650" y="9906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52650" y="3486150"/>
              <a:ext cx="1771650" cy="800100"/>
            </a:xfrm>
            <a:custGeom>
              <a:avLst/>
              <a:gdLst/>
              <a:ahLst/>
              <a:cxnLst/>
              <a:rect l="l" t="t" r="r" b="b"/>
              <a:pathLst>
                <a:path w="1771650" h="800100">
                  <a:moveTo>
                    <a:pt x="0" y="0"/>
                  </a:moveTo>
                  <a:lnTo>
                    <a:pt x="0" y="304800"/>
                  </a:lnTo>
                  <a:lnTo>
                    <a:pt x="1771650" y="800100"/>
                  </a:lnTo>
                  <a:lnTo>
                    <a:pt x="1771650" y="4953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924300" y="3486150"/>
              <a:ext cx="1771650" cy="800100"/>
            </a:xfrm>
            <a:custGeom>
              <a:avLst/>
              <a:gdLst/>
              <a:ahLst/>
              <a:cxnLst/>
              <a:rect l="l" t="t" r="r" b="b"/>
              <a:pathLst>
                <a:path w="1771650" h="800100">
                  <a:moveTo>
                    <a:pt x="0" y="495300"/>
                  </a:moveTo>
                  <a:lnTo>
                    <a:pt x="0" y="800100"/>
                  </a:lnTo>
                  <a:lnTo>
                    <a:pt x="1771650" y="304800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84749" y="3379470"/>
              <a:ext cx="34791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HTTP / SSE · FastAPI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88764" y="3768090"/>
              <a:ext cx="3071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67 HTTP route decorators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609850" y="4133850"/>
              <a:ext cx="2628900" cy="723900"/>
            </a:xfrm>
            <a:custGeom>
              <a:avLst/>
              <a:gdLst/>
              <a:ahLst/>
              <a:cxnLst/>
              <a:rect l="l" t="t" r="r" b="b"/>
              <a:pathLst>
                <a:path w="2628900" h="723900">
                  <a:moveTo>
                    <a:pt x="0" y="361950"/>
                  </a:moveTo>
                  <a:lnTo>
                    <a:pt x="1314450" y="0"/>
                  </a:lnTo>
                  <a:lnTo>
                    <a:pt x="2628900" y="361950"/>
                  </a:lnTo>
                  <a:lnTo>
                    <a:pt x="1314450" y="723900"/>
                  </a:lnTo>
                  <a:close/>
                </a:path>
              </a:pathLst>
            </a:cu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09850" y="4495800"/>
              <a:ext cx="1314450" cy="666750"/>
            </a:xfrm>
            <a:custGeom>
              <a:avLst/>
              <a:gdLst/>
              <a:ahLst/>
              <a:cxnLst/>
              <a:rect l="l" t="t" r="r" b="b"/>
              <a:pathLst>
                <a:path w="1314450" h="666750">
                  <a:moveTo>
                    <a:pt x="0" y="0"/>
                  </a:moveTo>
                  <a:lnTo>
                    <a:pt x="0" y="304800"/>
                  </a:lnTo>
                  <a:lnTo>
                    <a:pt x="1314450" y="666750"/>
                  </a:lnTo>
                  <a:lnTo>
                    <a:pt x="1314450" y="361950"/>
                  </a:lnTo>
                  <a:close/>
                </a:path>
              </a:pathLst>
            </a:custGeom>
            <a:solidFill>
              <a:srgbClr val="0B1D2A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24300" y="4495800"/>
              <a:ext cx="1314450" cy="666750"/>
            </a:xfrm>
            <a:custGeom>
              <a:avLst/>
              <a:gdLst/>
              <a:ahLst/>
              <a:cxnLst/>
              <a:rect l="l" t="t" r="r" b="b"/>
              <a:pathLst>
                <a:path w="1314450" h="666750">
                  <a:moveTo>
                    <a:pt x="0" y="361950"/>
                  </a:moveTo>
                  <a:lnTo>
                    <a:pt x="0" y="666750"/>
                  </a:lnTo>
                  <a:lnTo>
                    <a:pt x="1314450" y="304800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05520" y="4408170"/>
              <a:ext cx="30375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Orchestrator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25002" y="4796790"/>
              <a:ext cx="33985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routing · agents · validation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009900" y="5162550"/>
              <a:ext cx="1828800" cy="495300"/>
            </a:xfrm>
            <a:custGeom>
              <a:avLst/>
              <a:gdLst/>
              <a:ahLst/>
              <a:cxnLst/>
              <a:rect l="l" t="t" r="r" b="b"/>
              <a:pathLst>
                <a:path w="1828800" h="495300">
                  <a:moveTo>
                    <a:pt x="0" y="247650"/>
                  </a:moveTo>
                  <a:lnTo>
                    <a:pt x="914400" y="0"/>
                  </a:lnTo>
                  <a:lnTo>
                    <a:pt x="1828800" y="247650"/>
                  </a:lnTo>
                  <a:lnTo>
                    <a:pt x="914400" y="4953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009900" y="5410200"/>
              <a:ext cx="914400" cy="514350"/>
            </a:xfrm>
            <a:custGeom>
              <a:avLst/>
              <a:gdLst/>
              <a:ahLst/>
              <a:cxnLst/>
              <a:rect l="l" t="t" r="r" b="b"/>
              <a:pathLst>
                <a:path w="914400" h="514350">
                  <a:moveTo>
                    <a:pt x="0" y="0"/>
                  </a:moveTo>
                  <a:lnTo>
                    <a:pt x="0" y="266700"/>
                  </a:lnTo>
                  <a:lnTo>
                    <a:pt x="914400" y="514350"/>
                  </a:lnTo>
                  <a:lnTo>
                    <a:pt x="914400" y="24765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924300" y="5410200"/>
              <a:ext cx="914400" cy="514350"/>
            </a:xfrm>
            <a:custGeom>
              <a:avLst/>
              <a:gdLst/>
              <a:ahLst/>
              <a:cxnLst/>
              <a:rect l="l" t="t" r="r" b="b"/>
              <a:pathLst>
                <a:path w="914400" h="514350">
                  <a:moveTo>
                    <a:pt x="0" y="247650"/>
                  </a:moveTo>
                  <a:lnTo>
                    <a:pt x="0" y="514350"/>
                  </a:lnTo>
                  <a:lnTo>
                    <a:pt x="914400" y="2667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85153" y="5387340"/>
              <a:ext cx="30782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BM25 · OJ · SQLAlchemy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69018" y="5702618"/>
              <a:ext cx="2510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Python / C++ · 8 ORM tables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95756" y="1714500"/>
            <a:ext cx="6181344" cy="2952750"/>
            <a:chOff x="1095756" y="1714500"/>
            <a:chExt cx="6181344" cy="2952750"/>
          </a:xfrm>
        </p:grpSpPr>
        <p:sp>
          <p:nvSpPr>
            <p:cNvPr id="26" name="Freeform 26"/>
            <p:cNvSpPr/>
            <p:nvPr/>
          </p:nvSpPr>
          <p:spPr>
            <a:xfrm>
              <a:off x="1143000" y="1752600"/>
              <a:ext cx="1466850" cy="361950"/>
            </a:xfrm>
            <a:custGeom>
              <a:avLst/>
              <a:gdLst/>
              <a:ahLst/>
              <a:cxnLst/>
              <a:rect l="l" t="t" r="r" b="b"/>
              <a:pathLst>
                <a:path w="1466850" h="361950">
                  <a:moveTo>
                    <a:pt x="0" y="361950"/>
                  </a:moveTo>
                  <a:cubicBezTo>
                    <a:pt x="609600" y="114300"/>
                    <a:pt x="952500" y="0"/>
                    <a:pt x="1466850" y="3810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466975" y="171450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142875" y="76200"/>
                  </a:moveTo>
                  <a:lnTo>
                    <a:pt x="0" y="0"/>
                  </a:lnTo>
                  <a:lnTo>
                    <a:pt x="9525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5756" y="1748790"/>
              <a:ext cx="10552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REQUEST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238750" y="3124200"/>
              <a:ext cx="2038350" cy="1543050"/>
            </a:xfrm>
            <a:custGeom>
              <a:avLst/>
              <a:gdLst/>
              <a:ahLst/>
              <a:cxnLst/>
              <a:rect l="l" t="t" r="r" b="b"/>
              <a:pathLst>
                <a:path w="2038350" h="1543050">
                  <a:moveTo>
                    <a:pt x="0" y="1543050"/>
                  </a:moveTo>
                  <a:cubicBezTo>
                    <a:pt x="1238250" y="1390650"/>
                    <a:pt x="1504950" y="247650"/>
                    <a:pt x="2038350" y="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7124700" y="3105150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152400" y="19050"/>
                  </a:moveTo>
                  <a:lnTo>
                    <a:pt x="0" y="0"/>
                  </a:lnTo>
                  <a:lnTo>
                    <a:pt x="76200" y="1428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239000" y="1809750"/>
            <a:ext cx="4076700" cy="4133850"/>
            <a:chOff x="7239000" y="1809750"/>
            <a:chExt cx="4076700" cy="4133850"/>
          </a:xfrm>
        </p:grpSpPr>
        <p:sp>
          <p:nvSpPr>
            <p:cNvPr id="32" name="Line 32"/>
            <p:cNvSpPr/>
            <p:nvPr/>
          </p:nvSpPr>
          <p:spPr>
            <a:xfrm>
              <a:off x="7239000" y="180975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48956" y="1939290"/>
              <a:ext cx="18361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GOVERNANCE 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2098" y="228885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45908" y="28270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请求不绕过编排层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45908" y="31889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模型接口保持兼容边界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658100" y="38290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48956" y="4053840"/>
              <a:ext cx="18361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GOVERNANCE 02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42098" y="44034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双重校验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45908" y="49415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知识检索约束内容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45908" y="53035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安全链路约束执行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3" name="TextBox 43"/>
            <p:cNvSpPr txBox="1"/>
            <p:nvPr/>
          </p:nvSpPr>
          <p:spPr>
            <a:xfrm>
              <a:off x="526542" y="6388418"/>
              <a:ext cx="5765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frozen commit: dc3e1503 · counts from current repository scan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10915059" cy="1104710"/>
            <a:chOff x="514350" y="381952"/>
            <a:chExt cx="10915059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109150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多智能体不是数量堆砌，而是六层职责分工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99270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22 个注册条目按职责协作；20 个已有实现，2 个规划节点明确隔离。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" y="1714500"/>
            <a:ext cx="6572250" cy="4496562"/>
            <a:chOff x="838200" y="1714500"/>
            <a:chExt cx="6572250" cy="4496562"/>
          </a:xfrm>
        </p:grpSpPr>
        <p:sp>
          <p:nvSpPr>
            <p:cNvPr id="5" name="Freeform 5"/>
            <p:cNvSpPr/>
            <p:nvPr/>
          </p:nvSpPr>
          <p:spPr>
            <a:xfrm>
              <a:off x="838200" y="171450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38200" y="192405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656" y="2091690"/>
              <a:ext cx="1567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 PROFILING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92958" y="20269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27142" y="2091690"/>
              <a:ext cx="1716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ProfilingAgent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66800" y="245745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66800" y="266700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86256" y="283464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 RESOURCE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1558" y="27698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1774" y="2834640"/>
              <a:ext cx="36799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Concept · Graph · Quiz · Trace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295400" y="320040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95400" y="3409950"/>
              <a:ext cx="4743450" cy="552450"/>
            </a:xfrm>
            <a:prstGeom prst="rect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4856" y="35775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 PATH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50158" y="35128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68309" y="3577590"/>
              <a:ext cx="2732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Planner · LearningPath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524000" y="394335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24000" y="415290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43456" y="4320540"/>
              <a:ext cx="113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 TUTOR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78758" y="42557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辅导层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38721" y="4320540"/>
              <a:ext cx="38902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Tutor · OJ Assistant · Diagnosis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752600" y="468630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52600" y="489585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72056" y="50634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 SAFETY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07358" y="49987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156" y="5063490"/>
              <a:ext cx="31023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AST · Verifier · Retriever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981200" y="542925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81200" y="563880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200656" y="580644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06 EVAL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35958" y="57416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88755" y="5806440"/>
              <a:ext cx="37973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Evaluator · Mastery · EventBus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715250" y="1996440"/>
            <a:ext cx="3648456" cy="2318195"/>
            <a:chOff x="7715250" y="1996440"/>
            <a:chExt cx="3648456" cy="2318195"/>
          </a:xfrm>
        </p:grpSpPr>
        <p:sp>
          <p:nvSpPr>
            <p:cNvPr id="36" name="TextBox 36"/>
            <p:cNvSpPr txBox="1"/>
            <p:nvPr/>
          </p:nvSpPr>
          <p:spPr>
            <a:xfrm>
              <a:off x="7725156" y="19964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FROZEN REGISTRY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15250" y="25412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46058" y="28651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注册节点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734300" y="33909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18298" y="36985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60308" y="37795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89998" y="36985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70058" y="37795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规划中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734300" y="4495800"/>
            <a:ext cx="3619500" cy="1371600"/>
            <a:chOff x="7734300" y="4495800"/>
            <a:chExt cx="3619500" cy="1371600"/>
          </a:xfrm>
        </p:grpSpPr>
        <p:sp>
          <p:nvSpPr>
            <p:cNvPr id="45" name="Rectangle 45"/>
            <p:cNvSpPr/>
            <p:nvPr/>
          </p:nvSpPr>
          <p:spPr>
            <a:xfrm>
              <a:off x="7734300" y="4495800"/>
              <a:ext cx="3619500" cy="609600"/>
            </a:xfrm>
            <a:prstGeom prst="roundRect">
              <a:avLst>
                <a:gd name="adj" fmla="val 3125"/>
              </a:avLst>
            </a:pr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53756" y="4682490"/>
              <a:ext cx="1099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PptAgent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89108" y="46824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规划中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734300" y="5257800"/>
              <a:ext cx="3619500" cy="609600"/>
            </a:xfrm>
            <a:prstGeom prst="roundRect">
              <a:avLst>
                <a:gd name="adj" fmla="val 3125"/>
              </a:avLst>
            </a:pr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53756" y="5444490"/>
              <a:ext cx="2050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VideoScriptAgent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89108" y="54444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规划中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26542" y="6388418"/>
              <a:ext cx="9218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source: backend/services/agents/registry.py · implementation status: project development document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10097872" cy="1104710"/>
            <a:chOff x="514350" y="381952"/>
            <a:chExt cx="10097872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805270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并行，只发生在依赖允许的位置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10091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资源生成按跨 Agent 摘要依赖组织为四阶段 DAG，而不是盲目并发。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710690"/>
            <a:ext cx="11057687" cy="375285"/>
            <a:chOff x="685800" y="1710690"/>
            <a:chExt cx="11057687" cy="375285"/>
          </a:xfrm>
        </p:grpSpPr>
        <p:sp>
          <p:nvSpPr>
            <p:cNvPr id="5" name="TextBox 5"/>
            <p:cNvSpPr txBox="1"/>
            <p:nvPr/>
          </p:nvSpPr>
          <p:spPr>
            <a:xfrm>
              <a:off x="1133856" y="17106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19906" y="17106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2 · PARALLEL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58406" y="17106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PHASE 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82506" y="17106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PHASE 4 · PARALLEL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85800" y="2076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2476500" y="2790825"/>
            <a:ext cx="7661643" cy="1695450"/>
            <a:chOff x="2476500" y="2790825"/>
            <a:chExt cx="7661643" cy="1695450"/>
          </a:xfrm>
        </p:grpSpPr>
        <p:sp>
          <p:nvSpPr>
            <p:cNvPr id="11" name="Freeform 11"/>
            <p:cNvSpPr/>
            <p:nvPr/>
          </p:nvSpPr>
          <p:spPr>
            <a:xfrm>
              <a:off x="2476500" y="2876550"/>
              <a:ext cx="1543050" cy="762000"/>
            </a:xfrm>
            <a:custGeom>
              <a:avLst/>
              <a:gdLst/>
              <a:ahLst/>
              <a:cxnLst/>
              <a:rect l="l" t="t" r="r" b="b"/>
              <a:pathLst>
                <a:path w="1543050" h="762000">
                  <a:moveTo>
                    <a:pt x="0" y="762000"/>
                  </a:moveTo>
                  <a:lnTo>
                    <a:pt x="876300" y="762000"/>
                  </a:lnTo>
                  <a:lnTo>
                    <a:pt x="876300" y="0"/>
                  </a:lnTo>
                  <a:lnTo>
                    <a:pt x="15430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867150" y="2790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76500" y="3638550"/>
              <a:ext cx="1543050" cy="762000"/>
            </a:xfrm>
            <a:custGeom>
              <a:avLst/>
              <a:gdLst/>
              <a:ahLst/>
              <a:cxnLst/>
              <a:rect l="l" t="t" r="r" b="b"/>
              <a:pathLst>
                <a:path w="1543050" h="762000">
                  <a:moveTo>
                    <a:pt x="0" y="0"/>
                  </a:moveTo>
                  <a:lnTo>
                    <a:pt x="876300" y="0"/>
                  </a:lnTo>
                  <a:lnTo>
                    <a:pt x="876300" y="762000"/>
                  </a:lnTo>
                  <a:lnTo>
                    <a:pt x="1543050" y="7620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867150" y="4314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695950" y="2876550"/>
              <a:ext cx="1409700" cy="762000"/>
            </a:xfrm>
            <a:custGeom>
              <a:avLst/>
              <a:gdLst/>
              <a:ahLst/>
              <a:cxnLst/>
              <a:rect l="l" t="t" r="r" b="b"/>
              <a:pathLst>
                <a:path w="1409700" h="762000">
                  <a:moveTo>
                    <a:pt x="0" y="0"/>
                  </a:moveTo>
                  <a:lnTo>
                    <a:pt x="742950" y="0"/>
                  </a:lnTo>
                  <a:lnTo>
                    <a:pt x="742950" y="762000"/>
                  </a:lnTo>
                  <a:lnTo>
                    <a:pt x="1409700" y="7620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6953250" y="3552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695950" y="3638550"/>
              <a:ext cx="742950" cy="762000"/>
            </a:xfrm>
            <a:custGeom>
              <a:avLst/>
              <a:gdLst/>
              <a:ahLst/>
              <a:cxnLst/>
              <a:rect l="l" t="t" r="r" b="b"/>
              <a:pathLst>
                <a:path w="742950" h="762000">
                  <a:moveTo>
                    <a:pt x="0" y="762000"/>
                  </a:moveTo>
                  <a:lnTo>
                    <a:pt x="742950" y="762000"/>
                  </a:lnTo>
                  <a:lnTo>
                    <a:pt x="7429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782050" y="2876550"/>
              <a:ext cx="990600" cy="762000"/>
            </a:xfrm>
            <a:custGeom>
              <a:avLst/>
              <a:gdLst/>
              <a:ahLst/>
              <a:cxnLst/>
              <a:rect l="l" t="t" r="r" b="b"/>
              <a:pathLst>
                <a:path w="990600" h="762000">
                  <a:moveTo>
                    <a:pt x="0" y="762000"/>
                  </a:moveTo>
                  <a:lnTo>
                    <a:pt x="495300" y="762000"/>
                  </a:lnTo>
                  <a:lnTo>
                    <a:pt x="495300" y="0"/>
                  </a:ln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9620250" y="2790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782050" y="3638550"/>
              <a:ext cx="990600" cy="762000"/>
            </a:xfrm>
            <a:custGeom>
              <a:avLst/>
              <a:gdLst/>
              <a:ahLst/>
              <a:cxnLst/>
              <a:rect l="l" t="t" r="r" b="b"/>
              <a:pathLst>
                <a:path w="990600" h="762000">
                  <a:moveTo>
                    <a:pt x="0" y="0"/>
                  </a:moveTo>
                  <a:lnTo>
                    <a:pt x="495300" y="0"/>
                  </a:lnTo>
                  <a:lnTo>
                    <a:pt x="495300" y="762000"/>
                  </a:lnTo>
                  <a:lnTo>
                    <a:pt x="99060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9620250" y="4314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55442" y="31880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doc_summary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41492" y="3188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quiz_focus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70442" y="3188018"/>
              <a:ext cx="126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scenario_hook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0069" y="2914650"/>
            <a:ext cx="1632661" cy="1181100"/>
            <a:chOff x="860069" y="2914650"/>
            <a:chExt cx="1632661" cy="1181100"/>
          </a:xfrm>
        </p:grpSpPr>
        <p:sp>
          <p:nvSpPr>
            <p:cNvPr id="26" name="Freeform 26"/>
            <p:cNvSpPr/>
            <p:nvPr/>
          </p:nvSpPr>
          <p:spPr>
            <a:xfrm>
              <a:off x="876300" y="2914650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0" y="228600"/>
                  </a:moveTo>
                  <a:lnTo>
                    <a:pt x="800100" y="0"/>
                  </a:lnTo>
                  <a:lnTo>
                    <a:pt x="1600200" y="228600"/>
                  </a:lnTo>
                  <a:lnTo>
                    <a:pt x="8001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76300" y="3143250"/>
              <a:ext cx="800100" cy="952500"/>
            </a:xfrm>
            <a:custGeom>
              <a:avLst/>
              <a:gdLst/>
              <a:ahLst/>
              <a:cxnLst/>
              <a:rect l="l" t="t" r="r" b="b"/>
              <a:pathLst>
                <a:path w="800100" h="952500">
                  <a:moveTo>
                    <a:pt x="0" y="0"/>
                  </a:moveTo>
                  <a:lnTo>
                    <a:pt x="0" y="723900"/>
                  </a:lnTo>
                  <a:lnTo>
                    <a:pt x="800100" y="952500"/>
                  </a:lnTo>
                  <a:lnTo>
                    <a:pt x="8001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676400" y="3143250"/>
              <a:ext cx="800100" cy="952500"/>
            </a:xfrm>
            <a:custGeom>
              <a:avLst/>
              <a:gdLst/>
              <a:ahLst/>
              <a:cxnLst/>
              <a:rect l="l" t="t" r="r" b="b"/>
              <a:pathLst>
                <a:path w="800100" h="952500">
                  <a:moveTo>
                    <a:pt x="0" y="228600"/>
                  </a:moveTo>
                  <a:lnTo>
                    <a:pt x="0" y="952500"/>
                  </a:lnTo>
                  <a:lnTo>
                    <a:pt x="800100" y="72390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09929" y="3348990"/>
              <a:ext cx="1132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document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0069" y="3653790"/>
              <a:ext cx="16326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ConceptAgent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019550" y="2247900"/>
            <a:ext cx="1676400" cy="1162050"/>
            <a:chOff x="4019550" y="2247900"/>
            <a:chExt cx="1676400" cy="1162050"/>
          </a:xfrm>
        </p:grpSpPr>
        <p:sp>
          <p:nvSpPr>
            <p:cNvPr id="32" name="Freeform 32"/>
            <p:cNvSpPr/>
            <p:nvPr/>
          </p:nvSpPr>
          <p:spPr>
            <a:xfrm>
              <a:off x="4019550" y="224790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019550" y="2476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0"/>
                  </a:moveTo>
                  <a:lnTo>
                    <a:pt x="0" y="704850"/>
                  </a:lnTo>
                  <a:lnTo>
                    <a:pt x="838200" y="93345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857750" y="2476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228600"/>
                  </a:moveTo>
                  <a:lnTo>
                    <a:pt x="0" y="933450"/>
                  </a:lnTo>
                  <a:lnTo>
                    <a:pt x="838200" y="70485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63974" y="2701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mindmap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74693" y="3006090"/>
              <a:ext cx="1366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GraphAgent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019550" y="3771900"/>
            <a:ext cx="1676400" cy="1162050"/>
            <a:chOff x="4019550" y="3771900"/>
            <a:chExt cx="1676400" cy="1162050"/>
          </a:xfrm>
        </p:grpSpPr>
        <p:sp>
          <p:nvSpPr>
            <p:cNvPr id="38" name="Freeform 38"/>
            <p:cNvSpPr/>
            <p:nvPr/>
          </p:nvSpPr>
          <p:spPr>
            <a:xfrm>
              <a:off x="4019550" y="377190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019550" y="4000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0"/>
                  </a:moveTo>
                  <a:lnTo>
                    <a:pt x="0" y="704850"/>
                  </a:lnTo>
                  <a:lnTo>
                    <a:pt x="838200" y="93345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857750" y="4000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228600"/>
                  </a:moveTo>
                  <a:lnTo>
                    <a:pt x="0" y="933450"/>
                  </a:lnTo>
                  <a:lnTo>
                    <a:pt x="838200" y="70485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79163" y="4225290"/>
              <a:ext cx="1157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exercises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47464" y="4530090"/>
              <a:ext cx="12205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QuizAgent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091436" y="2914650"/>
            <a:ext cx="1704828" cy="1181100"/>
            <a:chOff x="7091436" y="2914650"/>
            <a:chExt cx="1704828" cy="1181100"/>
          </a:xfrm>
        </p:grpSpPr>
        <p:sp>
          <p:nvSpPr>
            <p:cNvPr id="44" name="Freeform 44"/>
            <p:cNvSpPr/>
            <p:nvPr/>
          </p:nvSpPr>
          <p:spPr>
            <a:xfrm>
              <a:off x="7105650" y="291465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105650" y="3143250"/>
              <a:ext cx="838200" cy="952500"/>
            </a:xfrm>
            <a:custGeom>
              <a:avLst/>
              <a:gdLst/>
              <a:ahLst/>
              <a:cxnLst/>
              <a:rect l="l" t="t" r="r" b="b"/>
              <a:pathLst>
                <a:path w="838200" h="952500">
                  <a:moveTo>
                    <a:pt x="0" y="0"/>
                  </a:moveTo>
                  <a:lnTo>
                    <a:pt x="0" y="723900"/>
                  </a:lnTo>
                  <a:lnTo>
                    <a:pt x="838200" y="95250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943850" y="3143250"/>
              <a:ext cx="838200" cy="952500"/>
            </a:xfrm>
            <a:custGeom>
              <a:avLst/>
              <a:gdLst/>
              <a:ahLst/>
              <a:cxnLst/>
              <a:rect l="l" t="t" r="r" b="b"/>
              <a:pathLst>
                <a:path w="838200" h="952500">
                  <a:moveTo>
                    <a:pt x="0" y="228600"/>
                  </a:moveTo>
                  <a:lnTo>
                    <a:pt x="0" y="952500"/>
                  </a:lnTo>
                  <a:lnTo>
                    <a:pt x="838200" y="7239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34974" y="3348990"/>
              <a:ext cx="121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code_case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1436" y="3653790"/>
              <a:ext cx="17048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ScenarioAgent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638500" y="2247900"/>
            <a:ext cx="1944700" cy="1162050"/>
            <a:chOff x="9638500" y="2247900"/>
            <a:chExt cx="1944700" cy="1162050"/>
          </a:xfrm>
        </p:grpSpPr>
        <p:sp>
          <p:nvSpPr>
            <p:cNvPr id="50" name="Freeform 50"/>
            <p:cNvSpPr/>
            <p:nvPr/>
          </p:nvSpPr>
          <p:spPr>
            <a:xfrm>
              <a:off x="9772650" y="224790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772650" y="2476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0"/>
                  </a:moveTo>
                  <a:lnTo>
                    <a:pt x="0" y="704850"/>
                  </a:lnTo>
                  <a:lnTo>
                    <a:pt x="838200" y="93345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3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610850" y="2476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228600"/>
                  </a:moveTo>
                  <a:lnTo>
                    <a:pt x="0" y="933450"/>
                  </a:lnTo>
                  <a:lnTo>
                    <a:pt x="838200" y="70485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38500" y="2701290"/>
              <a:ext cx="1944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trace_animation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27793" y="3006090"/>
              <a:ext cx="1366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TraceAgent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772650" y="3771900"/>
            <a:ext cx="1676400" cy="1162050"/>
            <a:chOff x="9772650" y="3771900"/>
            <a:chExt cx="1676400" cy="1162050"/>
          </a:xfrm>
        </p:grpSpPr>
        <p:sp>
          <p:nvSpPr>
            <p:cNvPr id="56" name="Freeform 56"/>
            <p:cNvSpPr/>
            <p:nvPr/>
          </p:nvSpPr>
          <p:spPr>
            <a:xfrm>
              <a:off x="9772650" y="377190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57" name="Freeform 57"/>
            <p:cNvSpPr/>
            <p:nvPr/>
          </p:nvSpPr>
          <p:spPr>
            <a:xfrm>
              <a:off x="9772650" y="4000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0"/>
                  </a:moveTo>
                  <a:lnTo>
                    <a:pt x="0" y="704850"/>
                  </a:lnTo>
                  <a:lnTo>
                    <a:pt x="838200" y="93345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3"/>
              </a:solidFill>
              <a:prstDash val="lgDash"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610850" y="4000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228600"/>
                  </a:moveTo>
                  <a:lnTo>
                    <a:pt x="0" y="933450"/>
                  </a:lnTo>
                  <a:lnTo>
                    <a:pt x="838200" y="70485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3"/>
              </a:solidFill>
              <a:prstDash val="lgDash"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165537" y="4225290"/>
              <a:ext cx="890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reading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17074" y="4530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扩展资源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73608" y="5429250"/>
            <a:ext cx="10832592" cy="648462"/>
            <a:chOff x="673608" y="5429250"/>
            <a:chExt cx="10832592" cy="648462"/>
          </a:xfrm>
        </p:grpSpPr>
        <p:sp>
          <p:nvSpPr>
            <p:cNvPr id="62" name="Line 62"/>
            <p:cNvSpPr/>
            <p:nvPr/>
          </p:nvSpPr>
          <p:spPr>
            <a:xfrm>
              <a:off x="685800" y="5429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3608" y="5608320"/>
              <a:ext cx="19144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类注册资源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112008" y="5608320"/>
              <a:ext cx="26017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类 A3 核心展示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88608" y="5608320"/>
              <a:ext cx="2560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类扩展阅读资源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67" name="TextBox 67"/>
            <p:cNvSpPr txBox="1"/>
            <p:nvPr/>
          </p:nvSpPr>
          <p:spPr>
            <a:xfrm>
              <a:off x="526542" y="6388418"/>
              <a:ext cx="6931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workflow.py · pipeline_context.py · registry.py: RESOURCE_TYPE_TO_AGENT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43852"/>
            <a:ext cx="12057842" cy="1085660"/>
            <a:chOff x="514350" y="343852"/>
            <a:chExt cx="12057842" cy="108566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43852"/>
              <a:ext cx="1205784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个性化不是一句 Prompt，而是持续更新的状态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60120"/>
              <a:ext cx="7620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画像、记忆、掌握度与路径 DAG 共同决定下一步。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6850" y="1447800"/>
            <a:ext cx="9258300" cy="5257800"/>
            <a:chOff x="1466850" y="1447800"/>
            <a:chExt cx="9258300" cy="5257800"/>
          </a:xfrm>
        </p:grpSpPr>
        <p:sp>
          <p:nvSpPr>
            <p:cNvPr id="5" name="Rectangle 5"/>
            <p:cNvSpPr/>
            <p:nvPr/>
          </p:nvSpPr>
          <p:spPr>
            <a:xfrm>
              <a:off x="1466850" y="1447800"/>
              <a:ext cx="9258300" cy="52578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1504950"/>
              <a:ext cx="9144000" cy="514350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685800" y="1504950"/>
            <a:ext cx="2476500" cy="571500"/>
            <a:chOff x="685800" y="1504950"/>
            <a:chExt cx="2476500" cy="571500"/>
          </a:xfrm>
        </p:grpSpPr>
        <p:sp>
          <p:nvSpPr>
            <p:cNvPr id="8" name="Freeform 8"/>
            <p:cNvSpPr/>
            <p:nvPr/>
          </p:nvSpPr>
          <p:spPr>
            <a:xfrm>
              <a:off x="1943100" y="15049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1857375" y="180975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85725" y="152400"/>
                  </a:moveTo>
                  <a:lnTo>
                    <a:pt x="0" y="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81150"/>
              <a:ext cx="2476500" cy="495300"/>
            </a:xfrm>
            <a:prstGeom prst="roundRect">
              <a:avLst>
                <a:gd name="adj" fmla="val 3846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3326" y="1710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六维画像输入路径计划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96075" y="2752725"/>
            <a:ext cx="4590669" cy="1438275"/>
            <a:chOff x="6696075" y="2752725"/>
            <a:chExt cx="4590669" cy="1438275"/>
          </a:xfrm>
        </p:grpSpPr>
        <p:sp>
          <p:nvSpPr>
            <p:cNvPr id="13" name="Rectangle 13"/>
            <p:cNvSpPr/>
            <p:nvPr/>
          </p:nvSpPr>
          <p:spPr>
            <a:xfrm>
              <a:off x="6838950" y="2895600"/>
              <a:ext cx="2038350" cy="12954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696075" y="27527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79615" y="28260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877300" y="3543300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87612" y="3082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掌握度决定推进状态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14917" y="3653790"/>
              <a:ext cx="22718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完成 / 继续 / 待学习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656" y="4457700"/>
            <a:ext cx="4809744" cy="1771650"/>
            <a:chOff x="676656" y="4457700"/>
            <a:chExt cx="4809744" cy="1771650"/>
          </a:xfrm>
        </p:grpSpPr>
        <p:sp>
          <p:nvSpPr>
            <p:cNvPr id="20" name="Rectangle 20"/>
            <p:cNvSpPr/>
            <p:nvPr/>
          </p:nvSpPr>
          <p:spPr>
            <a:xfrm>
              <a:off x="3371850" y="4457700"/>
              <a:ext cx="2114550" cy="13525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228975" y="566737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12515" y="57407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85850" y="5353050"/>
              <a:ext cx="2286000" cy="876300"/>
            </a:xfrm>
            <a:custGeom>
              <a:avLst/>
              <a:gdLst/>
              <a:ahLst/>
              <a:cxnLst/>
              <a:rect l="l" t="t" r="r" b="b"/>
              <a:pathLst>
                <a:path w="2286000" h="876300">
                  <a:moveTo>
                    <a:pt x="2286000" y="457200"/>
                  </a:moveTo>
                  <a:cubicBezTo>
                    <a:pt x="895350" y="876300"/>
                    <a:pt x="266700" y="533400"/>
                    <a:pt x="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656" y="4777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错误记忆回写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656" y="50825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受挫时插入巩固节点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6542" y="6578918"/>
            <a:ext cx="11138916" cy="264033"/>
            <a:chOff x="526542" y="6578918"/>
            <a:chExt cx="111389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6578918"/>
              <a:ext cx="5986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LOCKED SCREENSHOT · learning-path.png · persistent state driven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42923" y="65789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10314504" cy="1104710"/>
            <a:chOff x="514350" y="381952"/>
            <a:chExt cx="10314504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1031450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Trace：让学生看见自己的代码如何出错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98245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Python 与 C++ 的不同追踪技术，被归一为同一套可视化事件协议。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2057400"/>
            <a:ext cx="4095750" cy="1205484"/>
            <a:chOff x="685800" y="2057400"/>
            <a:chExt cx="4095750" cy="1205484"/>
          </a:xfrm>
        </p:grpSpPr>
        <p:sp>
          <p:nvSpPr>
            <p:cNvPr id="5" name="Rectangle 5"/>
            <p:cNvSpPr/>
            <p:nvPr/>
          </p:nvSpPr>
          <p:spPr>
            <a:xfrm>
              <a:off x="685800" y="2057400"/>
              <a:ext cx="2724150" cy="11430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3356" y="2225040"/>
              <a:ext cx="16952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PYTHON TRACK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0308" y="2560320"/>
              <a:ext cx="22633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sys.settrace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356" y="2910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行级变量快照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409950" y="26289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629150" y="254317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3752850"/>
            <a:ext cx="4095750" cy="1205484"/>
            <a:chOff x="685800" y="3752850"/>
            <a:chExt cx="4095750" cy="1205484"/>
          </a:xfrm>
        </p:grpSpPr>
        <p:sp>
          <p:nvSpPr>
            <p:cNvPr id="12" name="Rectangle 12"/>
            <p:cNvSpPr/>
            <p:nvPr/>
          </p:nvSpPr>
          <p:spPr>
            <a:xfrm>
              <a:off x="685800" y="3752850"/>
              <a:ext cx="2724150" cy="11430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3356" y="39204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C++ TRACK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0308" y="425577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GDB / MI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3356" y="4606290"/>
              <a:ext cx="28602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单步追踪 · STL 状态提取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3409950" y="432435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629150" y="42386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4781550" y="2628900"/>
            <a:ext cx="5366766" cy="1700784"/>
            <a:chOff x="4781550" y="2628900"/>
            <a:chExt cx="5366766" cy="1700784"/>
          </a:xfrm>
        </p:grpSpPr>
        <p:sp>
          <p:nvSpPr>
            <p:cNvPr id="19" name="Freeform 19"/>
            <p:cNvSpPr/>
            <p:nvPr/>
          </p:nvSpPr>
          <p:spPr>
            <a:xfrm>
              <a:off x="4781550" y="2628900"/>
              <a:ext cx="990600" cy="704850"/>
            </a:xfrm>
            <a:custGeom>
              <a:avLst/>
              <a:gdLst/>
              <a:ahLst/>
              <a:cxnLst/>
              <a:rect l="l" t="t" r="r" b="b"/>
              <a:pathLst>
                <a:path w="990600" h="704850">
                  <a:moveTo>
                    <a:pt x="0" y="0"/>
                  </a:moveTo>
                  <a:cubicBezTo>
                    <a:pt x="609600" y="0"/>
                    <a:pt x="609600" y="514350"/>
                    <a:pt x="990600" y="70485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781550" y="3619500"/>
              <a:ext cx="990600" cy="704850"/>
            </a:xfrm>
            <a:custGeom>
              <a:avLst/>
              <a:gdLst/>
              <a:ahLst/>
              <a:cxnLst/>
              <a:rect l="l" t="t" r="r" b="b"/>
              <a:pathLst>
                <a:path w="990600" h="704850">
                  <a:moveTo>
                    <a:pt x="0" y="704850"/>
                  </a:moveTo>
                  <a:cubicBezTo>
                    <a:pt x="609600" y="704850"/>
                    <a:pt x="609600" y="190500"/>
                    <a:pt x="990600" y="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72150" y="2647950"/>
              <a:ext cx="2571750" cy="1657350"/>
            </a:xfrm>
            <a:prstGeom prst="roundRect">
              <a:avLst>
                <a:gd name="adj" fmla="val 1149"/>
              </a:avLst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096000" y="3009900"/>
              <a:ext cx="304800" cy="304800"/>
              <a:chOff x="6096000" y="3009900"/>
              <a:chExt cx="304800" cy="304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96000" y="3009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096000" y="3238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59142"/>
                      <a:pt x="17058" y="76200"/>
                      <a:pt x="38100" y="762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4600" y="3009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324600" y="3238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38100" y="76200"/>
                    </a:lnTo>
                    <a:cubicBezTo>
                      <a:pt x="59142" y="76200"/>
                      <a:pt x="76200" y="59142"/>
                      <a:pt x="76200" y="3810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229350" y="31623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172200" y="30861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191250" y="32385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620256" y="3025140"/>
              <a:ext cx="20025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TRACE EVENT BUS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19800" y="352425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07608" y="36271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统一事件模型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0656" y="39776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line · vars · structure · narration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343900" y="2148840"/>
            <a:ext cx="3912870" cy="2409444"/>
            <a:chOff x="8343900" y="2148840"/>
            <a:chExt cx="3912870" cy="2409444"/>
          </a:xfrm>
        </p:grpSpPr>
        <p:sp>
          <p:nvSpPr>
            <p:cNvPr id="35" name="Freeform 35"/>
            <p:cNvSpPr/>
            <p:nvPr/>
          </p:nvSpPr>
          <p:spPr>
            <a:xfrm>
              <a:off x="8343900" y="3476625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972550" y="339090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39656" y="2148840"/>
              <a:ext cx="18489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UNIFIED OUTPUT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29750" y="24460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93858" y="27698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类可视化组件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36608" y="3284220"/>
              <a:ext cx="2382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链表 · 树 · 矩阵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36608" y="3684270"/>
              <a:ext cx="2706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栈 · 队列 · 图结构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39656" y="42062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经典题目使用确定性旁白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69798" y="5391150"/>
            <a:ext cx="10836402" cy="880301"/>
            <a:chOff x="669798" y="5391150"/>
            <a:chExt cx="10836402" cy="880301"/>
          </a:xfrm>
        </p:grpSpPr>
        <p:sp>
          <p:nvSpPr>
            <p:cNvPr id="44" name="Line 44"/>
            <p:cNvSpPr/>
            <p:nvPr/>
          </p:nvSpPr>
          <p:spPr>
            <a:xfrm>
              <a:off x="685800" y="539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9798" y="5527358"/>
              <a:ext cx="32546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MAX 200 STEPS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45458" y="557022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当前实现上限，用于控制追踪规模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50792" y="6007418"/>
              <a:ext cx="4066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backend/services/trace/trace_runner.py:21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042923" y="629316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11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86702"/>
            <a:ext cx="9909238" cy="1028510"/>
            <a:chOff x="514350" y="286702"/>
            <a:chExt cx="9909238" cy="10285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86702"/>
              <a:ext cx="990923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判题、Trace 与深度诊断，在同一现场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845820"/>
              <a:ext cx="8424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从提交代码到查看轨迹、分析错因，学生不必离开工作台。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76350" y="1257300"/>
            <a:ext cx="9639300" cy="5467350"/>
            <a:chOff x="1276350" y="1257300"/>
            <a:chExt cx="9639300" cy="5467350"/>
          </a:xfrm>
        </p:grpSpPr>
        <p:sp>
          <p:nvSpPr>
            <p:cNvPr id="5" name="Rectangle 5"/>
            <p:cNvSpPr/>
            <p:nvPr/>
          </p:nvSpPr>
          <p:spPr>
            <a:xfrm>
              <a:off x="1276350" y="1257300"/>
              <a:ext cx="9639300" cy="5467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3500" y="1314450"/>
              <a:ext cx="9525000" cy="5357812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2051173" y="1634490"/>
            <a:ext cx="3511427" cy="689610"/>
            <a:chOff x="2051173" y="1634490"/>
            <a:chExt cx="3511427" cy="689610"/>
          </a:xfrm>
        </p:grpSpPr>
        <p:sp>
          <p:nvSpPr>
            <p:cNvPr id="8" name="Rectangle 8"/>
            <p:cNvSpPr/>
            <p:nvPr/>
          </p:nvSpPr>
          <p:spPr>
            <a:xfrm>
              <a:off x="4305300" y="2019300"/>
              <a:ext cx="1257300" cy="3048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162425" y="18764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45965" y="19497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1173" y="1634490"/>
              <a:ext cx="1520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/ C++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638550" y="1866900"/>
              <a:ext cx="590550" cy="114300"/>
            </a:xfrm>
            <a:custGeom>
              <a:avLst/>
              <a:gdLst/>
              <a:ahLst/>
              <a:cxnLst/>
              <a:rect l="l" t="t" r="r" b="b"/>
              <a:pathLst>
                <a:path w="590550" h="114300">
                  <a:moveTo>
                    <a:pt x="0" y="0"/>
                  </a:moveTo>
                  <a:lnTo>
                    <a:pt x="590550" y="1143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458200" y="1729740"/>
            <a:ext cx="3645408" cy="575310"/>
            <a:chOff x="8458200" y="1729740"/>
            <a:chExt cx="3645408" cy="575310"/>
          </a:xfrm>
        </p:grpSpPr>
        <p:sp>
          <p:nvSpPr>
            <p:cNvPr id="14" name="Rectangle 14"/>
            <p:cNvSpPr/>
            <p:nvPr/>
          </p:nvSpPr>
          <p:spPr>
            <a:xfrm>
              <a:off x="8458200" y="1981200"/>
              <a:ext cx="2057400" cy="3238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372725" y="18383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56265" y="1911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160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判题状态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93976" y="5638800"/>
            <a:ext cx="3754374" cy="786384"/>
            <a:chOff x="2093976" y="5638800"/>
            <a:chExt cx="3754374" cy="786384"/>
          </a:xfrm>
        </p:grpSpPr>
        <p:sp>
          <p:nvSpPr>
            <p:cNvPr id="19" name="Rectangle 19"/>
            <p:cNvSpPr/>
            <p:nvPr/>
          </p:nvSpPr>
          <p:spPr>
            <a:xfrm>
              <a:off x="4972050" y="5638800"/>
              <a:ext cx="876300" cy="2476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829175" y="574357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12715" y="5816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390900" y="5962650"/>
              <a:ext cx="1466850" cy="228600"/>
            </a:xfrm>
            <a:custGeom>
              <a:avLst/>
              <a:gdLst/>
              <a:ahLst/>
              <a:cxnLst/>
              <a:rect l="l" t="t" r="r" b="b"/>
              <a:pathLst>
                <a:path w="1466850" h="228600">
                  <a:moveTo>
                    <a:pt x="146685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093976" y="6073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可视化调试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72150" y="5638800"/>
            <a:ext cx="3670859" cy="786384"/>
            <a:chOff x="5772150" y="5638800"/>
            <a:chExt cx="3670859" cy="786384"/>
          </a:xfrm>
        </p:grpSpPr>
        <p:sp>
          <p:nvSpPr>
            <p:cNvPr id="25" name="Rectangle 25"/>
            <p:cNvSpPr/>
            <p:nvPr/>
          </p:nvSpPr>
          <p:spPr>
            <a:xfrm>
              <a:off x="5772150" y="5638800"/>
              <a:ext cx="742950" cy="24765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372225" y="574357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FF6B6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5765" y="5816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629400" y="5962650"/>
              <a:ext cx="1409700" cy="228600"/>
            </a:xfrm>
            <a:custGeom>
              <a:avLst/>
              <a:gdLst/>
              <a:ahLst/>
              <a:cxnLst/>
              <a:rect l="l" t="t" r="r" b="b"/>
              <a:pathLst>
                <a:path w="1409700" h="228600">
                  <a:moveTo>
                    <a:pt x="0" y="0"/>
                  </a:moveTo>
                  <a:lnTo>
                    <a:pt x="1409700" y="228600"/>
                  </a:lnTo>
                </a:path>
              </a:pathLst>
            </a:custGeom>
            <a:noFill/>
            <a:ln w="19050">
              <a:solidFill>
                <a:srgbClr val="FF6B6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06156" y="6073140"/>
              <a:ext cx="13368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AI 深度诊断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38726" y="5924550"/>
            <a:ext cx="3257874" cy="704850"/>
            <a:chOff x="7638726" y="5924550"/>
            <a:chExt cx="3257874" cy="704850"/>
          </a:xfrm>
        </p:grpSpPr>
        <p:sp>
          <p:nvSpPr>
            <p:cNvPr id="31" name="Rectangle 31"/>
            <p:cNvSpPr/>
            <p:nvPr/>
          </p:nvSpPr>
          <p:spPr>
            <a:xfrm>
              <a:off x="8343900" y="5924550"/>
              <a:ext cx="2552700" cy="704850"/>
            </a:xfrm>
            <a:prstGeom prst="rect">
              <a:avLst/>
            </a:prstGeom>
            <a:solidFill>
              <a:schemeClr val="lt1">
                <a:alpha val="94000"/>
              </a:scheme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60181" y="599694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当前默认超时 3 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8726" y="6312218"/>
              <a:ext cx="311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schemas/oj.py:35 · runner.py:229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042923" y="629316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12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10411717" cy="1104710"/>
            <a:chOff x="514350" y="362902"/>
            <a:chExt cx="10411717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1041171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可信，来自内容与执行两条独立防线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生成内容与代码执行使用不同门闸，最终只汇入可追溯输出。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656" y="1729740"/>
            <a:ext cx="9153144" cy="1280160"/>
            <a:chOff x="676656" y="1729740"/>
            <a:chExt cx="9153144" cy="1280160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729740"/>
              <a:ext cx="356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LANE A · CONTENT RELIABILITY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26289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247900"/>
              <a:ext cx="1695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7511" y="2377440"/>
              <a:ext cx="113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BM25 RAG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8850" y="27117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top_k=4 · 当前配置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781300" y="2247900"/>
              <a:ext cx="1695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970657" y="24460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内容生成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876800" y="2247900"/>
              <a:ext cx="2076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959820" y="2377440"/>
              <a:ext cx="1910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ContentVerifier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67589" y="27117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失败最多重试 2 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353300" y="2247900"/>
              <a:ext cx="209550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51356" y="2377440"/>
              <a:ext cx="14993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SafetyAgent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7378" y="271176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注入 · 敏感词 · 幻觉题号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619500" y="1733550"/>
              <a:ext cx="2295525" cy="514350"/>
            </a:xfrm>
            <a:custGeom>
              <a:avLst/>
              <a:gdLst/>
              <a:ahLst/>
              <a:cxnLst/>
              <a:rect l="l" t="t" r="r" b="b"/>
              <a:pathLst>
                <a:path w="2295525" h="514350">
                  <a:moveTo>
                    <a:pt x="2295525" y="514350"/>
                  </a:moveTo>
                  <a:cubicBezTo>
                    <a:pt x="2295525" y="0"/>
                    <a:pt x="0" y="0"/>
                    <a:pt x="0" y="51435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19" name="Polygon 19"/>
            <p:cNvSpPr/>
            <p:nvPr/>
          </p:nvSpPr>
          <p:spPr>
            <a:xfrm>
              <a:off x="3533775" y="209550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85725" y="152400"/>
                  </a:moveTo>
                  <a:lnTo>
                    <a:pt x="0" y="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76656" y="3463290"/>
            <a:ext cx="9153144" cy="1280160"/>
            <a:chOff x="676656" y="3463290"/>
            <a:chExt cx="9153144" cy="1280160"/>
          </a:xfrm>
        </p:grpSpPr>
        <p:sp>
          <p:nvSpPr>
            <p:cNvPr id="21" name="TextBox 21"/>
            <p:cNvSpPr txBox="1"/>
            <p:nvPr/>
          </p:nvSpPr>
          <p:spPr>
            <a:xfrm>
              <a:off x="676656" y="3463290"/>
              <a:ext cx="32698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LANE B · EXECUTION SAFETY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43624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3981450"/>
              <a:ext cx="1695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rgbClr val="FF6B6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3115" y="411099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AST GATE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1456" y="4445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危险调用拦截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781300" y="3981450"/>
              <a:ext cx="1695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rgbClr val="FF6B6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20619" y="4110990"/>
              <a:ext cx="10168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 / C++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86088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隔离边界内执行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76800" y="3981450"/>
              <a:ext cx="2076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57775" y="41109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超时与输出截断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4393" y="4445318"/>
              <a:ext cx="1721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OJ default 3000 ms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353300" y="3981450"/>
              <a:ext cx="209550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73132" y="4110990"/>
              <a:ext cx="1255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Trace 上限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9137" y="444531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200 steps · 当前配置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48800" y="2628900"/>
            <a:ext cx="2209800" cy="1733550"/>
            <a:chOff x="9448800" y="2628900"/>
            <a:chExt cx="2209800" cy="1733550"/>
          </a:xfrm>
        </p:grpSpPr>
        <p:sp>
          <p:nvSpPr>
            <p:cNvPr id="36" name="Freeform 36"/>
            <p:cNvSpPr/>
            <p:nvPr/>
          </p:nvSpPr>
          <p:spPr>
            <a:xfrm>
              <a:off x="9448800" y="2628900"/>
              <a:ext cx="1066800" cy="857250"/>
            </a:xfrm>
            <a:custGeom>
              <a:avLst/>
              <a:gdLst/>
              <a:ahLst/>
              <a:cxnLst/>
              <a:rect l="l" t="t" r="r" b="b"/>
              <a:pathLst>
                <a:path w="1066800" h="857250">
                  <a:moveTo>
                    <a:pt x="0" y="0"/>
                  </a:moveTo>
                  <a:lnTo>
                    <a:pt x="647700" y="0"/>
                  </a:lnTo>
                  <a:lnTo>
                    <a:pt x="647700" y="857250"/>
                  </a:lnTo>
                  <a:lnTo>
                    <a:pt x="1066800" y="8572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48800" y="3486150"/>
              <a:ext cx="647700" cy="876300"/>
            </a:xfrm>
            <a:custGeom>
              <a:avLst/>
              <a:gdLst/>
              <a:ahLst/>
              <a:cxnLst/>
              <a:rect l="l" t="t" r="r" b="b"/>
              <a:pathLst>
                <a:path w="647700" h="876300">
                  <a:moveTo>
                    <a:pt x="0" y="876300"/>
                  </a:moveTo>
                  <a:lnTo>
                    <a:pt x="647700" y="876300"/>
                  </a:lnTo>
                  <a:lnTo>
                    <a:pt x="6477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10363200" y="34004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515600" y="2895600"/>
              <a:ext cx="1143000" cy="11811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0889941" y="3105150"/>
              <a:ext cx="372013" cy="342900"/>
              <a:chOff x="10889941" y="3105150"/>
              <a:chExt cx="372013" cy="3429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889941" y="3105150"/>
                <a:ext cx="372013" cy="339966"/>
              </a:xfrm>
              <a:custGeom>
                <a:avLst/>
                <a:gdLst/>
                <a:ahLst/>
                <a:cxnLst/>
                <a:rect l="l" t="t" r="r" b="b"/>
                <a:pathLst>
                  <a:path w="372013" h="339966">
                    <a:moveTo>
                      <a:pt x="186872" y="339966"/>
                    </a:moveTo>
                    <a:cubicBezTo>
                      <a:pt x="67532" y="302974"/>
                      <a:pt x="0" y="177021"/>
                      <a:pt x="35234" y="57150"/>
                    </a:cubicBezTo>
                    <a:cubicBezTo>
                      <a:pt x="94585" y="59866"/>
                      <a:pt x="152661" y="39368"/>
                      <a:pt x="197159" y="0"/>
                    </a:cubicBezTo>
                    <a:cubicBezTo>
                      <a:pt x="241657" y="39368"/>
                      <a:pt x="299733" y="59866"/>
                      <a:pt x="359084" y="57150"/>
                    </a:cubicBezTo>
                    <a:cubicBezTo>
                      <a:pt x="372013" y="101139"/>
                      <a:pt x="371415" y="147998"/>
                      <a:pt x="357369" y="191643"/>
                    </a:cubicBez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144250" y="33718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714482" y="35775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可追溯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73608" y="5276850"/>
            <a:ext cx="10832592" cy="938784"/>
            <a:chOff x="673608" y="5276850"/>
            <a:chExt cx="10832592" cy="938784"/>
          </a:xfrm>
        </p:grpSpPr>
        <p:sp>
          <p:nvSpPr>
            <p:cNvPr id="45" name="Line 45"/>
            <p:cNvSpPr/>
            <p:nvPr/>
          </p:nvSpPr>
          <p:spPr>
            <a:xfrm>
              <a:off x="685800" y="5276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3608" y="5455920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当前边界：课程学习场景的轻量执行环境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6656" y="58635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生产部署仍需容器隔离、资源限制、判题队列与高并发治理。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78942" y="6274118"/>
            <a:ext cx="10986516" cy="264033"/>
            <a:chOff x="678942" y="6274118"/>
            <a:chExt cx="10986516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678942" y="6274118"/>
              <a:ext cx="7010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retriever.py:196 · workflow.py:30 · trace_runner.py:21 · schemas/oj.py:35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42923" y="62741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9077706" cy="1104710"/>
            <a:chOff x="514350" y="362902"/>
            <a:chExt cx="9077706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69077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记住学生，不等于混淆学生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90708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个性化建立在账号级数据归属、角色校验与只读聚合边界之上。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866900"/>
            <a:ext cx="3162300" cy="1038035"/>
            <a:chOff x="685800" y="1866900"/>
            <a:chExt cx="3162300" cy="1038035"/>
          </a:xfrm>
        </p:grpSpPr>
        <p:sp>
          <p:nvSpPr>
            <p:cNvPr id="5" name="Rectangle 5"/>
            <p:cNvSpPr/>
            <p:nvPr/>
          </p:nvSpPr>
          <p:spPr>
            <a:xfrm>
              <a:off x="685800" y="1866900"/>
              <a:ext cx="2381250" cy="95250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3356" y="2015490"/>
              <a:ext cx="1759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IDENTITY ROOT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6498" y="2288858"/>
              <a:ext cx="22894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JWT + role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067050" y="2343150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3695700" y="22574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73608" y="3272790"/>
            <a:ext cx="3804514" cy="2689860"/>
            <a:chOff x="673608" y="3272790"/>
            <a:chExt cx="3804514" cy="2689860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3272790"/>
              <a:ext cx="22841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SERVER-SIDE RULES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3608" y="3684270"/>
              <a:ext cx="38045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路由守卫 + 后端 role 校验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3608" y="414147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学生只操作自身数据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608" y="45986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教师只读班级聚合学情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5800" y="5257800"/>
              <a:ext cx="2952750" cy="704850"/>
            </a:xfrm>
            <a:prstGeom prst="roundRect">
              <a:avLst>
                <a:gd name="adj" fmla="val 2703"/>
              </a:avLst>
            </a:prstGeom>
            <a:solidFill>
              <a:schemeClr val="lt2"/>
            </a:solidFill>
            <a:ln w="19050">
              <a:solidFill>
                <a:srgbClr val="FF6B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156" y="5349240"/>
              <a:ext cx="265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拒绝客户端指定 user_id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5683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身份从认证上下文解析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095750" y="1752600"/>
            <a:ext cx="7410450" cy="4286250"/>
            <a:chOff x="4095750" y="1752600"/>
            <a:chExt cx="7410450" cy="4286250"/>
          </a:xfrm>
        </p:grpSpPr>
        <p:sp>
          <p:nvSpPr>
            <p:cNvPr id="19" name="Rectangle 19"/>
            <p:cNvSpPr/>
            <p:nvPr/>
          </p:nvSpPr>
          <p:spPr>
            <a:xfrm>
              <a:off x="4095750" y="1752600"/>
              <a:ext cx="7410450" cy="4286250"/>
            </a:xfrm>
            <a:prstGeom prst="roundRect">
              <a:avLst>
                <a:gd name="adj" fmla="val 444"/>
              </a:avLst>
            </a:prstGeom>
            <a:solidFill>
              <a:srgbClr val="0B1D2A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91406" y="1939290"/>
              <a:ext cx="5458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8 ORM TABLES · CURRENT FROZEN REPOSITORY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245745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96446" y="26250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users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0" y="245745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33870" y="262509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student_profiles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201150" y="245745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19883" y="2625090"/>
              <a:ext cx="21627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learning_progress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38650" y="339090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63530" y="3558540"/>
              <a:ext cx="2550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generated_resources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048500" y="339090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64248" y="3558540"/>
              <a:ext cx="23687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learning_path_plans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201150" y="339090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01709" y="35585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learning_memories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219700" y="4324350"/>
              <a:ext cx="24193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44998" y="4491990"/>
              <a:ext cx="23687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learning_event_logs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115300" y="4324350"/>
              <a:ext cx="24193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49551" y="449199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oj_submissions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5438775" y="2733675"/>
              <a:ext cx="4762500" cy="1590675"/>
            </a:xfrm>
            <a:custGeom>
              <a:avLst/>
              <a:gdLst/>
              <a:ahLst/>
              <a:cxnLst/>
              <a:rect l="l" t="t" r="r" b="b"/>
              <a:pathLst>
                <a:path w="4762500" h="1590675">
                  <a:moveTo>
                    <a:pt x="1000125" y="0"/>
                  </a:moveTo>
                  <a:lnTo>
                    <a:pt x="1609725" y="0"/>
                  </a:lnTo>
                  <a:moveTo>
                    <a:pt x="0" y="276225"/>
                  </a:moveTo>
                  <a:lnTo>
                    <a:pt x="0" y="657225"/>
                  </a:lnTo>
                  <a:moveTo>
                    <a:pt x="2609850" y="276225"/>
                  </a:moveTo>
                  <a:lnTo>
                    <a:pt x="2609850" y="657225"/>
                  </a:lnTo>
                  <a:moveTo>
                    <a:pt x="4762500" y="276225"/>
                  </a:moveTo>
                  <a:lnTo>
                    <a:pt x="4762500" y="657225"/>
                  </a:lnTo>
                  <a:moveTo>
                    <a:pt x="1000125" y="933450"/>
                  </a:moveTo>
                  <a:lnTo>
                    <a:pt x="1609725" y="933450"/>
                  </a:lnTo>
                  <a:moveTo>
                    <a:pt x="3609975" y="933450"/>
                  </a:moveTo>
                  <a:lnTo>
                    <a:pt x="3762375" y="933450"/>
                  </a:lnTo>
                  <a:moveTo>
                    <a:pt x="990600" y="1209675"/>
                  </a:moveTo>
                  <a:lnTo>
                    <a:pt x="990600" y="1590675"/>
                  </a:lnTo>
                  <a:moveTo>
                    <a:pt x="3886200" y="1209675"/>
                  </a:moveTo>
                  <a:lnTo>
                    <a:pt x="3886200" y="15906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438650" y="51435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29506" y="5330190"/>
              <a:ext cx="3144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学生边界：user_id 实线归属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1356" y="53301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教师边界：只读聚合虚线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6542" y="6274118"/>
            <a:ext cx="11138916" cy="264033"/>
            <a:chOff x="526542" y="6274118"/>
            <a:chExt cx="111389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526542" y="6274118"/>
              <a:ext cx="5511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backend/models/db_models.py · 8 __tablename__ declarations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2923" y="62741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11167811" cy="1104710"/>
            <a:chOff x="514350" y="362902"/>
            <a:chExt cx="11167811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1116781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A3 核心要求，都有代码、页面或状态证据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不是覆盖关键词，而是让每项能力都能被定位、演示和核验。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6656" y="1615440"/>
            <a:ext cx="10829544" cy="375285"/>
            <a:chOff x="676656" y="1615440"/>
            <a:chExt cx="10829544" cy="375285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615440"/>
              <a:ext cx="1656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A3 CAPABILITY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629406" y="1615440"/>
              <a:ext cx="2706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ALGOPILOT MECHANISM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25106" y="1615440"/>
              <a:ext cx="243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VERIFIABLE EVIDENCE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98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3608" y="2160270"/>
            <a:ext cx="10832592" cy="497205"/>
            <a:chOff x="673608" y="2160270"/>
            <a:chExt cx="10832592" cy="497205"/>
          </a:xfrm>
        </p:grpSpPr>
        <p:sp>
          <p:nvSpPr>
            <p:cNvPr id="10" name="TextBox 10"/>
            <p:cNvSpPr txBox="1"/>
            <p:nvPr/>
          </p:nvSpPr>
          <p:spPr>
            <a:xfrm>
              <a:off x="673608" y="21602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动态学生画像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29406" y="2225040"/>
              <a:ext cx="1716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ProfilingAgent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27392" y="227361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agents/registry.py · student_profiles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264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73608" y="2827020"/>
            <a:ext cx="10832592" cy="497205"/>
            <a:chOff x="673608" y="2827020"/>
            <a:chExt cx="10832592" cy="497205"/>
          </a:xfrm>
        </p:grpSpPr>
        <p:sp>
          <p:nvSpPr>
            <p:cNvPr id="15" name="TextBox 15"/>
            <p:cNvSpPr txBox="1"/>
            <p:nvPr/>
          </p:nvSpPr>
          <p:spPr>
            <a:xfrm>
              <a:off x="673608" y="2827020"/>
              <a:ext cx="19144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类核心资源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29406" y="2891790"/>
              <a:ext cx="1992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generate-all DAG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27392" y="2940368"/>
              <a:ext cx="3754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workflow.py · RESOURCE_TYPE_TO_AGENT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314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73608" y="3493770"/>
            <a:ext cx="10832592" cy="497205"/>
            <a:chOff x="673608" y="3493770"/>
            <a:chExt cx="10832592" cy="497205"/>
          </a:xfrm>
        </p:grpSpPr>
        <p:sp>
          <p:nvSpPr>
            <p:cNvPr id="20" name="TextBox 20"/>
            <p:cNvSpPr txBox="1"/>
            <p:nvPr/>
          </p:nvSpPr>
          <p:spPr>
            <a:xfrm>
              <a:off x="673608" y="34937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个性化学习路径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29406" y="3558540"/>
              <a:ext cx="2245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LearningPathAgent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27392" y="36071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learning-path page · learning_path_plans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3981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73608" y="4160520"/>
            <a:ext cx="10832592" cy="497205"/>
            <a:chOff x="673608" y="4160520"/>
            <a:chExt cx="10832592" cy="497205"/>
          </a:xfrm>
        </p:grpSpPr>
        <p:sp>
          <p:nvSpPr>
            <p:cNvPr id="25" name="TextBox 25"/>
            <p:cNvSpPr txBox="1"/>
            <p:nvPr/>
          </p:nvSpPr>
          <p:spPr>
            <a:xfrm>
              <a:off x="673608" y="416052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智能辅导与诊断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29406" y="4225290"/>
              <a:ext cx="24634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Tutor · OJ Diagnosis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27392" y="4273868"/>
              <a:ext cx="2870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OJ workbench · trace endpoints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4648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73608" y="4827270"/>
            <a:ext cx="10832592" cy="497205"/>
            <a:chOff x="673608" y="4827270"/>
            <a:chExt cx="10832592" cy="497205"/>
          </a:xfrm>
        </p:grpSpPr>
        <p:sp>
          <p:nvSpPr>
            <p:cNvPr id="30" name="TextBox 30"/>
            <p:cNvSpPr txBox="1"/>
            <p:nvPr/>
          </p:nvSpPr>
          <p:spPr>
            <a:xfrm>
              <a:off x="673608" y="48272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效果评估与教师端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29406" y="4892040"/>
              <a:ext cx="2370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Mastery · EventBus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27392" y="4940618"/>
              <a:ext cx="2830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teacher-dashboard · event logs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" y="5314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73608" y="5494020"/>
            <a:ext cx="10213155" cy="469392"/>
            <a:chOff x="673608" y="5494020"/>
            <a:chExt cx="10213155" cy="469392"/>
          </a:xfrm>
        </p:grpSpPr>
        <p:sp>
          <p:nvSpPr>
            <p:cNvPr id="35" name="TextBox 35"/>
            <p:cNvSpPr txBox="1"/>
            <p:nvPr/>
          </p:nvSpPr>
          <p:spPr>
            <a:xfrm>
              <a:off x="673608" y="5494020"/>
              <a:ext cx="3369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多智能体 / RAG / LLM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29406" y="5558790"/>
              <a:ext cx="3204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22 registry · BM25 · Spark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27392" y="5607368"/>
              <a:ext cx="3559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registry.py · retriever.py · LLM client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6656" y="6057900"/>
            <a:ext cx="10988802" cy="481584"/>
            <a:chOff x="676656" y="6057900"/>
            <a:chExt cx="10988802" cy="481584"/>
          </a:xfrm>
        </p:grpSpPr>
        <p:sp>
          <p:nvSpPr>
            <p:cNvPr id="39" name="Line 39"/>
            <p:cNvSpPr/>
            <p:nvPr/>
          </p:nvSpPr>
          <p:spPr>
            <a:xfrm>
              <a:off x="685800" y="6057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6656" y="6187440"/>
              <a:ext cx="4828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已完成：5 类核心资源、智能辅导、效果评估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15556" y="618744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扩展：reading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42923" y="62360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9933889" cy="1104710"/>
            <a:chOff x="514350" y="381952"/>
            <a:chExt cx="9933889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982736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真正的创新，是把“生成”接回学习过程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99270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单点模型调用不稀缺；可验证的生成—诊断—记忆—重规划闭环才稀缺。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71950" y="2457450"/>
            <a:ext cx="3848100" cy="2895600"/>
            <a:chOff x="4171950" y="2457450"/>
            <a:chExt cx="3848100" cy="2895600"/>
          </a:xfrm>
        </p:grpSpPr>
        <p:sp>
          <p:nvSpPr>
            <p:cNvPr id="5" name="Ellipse 5"/>
            <p:cNvSpPr/>
            <p:nvPr/>
          </p:nvSpPr>
          <p:spPr>
            <a:xfrm>
              <a:off x="5029200" y="2838450"/>
              <a:ext cx="2133600" cy="21336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189487" y="339375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学习状态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37632" y="39509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持续更新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171950" y="2457450"/>
              <a:ext cx="3848100" cy="2895600"/>
            </a:xfrm>
            <a:custGeom>
              <a:avLst/>
              <a:gdLst/>
              <a:ahLst/>
              <a:cxnLst/>
              <a:rect l="l" t="t" r="r" b="b"/>
              <a:pathLst>
                <a:path w="3848100" h="2895600">
                  <a:moveTo>
                    <a:pt x="1104900" y="762000"/>
                  </a:moveTo>
                  <a:lnTo>
                    <a:pt x="0" y="0"/>
                  </a:lnTo>
                  <a:moveTo>
                    <a:pt x="2743200" y="762000"/>
                  </a:moveTo>
                  <a:lnTo>
                    <a:pt x="3848100" y="0"/>
                  </a:lnTo>
                  <a:moveTo>
                    <a:pt x="1104900" y="2133600"/>
                  </a:moveTo>
                  <a:lnTo>
                    <a:pt x="0" y="2895600"/>
                  </a:lnTo>
                  <a:moveTo>
                    <a:pt x="2743200" y="2133600"/>
                  </a:moveTo>
                  <a:lnTo>
                    <a:pt x="3848100" y="2895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3608" y="1901190"/>
            <a:ext cx="5800141" cy="1723644"/>
            <a:chOff x="673608" y="1901190"/>
            <a:chExt cx="5800141" cy="17236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1901190"/>
              <a:ext cx="2565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 · LIGHTWEIGHT DAG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22821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传统：串行生成或黑盒编排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3608" y="2560320"/>
              <a:ext cx="5800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机制：自研依赖 DAG + PipelineContext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2997518"/>
              <a:ext cx="2985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证据：orchestrator/workflow.py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6656" y="32727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价值：并行可解释，失败可定位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79308" y="1901190"/>
            <a:ext cx="5080406" cy="1723644"/>
            <a:chOff x="8179308" y="1901190"/>
            <a:chExt cx="5080406" cy="1723644"/>
          </a:xfrm>
        </p:grpSpPr>
        <p:sp>
          <p:nvSpPr>
            <p:cNvPr id="16" name="TextBox 16"/>
            <p:cNvSpPr txBox="1"/>
            <p:nvPr/>
          </p:nvSpPr>
          <p:spPr>
            <a:xfrm>
              <a:off x="8182356" y="1901190"/>
              <a:ext cx="2655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 · TRACE PROTOCOL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2356" y="22821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传统：运行结果与过程割裂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79308" y="2560320"/>
              <a:ext cx="50804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机制：Python / C++ 统一事件协议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84642" y="2997518"/>
              <a:ext cx="3566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证据：trace_runner + cpp_trace_runner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82356" y="32727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价值：错误过程可视、可复盘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3608" y="4815840"/>
            <a:ext cx="4672190" cy="1723644"/>
            <a:chOff x="673608" y="4815840"/>
            <a:chExt cx="4672190" cy="1723644"/>
          </a:xfrm>
        </p:grpSpPr>
        <p:sp>
          <p:nvSpPr>
            <p:cNvPr id="22" name="TextBox 22"/>
            <p:cNvSpPr txBox="1"/>
            <p:nvPr/>
          </p:nvSpPr>
          <p:spPr>
            <a:xfrm>
              <a:off x="676656" y="4815840"/>
              <a:ext cx="2706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 · VERIFIED CONTENT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6656" y="51968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传统：生成正确性只靠模型自觉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608" y="5474970"/>
              <a:ext cx="46721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机制：RAG + Verifier + Safety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942" y="5912168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证据：retriever.py · workflow.py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6656" y="6187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价值：内容有依据、有回流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79308" y="4815840"/>
            <a:ext cx="4224528" cy="1723644"/>
            <a:chOff x="8179308" y="4815840"/>
            <a:chExt cx="4224528" cy="1723644"/>
          </a:xfrm>
        </p:grpSpPr>
        <p:sp>
          <p:nvSpPr>
            <p:cNvPr id="28" name="TextBox 28"/>
            <p:cNvSpPr txBox="1"/>
            <p:nvPr/>
          </p:nvSpPr>
          <p:spPr>
            <a:xfrm>
              <a:off x="8182356" y="4815840"/>
              <a:ext cx="2873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 · FRUSTRATION LOOP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2356" y="5196840"/>
              <a:ext cx="29882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传统：WA 只结束一次提交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79308" y="547497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机制：失败事件触发巩固节点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4642" y="5912168"/>
              <a:ext cx="279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证据：evaluation.py · EventBus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2356" y="6187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价值：错误直接改变下一步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042923" y="65027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16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8052702" cy="1104710"/>
            <a:chOff x="514350" y="381952"/>
            <a:chExt cx="8052702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805270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核心链路，已经进入自动化验证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38368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2026-07-12 归档测试快照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2846070"/>
            <a:ext cx="5695950" cy="2183892"/>
            <a:chOff x="666750" y="2846070"/>
            <a:chExt cx="5695950" cy="2183892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2846070"/>
              <a:ext cx="404540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188 passed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37719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9798" y="3984308"/>
              <a:ext cx="44845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后端测试用例全部通过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3608" y="4560570"/>
              <a:ext cx="28190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归档结果：0 failed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86600" y="1809750"/>
            <a:ext cx="4123944" cy="3677412"/>
            <a:chOff x="7086600" y="1809750"/>
            <a:chExt cx="4123944" cy="3677412"/>
          </a:xfrm>
        </p:grpSpPr>
        <p:sp>
          <p:nvSpPr>
            <p:cNvPr id="10" name="Line 10"/>
            <p:cNvSpPr/>
            <p:nvPr/>
          </p:nvSpPr>
          <p:spPr>
            <a:xfrm>
              <a:off x="7086600" y="1809750"/>
              <a:ext cx="9525" cy="3581400"/>
            </a:xfrm>
            <a:custGeom>
              <a:avLst/>
              <a:gdLst/>
              <a:ahLst/>
              <a:cxnLst/>
              <a:rect l="l" t="t" r="r" b="b"/>
              <a:pathLst>
                <a:path w="9525"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34656" y="2053590"/>
              <a:ext cx="248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VERIFICATION STATUS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00950" y="27813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23098" y="2650808"/>
              <a:ext cx="16571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failed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00950" y="35433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26908" y="34937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 个后端测试文件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00950" y="43053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26908" y="4255770"/>
              <a:ext cx="31421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frontend typecheck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07624" y="43205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00950" y="50673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26908" y="5017770"/>
              <a:ext cx="25444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production build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07624" y="50825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8942" y="5810250"/>
            <a:ext cx="10986516" cy="689801"/>
            <a:chOff x="678942" y="5810250"/>
            <a:chExt cx="10986516" cy="689801"/>
          </a:xfrm>
        </p:grpSpPr>
        <p:sp>
          <p:nvSpPr>
            <p:cNvPr id="23" name="Line 23"/>
            <p:cNvSpPr/>
            <p:nvPr/>
          </p:nvSpPr>
          <p:spPr>
            <a:xfrm>
              <a:off x="685800" y="5810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8942" y="5969318"/>
              <a:ext cx="6509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OS Windows 11 · Python 3.13.7 · Node v25.8.1 · archived commit: 待补充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942" y="6236018"/>
              <a:ext cx="7479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pytest --tb=no -q · npm run typecheck · npm run build · runtime 仅见 Speaker Notes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42923" y="62360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10342588" cy="1104710"/>
            <a:chOff x="514350" y="362902"/>
            <a:chExt cx="10342588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1034258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四条资产轨道，构成可核验的工程完成度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产品、内容、实践与工程资产使用同一冻结版本统计。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3608" y="1588770"/>
            <a:ext cx="10832592" cy="1047750"/>
            <a:chOff x="673608" y="1588770"/>
            <a:chExt cx="10832592" cy="1047750"/>
          </a:xfrm>
        </p:grpSpPr>
        <p:sp>
          <p:nvSpPr>
            <p:cNvPr id="5" name="TextBox 5"/>
            <p:cNvSpPr txBox="1"/>
            <p:nvPr/>
          </p:nvSpPr>
          <p:spPr>
            <a:xfrm>
              <a:off x="673608" y="17983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产品界面资产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14700" y="15887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91406" y="1863090"/>
              <a:ext cx="1487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Vue 视图文件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236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17842" y="20069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73 component files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56242" y="2006918"/>
              <a:ext cx="1458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24 named routes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3608" y="2693670"/>
            <a:ext cx="10832592" cy="1047750"/>
            <a:chOff x="673608" y="2693670"/>
            <a:chExt cx="10832592" cy="1047750"/>
          </a:xfrm>
        </p:grpSpPr>
        <p:sp>
          <p:nvSpPr>
            <p:cNvPr id="12" name="TextBox 12"/>
            <p:cNvSpPr txBox="1"/>
            <p:nvPr/>
          </p:nvSpPr>
          <p:spPr>
            <a:xfrm>
              <a:off x="673608" y="290322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课程与题库资产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14700" y="2693670"/>
              <a:ext cx="129753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91456" y="29679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OJ 题目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3467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17842" y="3111818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chapters · 6 labs · 2 projects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3608" y="3798570"/>
            <a:ext cx="10832592" cy="1047750"/>
            <a:chOff x="673608" y="3798570"/>
            <a:chExt cx="10832592" cy="1047750"/>
          </a:xfrm>
        </p:grpSpPr>
        <p:sp>
          <p:nvSpPr>
            <p:cNvPr id="18" name="TextBox 18"/>
            <p:cNvSpPr txBox="1"/>
            <p:nvPr/>
          </p:nvSpPr>
          <p:spPr>
            <a:xfrm>
              <a:off x="673608" y="4008120"/>
              <a:ext cx="34817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OJ 与 Trace 实践资产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76700" y="3798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53406" y="4072890"/>
              <a:ext cx="17385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Trace Vue 组件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85800" y="4572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98992" y="4216718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algorithm games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3608" y="4903470"/>
            <a:ext cx="11016672" cy="1047750"/>
            <a:chOff x="673608" y="4903470"/>
            <a:chExt cx="11016672" cy="1047750"/>
          </a:xfrm>
        </p:grpSpPr>
        <p:sp>
          <p:nvSpPr>
            <p:cNvPr id="24" name="TextBox 24"/>
            <p:cNvSpPr txBox="1"/>
            <p:nvPr/>
          </p:nvSpPr>
          <p:spPr>
            <a:xfrm>
              <a:off x="673608" y="5113020"/>
              <a:ext cx="33937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API、数据与工程资产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76700" y="49034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53406" y="5177790"/>
              <a:ext cx="2244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FastAPI 路由装饰器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85800" y="5676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17842" y="5321618"/>
              <a:ext cx="1171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8 ORM tables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51392" y="53216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32 test files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3492" y="5321618"/>
              <a:ext cx="1276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6 agent layers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8942" y="6064568"/>
            <a:ext cx="10986516" cy="473583"/>
            <a:chOff x="678942" y="6064568"/>
            <a:chExt cx="10986516" cy="473583"/>
          </a:xfrm>
        </p:grpSpPr>
        <p:sp>
          <p:nvSpPr>
            <p:cNvPr id="32" name="TextBox 32"/>
            <p:cNvSpPr txBox="1"/>
            <p:nvPr/>
          </p:nvSpPr>
          <p:spPr>
            <a:xfrm>
              <a:off x="678942" y="6064568"/>
              <a:ext cx="675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snapshot 2026-07-13 · commit dc3e1503fdffaa7c778f83192048c58785cc5870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2923" y="62741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9197645" cy="1104710"/>
            <a:chOff x="514350" y="362902"/>
            <a:chExt cx="9197645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919764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能运行、能演示，不等于已经生产化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价值、推广路径与生产化边界必须同时讲清楚。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38550" y="2228850"/>
            <a:ext cx="4914900" cy="2533650"/>
            <a:chOff x="3638550" y="2228850"/>
            <a:chExt cx="4914900" cy="2533650"/>
          </a:xfrm>
        </p:grpSpPr>
        <p:sp>
          <p:nvSpPr>
            <p:cNvPr id="5" name="Ellipse 5"/>
            <p:cNvSpPr/>
            <p:nvPr/>
          </p:nvSpPr>
          <p:spPr>
            <a:xfrm>
              <a:off x="5200650" y="2362200"/>
              <a:ext cx="1790700" cy="17907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133200" y="2841308"/>
              <a:ext cx="192560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AlgoPilot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17592" y="3425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课程智能学习系统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638550" y="2228850"/>
              <a:ext cx="4914900" cy="2533650"/>
            </a:xfrm>
            <a:custGeom>
              <a:avLst/>
              <a:gdLst/>
              <a:ahLst/>
              <a:cxnLst/>
              <a:rect l="l" t="t" r="r" b="b"/>
              <a:pathLst>
                <a:path w="4914900" h="2533650">
                  <a:moveTo>
                    <a:pt x="1676400" y="590550"/>
                  </a:moveTo>
                  <a:lnTo>
                    <a:pt x="133350" y="0"/>
                  </a:lnTo>
                  <a:moveTo>
                    <a:pt x="3238500" y="590550"/>
                  </a:moveTo>
                  <a:lnTo>
                    <a:pt x="4781550" y="0"/>
                  </a:lnTo>
                  <a:moveTo>
                    <a:pt x="1581150" y="1409700"/>
                  </a:moveTo>
                  <a:lnTo>
                    <a:pt x="0" y="2000250"/>
                  </a:lnTo>
                  <a:moveTo>
                    <a:pt x="3333750" y="1409700"/>
                  </a:moveTo>
                  <a:lnTo>
                    <a:pt x="4914900" y="2000250"/>
                  </a:lnTo>
                  <a:moveTo>
                    <a:pt x="2457450" y="1924050"/>
                  </a:moveTo>
                  <a:lnTo>
                    <a:pt x="2457450" y="25336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73608" y="1767840"/>
            <a:ext cx="1962912" cy="1152144"/>
            <a:chOff x="673608" y="1767840"/>
            <a:chExt cx="1962912" cy="11521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1767840"/>
              <a:ext cx="17849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STUDENT VALUE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608" y="21412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错误过程可见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25679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路径随状态调整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31758" y="1767840"/>
            <a:ext cx="1962912" cy="1152144"/>
            <a:chOff x="8731758" y="1767840"/>
            <a:chExt cx="1962912" cy="1152144"/>
          </a:xfrm>
        </p:grpSpPr>
        <p:sp>
          <p:nvSpPr>
            <p:cNvPr id="14" name="TextBox 14"/>
            <p:cNvSpPr txBox="1"/>
            <p:nvPr/>
          </p:nvSpPr>
          <p:spPr>
            <a:xfrm>
              <a:off x="8734806" y="1767840"/>
              <a:ext cx="17849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TEACHER VALUE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31758" y="21412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学情证据聚合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34806" y="25679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薄弱点可定位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3608" y="3882390"/>
            <a:ext cx="2444496" cy="1152144"/>
            <a:chOff x="673608" y="3882390"/>
            <a:chExt cx="2444496" cy="1152144"/>
          </a:xfrm>
        </p:grpSpPr>
        <p:sp>
          <p:nvSpPr>
            <p:cNvPr id="18" name="TextBox 18"/>
            <p:cNvSpPr txBox="1"/>
            <p:nvPr/>
          </p:nvSpPr>
          <p:spPr>
            <a:xfrm>
              <a:off x="676656" y="3882390"/>
              <a:ext cx="19897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COURSE BUILDING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3608" y="42557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资源生成可复用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6656" y="46824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题库、实验、项目联动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731758" y="3882390"/>
            <a:ext cx="2980639" cy="1152144"/>
            <a:chOff x="8731758" y="3882390"/>
            <a:chExt cx="2980639" cy="1152144"/>
          </a:xfrm>
        </p:grpSpPr>
        <p:sp>
          <p:nvSpPr>
            <p:cNvPr id="22" name="TextBox 22"/>
            <p:cNvSpPr txBox="1"/>
            <p:nvPr/>
          </p:nvSpPr>
          <p:spPr>
            <a:xfrm>
              <a:off x="8734806" y="3882390"/>
              <a:ext cx="2168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DEPLOYMENT PATH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31758" y="4255770"/>
              <a:ext cx="298063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课程试点 → 班级使用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34806" y="4682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再进入校级推广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36287" y="4911090"/>
            <a:ext cx="2719426" cy="352044"/>
            <a:chOff x="4736287" y="4911090"/>
            <a:chExt cx="2719426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4736287" y="4911090"/>
              <a:ext cx="2719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PRODUCTION BOUNDARY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5410200"/>
            <a:ext cx="11125200" cy="899351"/>
            <a:chOff x="533400" y="5410200"/>
            <a:chExt cx="11125200" cy="899351"/>
          </a:xfrm>
        </p:grpSpPr>
        <p:sp>
          <p:nvSpPr>
            <p:cNvPr id="28" name="Rectangle 28"/>
            <p:cNvSpPr/>
            <p:nvPr/>
          </p:nvSpPr>
          <p:spPr>
            <a:xfrm>
              <a:off x="533400" y="5410200"/>
              <a:ext cx="3390900" cy="81915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3806" y="5520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当前可运行能力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3806" y="5844540"/>
              <a:ext cx="36543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 · 路径 · 资源 · OJ / Trace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00550" y="5410200"/>
              <a:ext cx="3390900" cy="81915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00956" y="5520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可直接演示能力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0956" y="5844540"/>
              <a:ext cx="33211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主页 · 学习路径 · OJ 工作台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267700" y="5410200"/>
              <a:ext cx="3390900" cy="81915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19050">
              <a:solidFill>
                <a:srgbClr val="FF6B6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68106" y="5520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后续生产化升级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70392" y="5835968"/>
              <a:ext cx="2740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容器沙箱 · HTTPS · 监控 · 备份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0392" y="60455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高并发 · 判题队列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042923" y="63122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19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6953250" cy="6858000"/>
            </a:xfrm>
            <a:prstGeom prst="rect">
              <a:avLst/>
            </a:prstGeom>
            <a:solidFill>
              <a:schemeClr val="lt1">
                <a:alpha val="62000"/>
              </a:scheme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1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9600" y="681990"/>
            <a:ext cx="5287548" cy="352044"/>
            <a:chOff x="609600" y="681990"/>
            <a:chExt cx="5287548" cy="352044"/>
          </a:xfrm>
        </p:grpSpPr>
        <p:sp>
          <p:nvSpPr>
            <p:cNvPr id="6" name="Line 6"/>
            <p:cNvSpPr/>
            <p:nvPr/>
          </p:nvSpPr>
          <p:spPr>
            <a:xfrm>
              <a:off x="609600" y="8001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62456" y="681990"/>
              <a:ext cx="45346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ALGORITHM LEARNING, CLOSED LOOP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0550" y="1779270"/>
            <a:ext cx="6518910" cy="1924050"/>
            <a:chOff x="590550" y="1779270"/>
            <a:chExt cx="6518910" cy="1924050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779270"/>
              <a:ext cx="6518910" cy="192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900"/>
                </a:lnSpc>
              </a:pPr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让错误留下证据，</a:t>
              </a:r>
              <a:br/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让系统知道下一步。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6766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97408" y="4046220"/>
            <a:ext cx="3986784" cy="926592"/>
            <a:chOff x="597408" y="4046220"/>
            <a:chExt cx="3986784" cy="926592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4046220"/>
              <a:ext cx="39867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把每一次挫败，</a:t>
              </a:r>
              <a:br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变成下一步学习路径的依据。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3598" y="5317808"/>
            <a:ext cx="4315139" cy="916876"/>
            <a:chOff x="593598" y="5317808"/>
            <a:chExt cx="4315139" cy="916876"/>
          </a:xfrm>
        </p:grpSpPr>
        <p:sp>
          <p:nvSpPr>
            <p:cNvPr id="14" name="TextBox 14"/>
            <p:cNvSpPr txBox="1"/>
            <p:nvPr/>
          </p:nvSpPr>
          <p:spPr>
            <a:xfrm>
              <a:off x="593598" y="5317808"/>
              <a:ext cx="43151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AlgoPilot 算法领航员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5882640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软件杯 A3 赛题 · 2026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6343650"/>
            <a:ext cx="11132058" cy="404051"/>
            <a:chOff x="533400" y="6343650"/>
            <a:chExt cx="11132058" cy="404051"/>
          </a:xfrm>
        </p:grpSpPr>
        <p:sp>
          <p:nvSpPr>
            <p:cNvPr id="17" name="Line 17"/>
            <p:cNvSpPr/>
            <p:nvPr/>
          </p:nvSpPr>
          <p:spPr>
            <a:xfrm>
              <a:off x="533400" y="6343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042923" y="64836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F3F7FA"/>
      </a:dk1>
      <a:lt1>
        <a:srgbClr val="071521"/>
      </a:lt1>
      <a:dk2>
        <a:srgbClr val="A9C2D3"/>
      </a:dk2>
      <a:lt2>
        <a:srgbClr val="10283B"/>
      </a:lt2>
      <a:accent1>
        <a:srgbClr val="4CC9F0"/>
      </a:accent1>
      <a:accent2>
        <a:srgbClr val="FFB703"/>
      </a:accent2>
      <a:accent3>
        <a:srgbClr val="52B788"/>
      </a:accent3>
      <a:accent4>
        <a:srgbClr val="24455B"/>
      </a:accent4>
      <a:accent5>
        <a:srgbClr val="6E8CA0"/>
      </a:accent5>
      <a:accent6>
        <a:srgbClr val="163246"/>
      </a:accent6>
      <a:hlink>
        <a:srgbClr val="FFB703"/>
      </a:hlink>
      <a:folHlink>
        <a:srgbClr val="52B788"/>
      </a:folHlink>
    </a:clrScheme>
    <a:fontScheme name="PPT 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F3F7FA"/>
      </a:dk1>
      <a:lt1>
        <a:srgbClr val="071521"/>
      </a:lt1>
      <a:dk2>
        <a:srgbClr val="A9C2D3"/>
      </a:dk2>
      <a:lt2>
        <a:srgbClr val="10283B"/>
      </a:lt2>
      <a:accent1>
        <a:srgbClr val="4CC9F0"/>
      </a:accent1>
      <a:accent2>
        <a:srgbClr val="FFB703"/>
      </a:accent2>
      <a:accent3>
        <a:srgbClr val="52B788"/>
      </a:accent3>
      <a:accent4>
        <a:srgbClr val="24455B"/>
      </a:accent4>
      <a:accent5>
        <a:srgbClr val="6E8CA0"/>
      </a:accent5>
      <a:accent6>
        <a:srgbClr val="163246"/>
      </a:accent6>
      <a:hlink>
        <a:srgbClr val="FFB703"/>
      </a:hlink>
      <a:folHlink>
        <a:srgbClr val="52B788"/>
      </a:folHlink>
    </a:clrScheme>
    <a:fontScheme name="PPT 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2026-07-13T09:37:44Z</dcterms:created>
  <dcterms:modified xsi:type="dcterms:W3CDTF">2026-07-13T09:37:44Z</dcterms:modified>
  <cp:category/>
  <cp:contentStatus/>
</cp:coreProperties>
</file>