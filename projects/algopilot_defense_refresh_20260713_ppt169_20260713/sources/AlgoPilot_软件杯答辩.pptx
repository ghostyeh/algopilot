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
  <Relationship Id="rId14" Type="http://schemas.openxmlformats.org/officeDocument/2006/relationships/slideLayout" Target="../slideLayouts/slideLayout13.xml"/>
  <Relationship Id="rId15" Type="http://schemas.openxmlformats.org/officeDocument/2006/relationships/slideLayout" Target="../slideLayouts/slideLayout14.xml"/>
  <Relationship Id="rId16" Type="http://schemas.openxmlformats.org/officeDocument/2006/relationships/slideLayout" Target="../slideLayouts/slideLayout15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6"/>
          <p:cNvGrpSpPr/>
          <p:nvPr/>
        </p:nvGrpSpPr>
        <p:grpSpPr>
          <a:xfrm>
            <a:off x="1676400" y="514350"/>
            <a:ext cx="8829675" cy="2181225"/>
            <a:chOff x="1676400" y="514350"/>
            <a:chExt cx="8829675" cy="2181225"/>
          </a:xfrm>
        </p:grpSpPr>
        <p:sp>
          <p:nvSpPr>
            <p:cNvPr id="2" name="Ellipse 2"/>
            <p:cNvSpPr/>
            <p:nvPr/>
          </p:nvSpPr>
          <p:spPr>
            <a:xfrm>
              <a:off x="1676400" y="1104900"/>
              <a:ext cx="76200" cy="76200"/>
            </a:xfrm>
            <a:prstGeom prst="ellipse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2990850" y="704850"/>
              <a:ext cx="114300" cy="114300"/>
            </a:xfrm>
            <a:prstGeom prst="ellipse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4733925" y="1400175"/>
              <a:ext cx="57150" cy="57150"/>
            </a:xfrm>
            <a:prstGeom prst="ellipse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6143625" y="619125"/>
              <a:ext cx="95250" cy="95250"/>
            </a:xfrm>
            <a:prstGeom prst="ellipse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7581900" y="1200150"/>
              <a:ext cx="76200" cy="76200"/>
            </a:xfrm>
            <a:prstGeom prst="ellipse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8991600" y="514350"/>
              <a:ext cx="114300" cy="114300"/>
            </a:xfrm>
            <a:prstGeom prst="ellipse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448925" y="1304925"/>
              <a:ext cx="57150" cy="57150"/>
            </a:xfrm>
            <a:prstGeom prst="ellipse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638425" y="1876425"/>
              <a:ext cx="57150" cy="57150"/>
            </a:xfrm>
            <a:prstGeom prst="ellipse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4248150" y="2343150"/>
              <a:ext cx="76200" cy="76200"/>
            </a:xfrm>
            <a:prstGeom prst="ellipse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6619875" y="2047875"/>
              <a:ext cx="95250" cy="95250"/>
            </a:xfrm>
            <a:prstGeom prst="ellipse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8543925" y="2638425"/>
              <a:ext cx="57150" cy="57150"/>
            </a:xfrm>
            <a:prstGeom prst="ellipse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963150" y="1866900"/>
              <a:ext cx="76200" cy="76200"/>
            </a:xfrm>
            <a:prstGeom prst="ellipse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1714500" y="762000"/>
              <a:ext cx="1333500" cy="381000"/>
            </a:xfrm>
            <a:custGeom>
              <a:avLst/>
              <a:gdLst/>
              <a:ahLst/>
              <a:cxnLst/>
              <a:rect l="l" t="t" r="r" b="b"/>
              <a:pathLst>
                <a:path w="1333500" h="381000">
                  <a:moveTo>
                    <a:pt x="0" y="381000"/>
                  </a:moveTo>
                  <a:lnTo>
                    <a:pt x="1333500" y="0"/>
                  </a:lnTo>
                </a:path>
              </a:pathLst>
            </a:custGeom>
            <a:noFill/>
            <a:ln w="14288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048000" y="762000"/>
              <a:ext cx="1714500" cy="666750"/>
            </a:xfrm>
            <a:custGeom>
              <a:avLst/>
              <a:gdLst/>
              <a:ahLst/>
              <a:cxnLst/>
              <a:rect l="l" t="t" r="r" b="b"/>
              <a:pathLst>
                <a:path w="1714500" h="666750">
                  <a:moveTo>
                    <a:pt x="0" y="0"/>
                  </a:moveTo>
                  <a:lnTo>
                    <a:pt x="1714500" y="666750"/>
                  </a:lnTo>
                </a:path>
              </a:pathLst>
            </a:custGeom>
            <a:noFill/>
            <a:ln w="14288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3048000" y="666750"/>
              <a:ext cx="3143250" cy="95250"/>
            </a:xfrm>
            <a:custGeom>
              <a:avLst/>
              <a:gdLst/>
              <a:ahLst/>
              <a:cxnLst/>
              <a:rect l="l" t="t" r="r" b="b"/>
              <a:pathLst>
                <a:path w="3143250" h="95250">
                  <a:moveTo>
                    <a:pt x="0" y="95250"/>
                  </a:moveTo>
                  <a:lnTo>
                    <a:pt x="3143250" y="0"/>
                  </a:lnTo>
                </a:path>
              </a:pathLst>
            </a:custGeom>
            <a:noFill/>
            <a:ln w="14288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6191250" y="666750"/>
              <a:ext cx="1428750" cy="571500"/>
            </a:xfrm>
            <a:custGeom>
              <a:avLst/>
              <a:gdLst/>
              <a:ahLst/>
              <a:cxnLst/>
              <a:rect l="l" t="t" r="r" b="b"/>
              <a:pathLst>
                <a:path w="1428750" h="571500">
                  <a:moveTo>
                    <a:pt x="0" y="0"/>
                  </a:moveTo>
                  <a:lnTo>
                    <a:pt x="1428750" y="571500"/>
                  </a:lnTo>
                </a:path>
              </a:pathLst>
            </a:custGeom>
            <a:noFill/>
            <a:ln w="14288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191250" y="571500"/>
              <a:ext cx="2857500" cy="95250"/>
            </a:xfrm>
            <a:custGeom>
              <a:avLst/>
              <a:gdLst/>
              <a:ahLst/>
              <a:cxnLst/>
              <a:rect l="l" t="t" r="r" b="b"/>
              <a:pathLst>
                <a:path w="2857500" h="95250">
                  <a:moveTo>
                    <a:pt x="0" y="95250"/>
                  </a:moveTo>
                  <a:lnTo>
                    <a:pt x="2857500" y="0"/>
                  </a:lnTo>
                </a:path>
              </a:pathLst>
            </a:custGeom>
            <a:noFill/>
            <a:ln w="14288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7620000" y="1238250"/>
              <a:ext cx="2857500" cy="95250"/>
            </a:xfrm>
            <a:custGeom>
              <a:avLst/>
              <a:gdLst/>
              <a:ahLst/>
              <a:cxnLst/>
              <a:rect l="l" t="t" r="r" b="b"/>
              <a:pathLst>
                <a:path w="2857500" h="95250">
                  <a:moveTo>
                    <a:pt x="0" y="0"/>
                  </a:moveTo>
                  <a:lnTo>
                    <a:pt x="2857500" y="95250"/>
                  </a:lnTo>
                </a:path>
              </a:pathLst>
            </a:custGeom>
            <a:noFill/>
            <a:ln w="14288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2667000" y="1428750"/>
              <a:ext cx="2095500" cy="476250"/>
            </a:xfrm>
            <a:custGeom>
              <a:avLst/>
              <a:gdLst/>
              <a:ahLst/>
              <a:cxnLst/>
              <a:rect l="l" t="t" r="r" b="b"/>
              <a:pathLst>
                <a:path w="2095500" h="476250">
                  <a:moveTo>
                    <a:pt x="2095500" y="0"/>
                  </a:moveTo>
                  <a:lnTo>
                    <a:pt x="0" y="476250"/>
                  </a:lnTo>
                </a:path>
              </a:pathLst>
            </a:custGeom>
            <a:noFill/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286250" y="1428750"/>
              <a:ext cx="476250" cy="952500"/>
            </a:xfrm>
            <a:custGeom>
              <a:avLst/>
              <a:gdLst/>
              <a:ahLst/>
              <a:cxnLst/>
              <a:rect l="l" t="t" r="r" b="b"/>
              <a:pathLst>
                <a:path w="476250" h="952500">
                  <a:moveTo>
                    <a:pt x="476250" y="0"/>
                  </a:moveTo>
                  <a:lnTo>
                    <a:pt x="0" y="952500"/>
                  </a:lnTo>
                </a:path>
              </a:pathLst>
            </a:custGeom>
            <a:noFill/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667500" y="1238250"/>
              <a:ext cx="952500" cy="857250"/>
            </a:xfrm>
            <a:custGeom>
              <a:avLst/>
              <a:gdLst/>
              <a:ahLst/>
              <a:cxnLst/>
              <a:rect l="l" t="t" r="r" b="b"/>
              <a:pathLst>
                <a:path w="952500" h="857250">
                  <a:moveTo>
                    <a:pt x="952500" y="0"/>
                  </a:moveTo>
                  <a:lnTo>
                    <a:pt x="0" y="857250"/>
                  </a:lnTo>
                </a:path>
              </a:pathLst>
            </a:custGeom>
            <a:noFill/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9048750" y="571500"/>
              <a:ext cx="952500" cy="1333500"/>
            </a:xfrm>
            <a:custGeom>
              <a:avLst/>
              <a:gdLst/>
              <a:ahLst/>
              <a:cxnLst/>
              <a:rect l="l" t="t" r="r" b="b"/>
              <a:pathLst>
                <a:path w="952500" h="1333500">
                  <a:moveTo>
                    <a:pt x="0" y="0"/>
                  </a:moveTo>
                  <a:lnTo>
                    <a:pt x="952500" y="1333500"/>
                  </a:lnTo>
                </a:path>
              </a:pathLst>
            </a:custGeom>
            <a:noFill/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6667500" y="2095500"/>
              <a:ext cx="1905000" cy="571500"/>
            </a:xfrm>
            <a:custGeom>
              <a:avLst/>
              <a:gdLst/>
              <a:ahLst/>
              <a:cxnLst/>
              <a:rect l="l" t="t" r="r" b="b"/>
              <a:pathLst>
                <a:path w="1905000" h="571500">
                  <a:moveTo>
                    <a:pt x="0" y="0"/>
                  </a:moveTo>
                  <a:lnTo>
                    <a:pt x="1905000" y="571500"/>
                  </a:lnTo>
                </a:path>
              </a:pathLst>
            </a:custGeom>
            <a:noFill/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4286250" y="2381250"/>
              <a:ext cx="4286250" cy="285750"/>
            </a:xfrm>
            <a:custGeom>
              <a:avLst/>
              <a:gdLst/>
              <a:ahLst/>
              <a:cxnLst/>
              <a:rect l="l" t="t" r="r" b="b"/>
              <a:pathLst>
                <a:path w="4286250" h="285750">
                  <a:moveTo>
                    <a:pt x="0" y="0"/>
                  </a:moveTo>
                  <a:lnTo>
                    <a:pt x="4286250" y="285750"/>
                  </a:lnTo>
                </a:path>
              </a:pathLst>
            </a:custGeom>
            <a:noFill/>
            <a:ln w="9525">
              <a:solidFill>
                <a:schemeClr val="accent1">
                  <a:alpha val="8000"/>
                </a:schemeClr>
              </a:solidFill>
            </a:ln>
          </p:spPr>
        </p:sp>
      </p:grpSp>
      <p:sp>
        <p:nvSpPr>
          <p:cNvPr id="27" name="Polygon 27"/>
          <p:cNvSpPr/>
          <p:nvPr/>
        </p:nvSpPr>
        <p:spPr>
          <a:xfrm>
            <a:off x="0" y="2952750"/>
            <a:ext cx="12192000" cy="3905250"/>
          </a:xfrm>
          <a:custGeom>
            <a:avLst/>
            <a:gdLst/>
            <a:ahLst/>
            <a:cxnLst/>
            <a:rect l="l" t="t" r="r" b="b"/>
            <a:pathLst>
              <a:path w="12192000" h="3905250">
                <a:moveTo>
                  <a:pt x="0" y="1143000"/>
                </a:moveTo>
                <a:lnTo>
                  <a:pt x="12192000" y="0"/>
                </a:lnTo>
                <a:lnTo>
                  <a:pt x="12192000" y="3905250"/>
                </a:lnTo>
                <a:lnTo>
                  <a:pt x="0" y="39052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8" name="Line 28"/>
          <p:cNvSpPr/>
          <p:nvPr/>
        </p:nvSpPr>
        <p:spPr>
          <a:xfrm>
            <a:off x="0" y="2933700"/>
            <a:ext cx="12192000" cy="1143000"/>
          </a:xfrm>
          <a:custGeom>
            <a:avLst/>
            <a:gdLst/>
            <a:ahLst/>
            <a:cxnLst/>
            <a:rect l="l" t="t" r="r" b="b"/>
            <a:pathLst>
              <a:path w="12192000" h="1143000">
                <a:moveTo>
                  <a:pt x="0" y="1143000"/>
                </a:moveTo>
                <a:lnTo>
                  <a:pt x="12192000" y="0"/>
                </a:lnTo>
              </a:path>
            </a:pathLst>
          </a:custGeom>
          <a:noFill/>
          <a:ln w="28575">
            <a:solidFill>
              <a:schemeClr val="accent2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762000" y="3381375"/>
            <a:ext cx="381000" cy="2857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42950" y="4150995"/>
            <a:ext cx="2382553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AlgoPilot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42950" y="4770120"/>
            <a:ext cx="2794444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算法领航员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53618" y="5489258"/>
            <a:ext cx="490347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accent5"/>
                </a:solidFill>
                <a:latin typeface="Inter"/>
                <a:ea typeface="Microsoft YaHei"/>
                <a:cs typeface="Inter"/>
              </a:rPr>
              <a:t>面向《数据结构与算法》的多智能体智能学习平台</a:t>
            </a:r>
          </a:p>
        </p:txBody>
      </p:sp>
      <p:sp>
        <p:nvSpPr>
          <p:cNvPr id="33" name="Ellipse 33"/>
          <p:cNvSpPr/>
          <p:nvPr/>
        </p:nvSpPr>
        <p:spPr>
          <a:xfrm>
            <a:off x="619125" y="5591175"/>
            <a:ext cx="57150" cy="571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494928" y="6363652"/>
            <a:ext cx="15116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Inter"/>
                <a:ea typeface="Microsoft YaHei"/>
                <a:cs typeface="Inter"/>
              </a:rPr>
              <a:t>软件杯 A3 赛题 · 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8284" y="470535"/>
            <a:ext cx="790727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目录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5904" y="899160"/>
            <a:ext cx="7280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Inter"/>
                <a:ea typeface="Inter"/>
                <a:cs typeface="Inter"/>
              </a:rPr>
              <a:t>Contents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1190625"/>
            <a:ext cx="2571750" cy="9525"/>
          </a:xfrm>
          <a:custGeom>
            <a:avLst/>
            <a:gdLst/>
            <a:ahLst/>
            <a:cxnLst/>
            <a:rect l="l" t="t" r="r" b="b"/>
            <a:pathLst>
              <a:path w="2571750" h="9525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9354617" y="4991100"/>
            <a:ext cx="1903933" cy="2305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0" b="1" dirty="0">
                <a:solidFill>
                  <a:srgbClr val="EDF0F5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52500" y="1682115"/>
            <a:ext cx="2470820" cy="508635"/>
            <a:chOff x="952500" y="1682115"/>
            <a:chExt cx="2470820" cy="508635"/>
          </a:xfrm>
        </p:grpSpPr>
        <p:sp>
          <p:nvSpPr>
            <p:cNvPr id="7" name="Rectangle 7"/>
            <p:cNvSpPr/>
            <p:nvPr/>
          </p:nvSpPr>
          <p:spPr>
            <a:xfrm>
              <a:off x="952500" y="1714500"/>
              <a:ext cx="28575" cy="476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3856" y="16821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6880" y="17145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Inter"/>
                  <a:ea typeface="Microsoft YaHei"/>
                  <a:cs typeface="Inter"/>
                </a:rPr>
                <a:t>背景与痛点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9166" y="1982152"/>
              <a:ext cx="1714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Inter"/>
                  <a:ea typeface="Inter"/>
                  <a:cs typeface="Inter"/>
                </a:rPr>
                <a:t>Background &amp; Pain Points</a:t>
              </a:r>
            </a:p>
          </p:txBody>
        </p:sp>
      </p:grpSp>
      <p:sp>
        <p:nvSpPr>
          <p:cNvPr id="12" name="Line 12"/>
          <p:cNvSpPr/>
          <p:nvPr/>
        </p:nvSpPr>
        <p:spPr>
          <a:xfrm>
            <a:off x="952500" y="228600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952500" y="2444115"/>
            <a:ext cx="2012906" cy="508635"/>
            <a:chOff x="952500" y="2444115"/>
            <a:chExt cx="2012906" cy="508635"/>
          </a:xfrm>
        </p:grpSpPr>
        <p:sp>
          <p:nvSpPr>
            <p:cNvPr id="13" name="Rectangle 13"/>
            <p:cNvSpPr/>
            <p:nvPr/>
          </p:nvSpPr>
          <p:spPr>
            <a:xfrm>
              <a:off x="952500" y="2476500"/>
              <a:ext cx="28575" cy="4762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33856" y="24441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6880" y="24765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Inter"/>
                  <a:ea typeface="Microsoft YaHei"/>
                  <a:cs typeface="Inter"/>
                </a:rPr>
                <a:t>解决方案总览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9166" y="2744152"/>
              <a:ext cx="12562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Inter"/>
                  <a:ea typeface="Inter"/>
                  <a:cs typeface="Inter"/>
                </a:rPr>
                <a:t>Solution Overview</a:t>
              </a:r>
            </a:p>
          </p:txBody>
        </p:sp>
      </p:grpSp>
      <p:sp>
        <p:nvSpPr>
          <p:cNvPr id="18" name="Line 18"/>
          <p:cNvSpPr/>
          <p:nvPr/>
        </p:nvSpPr>
        <p:spPr>
          <a:xfrm>
            <a:off x="952500" y="304800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952500" y="3206115"/>
            <a:ext cx="2211070" cy="508635"/>
            <a:chOff x="952500" y="3206115"/>
            <a:chExt cx="2211070" cy="508635"/>
          </a:xfrm>
        </p:grpSpPr>
        <p:sp>
          <p:nvSpPr>
            <p:cNvPr id="19" name="Rectangle 19"/>
            <p:cNvSpPr/>
            <p:nvPr/>
          </p:nvSpPr>
          <p:spPr>
            <a:xfrm>
              <a:off x="952500" y="3238500"/>
              <a:ext cx="28575" cy="4762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3856" y="32061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06880" y="32385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Inter"/>
                  <a:ea typeface="Microsoft YaHei"/>
                  <a:cs typeface="Inter"/>
                </a:rPr>
                <a:t>技术架构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09166" y="3506152"/>
              <a:ext cx="14544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Inter"/>
                  <a:ea typeface="Inter"/>
                  <a:cs typeface="Inter"/>
                </a:rPr>
                <a:t>System Architecture</a:t>
              </a:r>
            </a:p>
          </p:txBody>
        </p:sp>
      </p:grpSp>
      <p:sp>
        <p:nvSpPr>
          <p:cNvPr id="24" name="Line 24"/>
          <p:cNvSpPr/>
          <p:nvPr/>
        </p:nvSpPr>
        <p:spPr>
          <a:xfrm>
            <a:off x="952500" y="381000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grpSp>
        <p:nvGrpSpPr>
          <p:cNvPr id="29" name="Group 29"/>
          <p:cNvGrpSpPr/>
          <p:nvPr/>
        </p:nvGrpSpPr>
        <p:grpSpPr>
          <a:xfrm>
            <a:off x="952500" y="3968115"/>
            <a:ext cx="1751857" cy="508635"/>
            <a:chOff x="952500" y="3968115"/>
            <a:chExt cx="1751857" cy="508635"/>
          </a:xfrm>
        </p:grpSpPr>
        <p:sp>
          <p:nvSpPr>
            <p:cNvPr id="25" name="Rectangle 25"/>
            <p:cNvSpPr/>
            <p:nvPr/>
          </p:nvSpPr>
          <p:spPr>
            <a:xfrm>
              <a:off x="952500" y="4000500"/>
              <a:ext cx="28575" cy="4762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33856" y="39681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06880" y="40005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Inter"/>
                  <a:ea typeface="Microsoft YaHei"/>
                  <a:cs typeface="Inter"/>
                </a:rPr>
                <a:t>核心功能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09166" y="4268152"/>
              <a:ext cx="9951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Inter"/>
                  <a:ea typeface="Inter"/>
                  <a:cs typeface="Inter"/>
                </a:rPr>
                <a:t>Core Features</a:t>
              </a:r>
            </a:p>
          </p:txBody>
        </p:sp>
      </p:grpSp>
      <p:sp>
        <p:nvSpPr>
          <p:cNvPr id="30" name="Line 30"/>
          <p:cNvSpPr/>
          <p:nvPr/>
        </p:nvSpPr>
        <p:spPr>
          <a:xfrm>
            <a:off x="952500" y="457200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grpSp>
        <p:nvGrpSpPr>
          <p:cNvPr id="35" name="Group 35"/>
          <p:cNvGrpSpPr/>
          <p:nvPr/>
        </p:nvGrpSpPr>
        <p:grpSpPr>
          <a:xfrm>
            <a:off x="952500" y="4730115"/>
            <a:ext cx="2195953" cy="508635"/>
            <a:chOff x="952500" y="4730115"/>
            <a:chExt cx="2195953" cy="508635"/>
          </a:xfrm>
        </p:grpSpPr>
        <p:sp>
          <p:nvSpPr>
            <p:cNvPr id="31" name="Rectangle 31"/>
            <p:cNvSpPr/>
            <p:nvPr/>
          </p:nvSpPr>
          <p:spPr>
            <a:xfrm>
              <a:off x="952500" y="4762500"/>
              <a:ext cx="28575" cy="4762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33856" y="47301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05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706880" y="47625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Inter"/>
                  <a:ea typeface="Microsoft YaHei"/>
                  <a:cs typeface="Inter"/>
                </a:rPr>
                <a:t>创新亮点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709166" y="5030152"/>
              <a:ext cx="1439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Inter"/>
                  <a:ea typeface="Inter"/>
                  <a:cs typeface="Inter"/>
                </a:rPr>
                <a:t>Innovation Highlights</a:t>
              </a:r>
            </a:p>
          </p:txBody>
        </p:sp>
      </p:grpSp>
      <p:sp>
        <p:nvSpPr>
          <p:cNvPr id="36" name="Line 36"/>
          <p:cNvSpPr/>
          <p:nvPr/>
        </p:nvSpPr>
        <p:spPr>
          <a:xfrm>
            <a:off x="952500" y="533400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grpSp>
        <p:nvGrpSpPr>
          <p:cNvPr id="41" name="Group 41"/>
          <p:cNvGrpSpPr/>
          <p:nvPr/>
        </p:nvGrpSpPr>
        <p:grpSpPr>
          <a:xfrm>
            <a:off x="952500" y="5492115"/>
            <a:ext cx="2399545" cy="508635"/>
            <a:chOff x="952500" y="5492115"/>
            <a:chExt cx="2399545" cy="508635"/>
          </a:xfrm>
        </p:grpSpPr>
        <p:sp>
          <p:nvSpPr>
            <p:cNvPr id="37" name="Rectangle 37"/>
            <p:cNvSpPr/>
            <p:nvPr/>
          </p:nvSpPr>
          <p:spPr>
            <a:xfrm>
              <a:off x="952500" y="5524500"/>
              <a:ext cx="28575" cy="4762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133856" y="54921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06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706880" y="55245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Inter"/>
                  <a:ea typeface="Microsoft YaHei"/>
                  <a:cs typeface="Inter"/>
                </a:rPr>
                <a:t>应用价值与数据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709166" y="5792152"/>
              <a:ext cx="16428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Inter"/>
                  <a:ea typeface="Inter"/>
                  <a:cs typeface="Inter"/>
                </a:rPr>
                <a:t>Application Value &amp; Data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02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3000"/>
                </a:schemeClr>
              </a:gs>
              <a:gs pos="100000">
                <a:schemeClr val="accent2">
                  <a:alpha val="6000"/>
                </a:schemeClr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8572500" y="-1143000"/>
            <a:ext cx="3810000" cy="8763000"/>
            <a:chOff x="8572500" y="-1143000"/>
            <a:chExt cx="3810000" cy="8763000"/>
          </a:xfrm>
        </p:grpSpPr>
        <p:sp>
          <p:nvSpPr>
            <p:cNvPr id="4" name="Ellipse 4"/>
            <p:cNvSpPr/>
            <p:nvPr/>
          </p:nvSpPr>
          <p:spPr>
            <a:xfrm>
              <a:off x="8572500" y="-1143000"/>
              <a:ext cx="3810000" cy="3810000"/>
            </a:xfrm>
            <a:prstGeom prst="ellipse">
              <a:avLst/>
            </a:prstGeom>
            <a:solidFill>
              <a:schemeClr val="accent1">
                <a:alpha val="4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525000" y="4762500"/>
              <a:ext cx="2857500" cy="2857500"/>
            </a:xfrm>
            <a:prstGeom prst="ellipse">
              <a:avLst/>
            </a:prstGeom>
            <a:solidFill>
              <a:schemeClr val="accent2">
                <a:alpha val="4000"/>
              </a:scheme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 rot="-1200000">
              <a:off x="9223187" y="2737728"/>
              <a:ext cx="28575" cy="3810000"/>
            </a:xfrm>
            <a:prstGeom prst="rect">
              <a:avLst/>
            </a:prstGeom>
            <a:solidFill>
              <a:schemeClr val="accent1">
                <a:alpha val="4000"/>
              </a:schemeClr>
            </a:solidFill>
            <a:ln>
              <a:noFill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757238" y="283845"/>
            <a:ext cx="147530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01 · BACKGROUND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1332" y="582930"/>
            <a:ext cx="369646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每个算法学习者都懂的五道坎</a:t>
            </a:r>
          </a:p>
        </p:txBody>
      </p:sp>
      <p:sp>
        <p:nvSpPr>
          <p:cNvPr id="10" name="Line 10"/>
          <p:cNvSpPr/>
          <p:nvPr/>
        </p:nvSpPr>
        <p:spPr>
          <a:xfrm>
            <a:off x="762000" y="952500"/>
            <a:ext cx="2571750" cy="9525"/>
          </a:xfrm>
          <a:custGeom>
            <a:avLst/>
            <a:gdLst/>
            <a:ahLst/>
            <a:cxnLst/>
            <a:rect l="l" t="t" r="r" b="b"/>
            <a:pathLst>
              <a:path w="2571750" h="9525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16" name="Group 16"/>
          <p:cNvGrpSpPr/>
          <p:nvPr/>
        </p:nvGrpSpPr>
        <p:grpSpPr>
          <a:xfrm>
            <a:off x="10287000" y="476250"/>
            <a:ext cx="1333500" cy="857250"/>
            <a:chOff x="10287000" y="476250"/>
            <a:chExt cx="1333500" cy="857250"/>
          </a:xfrm>
        </p:grpSpPr>
        <p:sp>
          <p:nvSpPr>
            <p:cNvPr id="11" name="Rectangle 11"/>
            <p:cNvSpPr/>
            <p:nvPr/>
          </p:nvSpPr>
          <p:spPr>
            <a:xfrm>
              <a:off x="10287000" y="476250"/>
              <a:ext cx="381000" cy="38100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763250" y="476250"/>
              <a:ext cx="381000" cy="381000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1239500" y="476250"/>
              <a:ext cx="381000" cy="38100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525125" y="952500"/>
              <a:ext cx="381000" cy="381000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001375" y="952500"/>
              <a:ext cx="381000" cy="38100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762000" y="1333500"/>
            <a:ext cx="3238500" cy="952500"/>
            <a:chOff x="762000" y="1333500"/>
            <a:chExt cx="3238500" cy="952500"/>
          </a:xfrm>
        </p:grpSpPr>
        <p:sp>
          <p:nvSpPr>
            <p:cNvPr id="17" name="Rectangle 17"/>
            <p:cNvSpPr/>
            <p:nvPr/>
          </p:nvSpPr>
          <p:spPr>
            <a:xfrm>
              <a:off x="762000" y="1333500"/>
              <a:ext cx="3238500" cy="952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895350" y="1466850"/>
              <a:ext cx="266700" cy="2667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7115" y="154400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P1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51204" y="14897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Inter"/>
                  <a:ea typeface="Microsoft YaHei"/>
                  <a:cs typeface="Inter"/>
                </a:rPr>
                <a:t>概念抽象难懂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547" y="1799749"/>
              <a:ext cx="15849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树、图、动态规划高度抽象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7547" y="1990249"/>
              <a:ext cx="18474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课本静态插图难以展示动态过程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810000" y="1428750"/>
              <a:ext cx="95250" cy="762000"/>
            </a:xfrm>
            <a:prstGeom prst="roundRect">
              <a:avLst>
                <a:gd name="adj" fmla="val 50000"/>
              </a:avLst>
            </a:prstGeom>
            <a:solidFill>
              <a:srgbClr val="EF4444">
                <a:alpha val="10000"/>
              </a:srgbClr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4286250" y="1333500"/>
            <a:ext cx="3238500" cy="952500"/>
            <a:chOff x="4286250" y="1333500"/>
            <a:chExt cx="3238500" cy="952500"/>
          </a:xfrm>
        </p:grpSpPr>
        <p:sp>
          <p:nvSpPr>
            <p:cNvPr id="25" name="Rectangle 25"/>
            <p:cNvSpPr/>
            <p:nvPr/>
          </p:nvSpPr>
          <p:spPr>
            <a:xfrm>
              <a:off x="4286250" y="1333500"/>
              <a:ext cx="3238500" cy="952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4419600" y="1466850"/>
              <a:ext cx="266700" cy="2667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461365" y="154400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P2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75454" y="14897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Inter"/>
                  <a:ea typeface="Microsoft YaHei"/>
                  <a:cs typeface="Inter"/>
                </a:rPr>
                <a:t>刷题盲目无方向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71797" y="1799749"/>
              <a:ext cx="14537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不知先学什么、后学什么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71797" y="1990249"/>
              <a:ext cx="14537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题海茫茫缺乏个性化路径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334250" y="1428750"/>
              <a:ext cx="95250" cy="762000"/>
            </a:xfrm>
            <a:prstGeom prst="roundRect">
              <a:avLst>
                <a:gd name="adj" fmla="val 50000"/>
              </a:avLst>
            </a:prstGeom>
            <a:solidFill>
              <a:srgbClr val="EF4444">
                <a:alpha val="100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762000" y="2476500"/>
            <a:ext cx="3238500" cy="952500"/>
            <a:chOff x="762000" y="2476500"/>
            <a:chExt cx="3238500" cy="952500"/>
          </a:xfrm>
        </p:grpSpPr>
        <p:sp>
          <p:nvSpPr>
            <p:cNvPr id="33" name="Rectangle 33"/>
            <p:cNvSpPr/>
            <p:nvPr/>
          </p:nvSpPr>
          <p:spPr>
            <a:xfrm>
              <a:off x="762000" y="2476500"/>
              <a:ext cx="3238500" cy="952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895350" y="2609850"/>
              <a:ext cx="266700" cy="2667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37115" y="268700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P3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251204" y="26327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Inter"/>
                  <a:ea typeface="Microsoft YaHei"/>
                  <a:cs typeface="Inter"/>
                </a:rPr>
                <a:t>错题不知为何错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7547" y="2942749"/>
              <a:ext cx="16463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OJ只返回WA/TLE冰冷判定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7547" y="3133249"/>
              <a:ext cx="11911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看不到程序运行轨迹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810000" y="2571750"/>
              <a:ext cx="95250" cy="762000"/>
            </a:xfrm>
            <a:prstGeom prst="roundRect">
              <a:avLst>
                <a:gd name="adj" fmla="val 50000"/>
              </a:avLst>
            </a:prstGeom>
            <a:solidFill>
              <a:srgbClr val="EF4444">
                <a:alpha val="10000"/>
              </a:srgbClr>
            </a:soli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4286250" y="2476500"/>
            <a:ext cx="3238500" cy="952500"/>
            <a:chOff x="4286250" y="2476500"/>
            <a:chExt cx="3238500" cy="952500"/>
          </a:xfrm>
        </p:grpSpPr>
        <p:sp>
          <p:nvSpPr>
            <p:cNvPr id="41" name="Rectangle 41"/>
            <p:cNvSpPr/>
            <p:nvPr/>
          </p:nvSpPr>
          <p:spPr>
            <a:xfrm>
              <a:off x="4286250" y="2476500"/>
              <a:ext cx="3238500" cy="952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4419600" y="2609850"/>
              <a:ext cx="266700" cy="2667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461365" y="268700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P4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775454" y="26327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Inter"/>
                  <a:ea typeface="Microsoft YaHei"/>
                  <a:cs typeface="Inter"/>
                </a:rPr>
                <a:t>学习过程无记录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471797" y="2942749"/>
              <a:ext cx="11911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学过的内容散落各处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471797" y="3133249"/>
              <a:ext cx="9286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换设备一切归零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334250" y="2571750"/>
              <a:ext cx="95250" cy="762000"/>
            </a:xfrm>
            <a:prstGeom prst="roundRect">
              <a:avLst>
                <a:gd name="adj" fmla="val 50000"/>
              </a:avLst>
            </a:prstGeom>
            <a:solidFill>
              <a:srgbClr val="EF4444">
                <a:alpha val="10000"/>
              </a:srgbClr>
            </a:solidFill>
            <a:ln>
              <a:noFill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762000" y="3619500"/>
            <a:ext cx="3238500" cy="952500"/>
            <a:chOff x="762000" y="3619500"/>
            <a:chExt cx="3238500" cy="952500"/>
          </a:xfrm>
        </p:grpSpPr>
        <p:sp>
          <p:nvSpPr>
            <p:cNvPr id="49" name="Rectangle 49"/>
            <p:cNvSpPr/>
            <p:nvPr/>
          </p:nvSpPr>
          <p:spPr>
            <a:xfrm>
              <a:off x="762000" y="3619500"/>
              <a:ext cx="3238500" cy="952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895350" y="3752850"/>
              <a:ext cx="266700" cy="2667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37115" y="383000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P5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251204" y="37757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Inter"/>
                  <a:ea typeface="Microsoft YaHei"/>
                  <a:cs typeface="Inter"/>
                </a:rPr>
                <a:t>教师难以因材施教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7547" y="4085749"/>
              <a:ext cx="15849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大班授课无法掌握个体差异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7547" y="4276249"/>
              <a:ext cx="15849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作业批改与学情分析靠人工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810000" y="3714750"/>
              <a:ext cx="95250" cy="762000"/>
            </a:xfrm>
            <a:prstGeom prst="roundRect">
              <a:avLst>
                <a:gd name="adj" fmla="val 50000"/>
              </a:avLst>
            </a:prstGeom>
            <a:solidFill>
              <a:srgbClr val="EF4444">
                <a:alpha val="10000"/>
              </a:srgbClr>
            </a:solidFill>
            <a:ln>
              <a:noFill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8191500" y="1473518"/>
            <a:ext cx="1366622" cy="2336482"/>
            <a:chOff x="8191500" y="1473518"/>
            <a:chExt cx="1366622" cy="2336482"/>
          </a:xfrm>
        </p:grpSpPr>
        <p:sp>
          <p:nvSpPr>
            <p:cNvPr id="57" name="Ellipse 57"/>
            <p:cNvSpPr/>
            <p:nvPr/>
          </p:nvSpPr>
          <p:spPr>
            <a:xfrm>
              <a:off x="8524875" y="1666875"/>
              <a:ext cx="476250" cy="476250"/>
            </a:xfrm>
            <a:prstGeom prst="ellipse">
              <a:avLst/>
            </a:prstGeom>
            <a:noFill/>
            <a:ln w="14288">
              <a:solidFill>
                <a:schemeClr val="accent1">
                  <a:alpha val="20000"/>
                </a:schemeClr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8763000" y="2143125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4288">
              <a:solidFill>
                <a:schemeClr val="accent1">
                  <a:alpha val="20000"/>
                </a:schemeClr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8572500" y="23336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chemeClr val="accent1">
                  <a:alpha val="20000"/>
                </a:schemeClr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133332" y="14878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EF4444">
                      <a:alphaMod val="15000"/>
                    </a:srgbClr>
                  </a:solidFill>
                  <a:latin typeface="Inter"/>
                  <a:ea typeface="Inter"/>
                  <a:cs typeface="Inter"/>
                </a:rPr>
                <a:t>?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79892" y="14735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F4444">
                      <a:alphaMod val="10000"/>
                    </a:srgbClr>
                  </a:solidFill>
                  <a:latin typeface="Inter"/>
                  <a:ea typeface="Inter"/>
                  <a:cs typeface="Inter"/>
                </a:rPr>
                <a:t>?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320784" y="189928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EF4444">
                      <a:alphaMod val="10000"/>
                    </a:srgbClr>
                  </a:solidFill>
                  <a:latin typeface="Inter"/>
                  <a:ea typeface="Inter"/>
                  <a:cs typeface="Inter"/>
                </a:rPr>
                <a:t>?</a:t>
              </a:r>
            </a:p>
          </p:txBody>
        </p:sp>
        <p:grpSp>
          <p:nvGrpSpPr>
            <p:cNvPr id="69" name="Group 69"/>
            <p:cNvGrpSpPr/>
            <p:nvPr/>
          </p:nvGrpSpPr>
          <p:grpSpPr>
            <a:xfrm>
              <a:off x="8191500" y="2667000"/>
              <a:ext cx="1143000" cy="1143000"/>
              <a:chOff x="8191500" y="2667000"/>
              <a:chExt cx="1143000" cy="1143000"/>
            </a:xfrm>
          </p:grpSpPr>
          <p:sp>
            <p:nvSpPr>
              <p:cNvPr id="63" name="Ellipse 63"/>
              <p:cNvSpPr/>
              <p:nvPr/>
            </p:nvSpPr>
            <p:spPr>
              <a:xfrm>
                <a:off x="8191500" y="2667000"/>
                <a:ext cx="1143000" cy="1143000"/>
              </a:xfrm>
              <a:prstGeom prst="ellipse">
                <a:avLst/>
              </a:prstGeom>
              <a:noFill/>
              <a:ln w="9525">
                <a:solidFill>
                  <a:schemeClr val="accent1">
                    <a:alpha val="8000"/>
                  </a:schemeClr>
                </a:solidFill>
              </a:ln>
            </p:spPr>
          </p:sp>
          <p:sp>
            <p:nvSpPr>
              <p:cNvPr id="64" name="Ellipse 64"/>
              <p:cNvSpPr/>
              <p:nvPr/>
            </p:nvSpPr>
            <p:spPr>
              <a:xfrm>
                <a:off x="8382000" y="2857500"/>
                <a:ext cx="762000" cy="762000"/>
              </a:xfrm>
              <a:prstGeom prst="ellipse">
                <a:avLst/>
              </a:prstGeom>
              <a:noFill/>
              <a:ln w="9525">
                <a:solidFill>
                  <a:schemeClr val="accent1">
                    <a:alpha val="8000"/>
                  </a:schemeClr>
                </a:solidFill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8572500" y="3048000"/>
                <a:ext cx="381000" cy="381000"/>
              </a:xfrm>
              <a:prstGeom prst="ellipse">
                <a:avLst/>
              </a:prstGeom>
              <a:noFill/>
              <a:ln w="9525">
                <a:solidFill>
                  <a:schemeClr val="accent1">
                    <a:alpha val="8000"/>
                  </a:schemeClr>
                </a:solidFill>
              </a:ln>
            </p:spPr>
          </p:sp>
          <p:sp>
            <p:nvSpPr>
              <p:cNvPr id="66" name="Line 66"/>
              <p:cNvSpPr/>
              <p:nvPr/>
            </p:nvSpPr>
            <p:spPr>
              <a:xfrm>
                <a:off x="8191500" y="3238500"/>
                <a:ext cx="1143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9525">
                    <a:moveTo>
                      <a:pt x="0" y="0"/>
                    </a:moveTo>
                    <a:lnTo>
                      <a:pt x="1143000" y="0"/>
                    </a:lnTo>
                  </a:path>
                </a:pathLst>
              </a:custGeom>
              <a:noFill/>
              <a:ln w="4762">
                <a:solidFill>
                  <a:schemeClr val="accent1">
                    <a:alpha val="8000"/>
                  </a:schemeClr>
                </a:solidFill>
              </a:ln>
            </p:spPr>
          </p:sp>
          <p:sp>
            <p:nvSpPr>
              <p:cNvPr id="67" name="Line 67"/>
              <p:cNvSpPr/>
              <p:nvPr/>
            </p:nvSpPr>
            <p:spPr>
              <a:xfrm>
                <a:off x="8572500" y="2857500"/>
                <a:ext cx="9525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0">
                    <a:moveTo>
                      <a:pt x="0" y="0"/>
                    </a:moveTo>
                    <a:lnTo>
                      <a:pt x="0" y="762000"/>
                    </a:lnTo>
                  </a:path>
                </a:pathLst>
              </a:custGeom>
              <a:noFill/>
              <a:ln w="4762">
                <a:solidFill>
                  <a:schemeClr val="accent1">
                    <a:alpha val="8000"/>
                  </a:schemeClr>
                </a:solidFill>
              </a:ln>
            </p:spPr>
          </p:sp>
          <p:sp>
            <p:nvSpPr>
              <p:cNvPr id="68" name="Line 68"/>
              <p:cNvSpPr/>
              <p:nvPr/>
            </p:nvSpPr>
            <p:spPr>
              <a:xfrm>
                <a:off x="8953500" y="2857500"/>
                <a:ext cx="9525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0">
                    <a:moveTo>
                      <a:pt x="0" y="0"/>
                    </a:moveTo>
                    <a:lnTo>
                      <a:pt x="0" y="762000"/>
                    </a:lnTo>
                  </a:path>
                </a:pathLst>
              </a:custGeom>
              <a:noFill/>
              <a:ln w="4762">
                <a:solidFill>
                  <a:schemeClr val="accent1">
                    <a:alpha val="8000"/>
                  </a:schemeClr>
                </a:solidFill>
              </a:ln>
            </p:spPr>
          </p:sp>
        </p:grpSp>
      </p:grpSp>
      <p:grpSp>
        <p:nvGrpSpPr>
          <p:cNvPr id="74" name="Group 74"/>
          <p:cNvGrpSpPr/>
          <p:nvPr/>
        </p:nvGrpSpPr>
        <p:grpSpPr>
          <a:xfrm>
            <a:off x="762000" y="4762500"/>
            <a:ext cx="6762750" cy="419100"/>
            <a:chOff x="762000" y="4762500"/>
            <a:chExt cx="6762750" cy="419100"/>
          </a:xfrm>
        </p:grpSpPr>
        <p:sp>
          <p:nvSpPr>
            <p:cNvPr id="71" name="Rectangle 71"/>
            <p:cNvSpPr/>
            <p:nvPr/>
          </p:nvSpPr>
          <p:spPr>
            <a:xfrm>
              <a:off x="762000" y="4762500"/>
              <a:ext cx="6762750" cy="419100"/>
            </a:xfrm>
            <a:prstGeom prst="roundRect">
              <a:avLst>
                <a:gd name="adj" fmla="val 1363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762000" y="4762500"/>
              <a:ext cx="38100" cy="419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46785" y="4907756"/>
              <a:ext cx="38127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✦ 公认"最难啃的硬骨头" — 各大高校计算机专业课程调研</a:t>
              </a:r>
            </a:p>
          </p:txBody>
        </p:sp>
      </p:grpSp>
      <p:sp>
        <p:nvSpPr>
          <p:cNvPr id="75" name="Rectangle 75"/>
          <p:cNvSpPr/>
          <p:nvPr/>
        </p:nvSpPr>
        <p:spPr>
          <a:xfrm>
            <a:off x="762000" y="5524500"/>
            <a:ext cx="10668000" cy="952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</p:sp>
      <p:sp>
        <p:nvSpPr>
          <p:cNvPr id="76" name="Ellipse 76"/>
          <p:cNvSpPr/>
          <p:nvPr/>
        </p:nvSpPr>
        <p:spPr>
          <a:xfrm>
            <a:off x="733425" y="5495925"/>
            <a:ext cx="57150" cy="571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77" name="Ellipse 77"/>
          <p:cNvSpPr/>
          <p:nvPr/>
        </p:nvSpPr>
        <p:spPr>
          <a:xfrm>
            <a:off x="11401425" y="5495925"/>
            <a:ext cx="57150" cy="571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03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7238" y="283845"/>
            <a:ext cx="147530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01 · BACKGROUND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1332" y="582930"/>
            <a:ext cx="284835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为什么现有方案不够？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952500"/>
            <a:ext cx="2571750" cy="9525"/>
          </a:xfrm>
          <a:custGeom>
            <a:avLst/>
            <a:gdLst/>
            <a:ahLst/>
            <a:cxnLst/>
            <a:rect l="l" t="t" r="r" b="b"/>
            <a:pathLst>
              <a:path w="2571750" h="9525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42" name="Group 42"/>
          <p:cNvGrpSpPr/>
          <p:nvPr/>
        </p:nvGrpSpPr>
        <p:grpSpPr>
          <a:xfrm>
            <a:off x="762000" y="1333500"/>
            <a:ext cx="9715500" cy="3048000"/>
            <a:chOff x="762000" y="1333500"/>
            <a:chExt cx="9715500" cy="3048000"/>
          </a:xfrm>
        </p:grpSpPr>
        <p:sp>
          <p:nvSpPr>
            <p:cNvPr id="6" name="Rectangle 6"/>
            <p:cNvSpPr/>
            <p:nvPr/>
          </p:nvSpPr>
          <p:spPr>
            <a:xfrm>
              <a:off x="762000" y="1333500"/>
              <a:ext cx="3810000" cy="419100"/>
            </a:xfrm>
            <a:prstGeom prst="roundRect">
              <a:avLst>
                <a:gd name="adj" fmla="val 909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667250" y="1333500"/>
              <a:ext cx="4762500" cy="419100"/>
            </a:xfrm>
            <a:prstGeom prst="roundRect">
              <a:avLst>
                <a:gd name="adj" fmla="val 909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9525000" y="1333500"/>
              <a:ext cx="952500" cy="419100"/>
            </a:xfrm>
            <a:prstGeom prst="roundRect">
              <a:avLst>
                <a:gd name="adj" fmla="val 909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509838" y="1478756"/>
              <a:ext cx="3143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方案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39890" y="14787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核心不足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44088" y="1478756"/>
              <a:ext cx="3143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评价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1809750"/>
              <a:ext cx="3810000" cy="476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EDF0F5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667250" y="1809750"/>
              <a:ext cx="4762500" cy="476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EDF0F5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9525000" y="1809750"/>
              <a:ext cx="952500" cy="476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EDF0F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84885" y="1974056"/>
              <a:ext cx="16356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Inter"/>
                  <a:ea typeface="Microsoft YaHei"/>
                  <a:cs typeface="Inter"/>
                </a:rPr>
                <a:t>传统 OJ（力扣/洛谷）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90516" y="198215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只判对错，无诊断、无画像、无路径规划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948508" y="19659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EF4444"/>
                  </a:solidFill>
                  <a:latin typeface="Inter"/>
                  <a:ea typeface="Inter"/>
                  <a:cs typeface="Inter"/>
                </a:rPr>
                <a:t>✗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2324100"/>
              <a:ext cx="3810000" cy="476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EDF0F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667250" y="2324100"/>
              <a:ext cx="4762500" cy="476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EDF0F5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9525000" y="2324100"/>
              <a:ext cx="952500" cy="476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EDF0F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84885" y="2488406"/>
              <a:ext cx="8275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Inter"/>
                  <a:ea typeface="Microsoft YaHei"/>
                  <a:cs typeface="Inter"/>
                </a:rPr>
                <a:t>MOOC 课程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90516" y="249650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视频单向输出，无个性化、无交互式可视化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948508" y="24803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EF4444"/>
                  </a:solidFill>
                  <a:latin typeface="Inter"/>
                  <a:ea typeface="Inter"/>
                  <a:cs typeface="Inter"/>
                </a:rPr>
                <a:t>✗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2838450"/>
              <a:ext cx="3810000" cy="476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EDF0F5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667250" y="2838450"/>
              <a:ext cx="4762500" cy="476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EDF0F5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9525000" y="2838450"/>
              <a:ext cx="952500" cy="476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EDF0F5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84885" y="3002756"/>
              <a:ext cx="8835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Inter"/>
                  <a:ea typeface="Microsoft YaHei"/>
                  <a:cs typeface="Inter"/>
                </a:rPr>
                <a:t>通用 AI 助手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90516" y="301085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无课程知识库约束，易产生幻觉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948508" y="29946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EF4444"/>
                  </a:solidFill>
                  <a:latin typeface="Inter"/>
                  <a:ea typeface="Inter"/>
                  <a:cs typeface="Inter"/>
                </a:rPr>
                <a:t>△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2000" y="3352800"/>
              <a:ext cx="3810000" cy="476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EDF0F5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667250" y="3352800"/>
              <a:ext cx="4762500" cy="476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EDF0F5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9525000" y="3352800"/>
              <a:ext cx="952500" cy="476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EDF0F5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84885" y="3517106"/>
              <a:ext cx="107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Inter"/>
                  <a:ea typeface="Microsoft YaHei"/>
                  <a:cs typeface="Inter"/>
                </a:rPr>
                <a:t>算法可视化网站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890516" y="352520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只能看预设动画，不能追踪自己写的代码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948508" y="35090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EF4444"/>
                  </a:solidFill>
                  <a:latin typeface="Inter"/>
                  <a:ea typeface="Inter"/>
                  <a:cs typeface="Inter"/>
                </a:rPr>
                <a:t>✗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62000" y="3905250"/>
              <a:ext cx="3810000" cy="47625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4667250" y="3905250"/>
              <a:ext cx="4762500" cy="47625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9525000" y="3905250"/>
              <a:ext cx="952500" cy="47625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84885" y="4069556"/>
              <a:ext cx="13317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AlgoPilot（我们）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90516" y="4077652"/>
              <a:ext cx="30269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全流程智能闭环 — 画像+路径+资源+Trace+辅导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948508" y="40614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6"/>
                  </a:solidFill>
                  <a:latin typeface="Inter"/>
                  <a:ea typeface="Inter"/>
                  <a:cs typeface="Inter"/>
                </a:rPr>
                <a:t>◆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62000" y="4572000"/>
            <a:ext cx="6858000" cy="571500"/>
            <a:chOff x="762000" y="4572000"/>
            <a:chExt cx="6858000" cy="571500"/>
          </a:xfrm>
        </p:grpSpPr>
        <p:sp>
          <p:nvSpPr>
            <p:cNvPr id="43" name="Rectangle 43"/>
            <p:cNvSpPr/>
            <p:nvPr/>
          </p:nvSpPr>
          <p:spPr>
            <a:xfrm>
              <a:off x="762000" y="4572000"/>
              <a:ext cx="6858000" cy="571500"/>
            </a:xfrm>
            <a:prstGeom prst="roundRect">
              <a:avLst>
                <a:gd name="adj" fmla="val 10000"/>
              </a:avLst>
            </a:prstGeom>
            <a:noFill/>
            <a:ln w="9525">
              <a:solidFill>
                <a:schemeClr val="accent2"/>
              </a:solidFill>
              <a:custDash>
                <a:ds d="400000" sp="300000"/>
              </a:custDash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46785" y="4688681"/>
              <a:ext cx="15986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💡 AlgoPilot 的解决思路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7166" y="4915852"/>
              <a:ext cx="53741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多智能体协同 · RAG 知识库 · 大语言模型 · 代码 Trace 可视化 — 四大技术深度融合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04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5"/>
          <p:cNvGrpSpPr/>
          <p:nvPr/>
        </p:nvGrpSpPr>
        <p:grpSpPr>
          <a:xfrm>
            <a:off x="5524500" y="-2667000"/>
            <a:ext cx="7239000" cy="7239000"/>
            <a:chOff x="5524500" y="-2667000"/>
            <a:chExt cx="7239000" cy="7239000"/>
          </a:xfrm>
        </p:grpSpPr>
        <p:sp>
          <p:nvSpPr>
            <p:cNvPr id="2" name="Ellipse 2"/>
            <p:cNvSpPr/>
            <p:nvPr/>
          </p:nvSpPr>
          <p:spPr>
            <a:xfrm>
              <a:off x="7429500" y="-762000"/>
              <a:ext cx="3429000" cy="3429000"/>
            </a:xfrm>
            <a:prstGeom prst="ellipse">
              <a:avLst/>
            </a:prstGeom>
            <a:noFill/>
            <a:ln w="9525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6477000" y="-1714500"/>
              <a:ext cx="5334000" cy="5334000"/>
            </a:xfrm>
            <a:prstGeom prst="ellipse">
              <a:avLst/>
            </a:prstGeom>
            <a:noFill/>
            <a:ln w="4762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5524500" y="-2667000"/>
              <a:ext cx="7239000" cy="7239000"/>
            </a:xfrm>
            <a:prstGeom prst="ellipse">
              <a:avLst/>
            </a:prstGeom>
            <a:noFill/>
            <a:ln w="2858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7429500" y="9525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4762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9144000" y="-7620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4762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353425" y="542925"/>
              <a:ext cx="57150" cy="57150"/>
            </a:xfrm>
            <a:prstGeom prst="ellipse">
              <a:avLst/>
            </a:prstGeom>
            <a:solidFill>
              <a:srgbClr val="FFFFFF">
                <a:alpha val="6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886950" y="457200"/>
              <a:ext cx="38100" cy="38100"/>
            </a:xfrm>
            <a:prstGeom prst="ellipse">
              <a:avLst/>
            </a:prstGeom>
            <a:solidFill>
              <a:srgbClr val="FFFFFF">
                <a:alpha val="6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8077200" y="1504950"/>
              <a:ext cx="38100" cy="38100"/>
            </a:xfrm>
            <a:prstGeom prst="ellipse">
              <a:avLst/>
            </a:prstGeom>
            <a:solidFill>
              <a:srgbClr val="FFFFFF">
                <a:alpha val="6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972675" y="1304925"/>
              <a:ext cx="57150" cy="57150"/>
            </a:xfrm>
            <a:prstGeom prst="ellipse">
              <a:avLst/>
            </a:prstGeom>
            <a:solidFill>
              <a:srgbClr val="FFFFFF">
                <a:alpha val="6000"/>
              </a:srgbClr>
            </a:solidFill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8382000" y="571500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0" y="0"/>
                  </a:moveTo>
                  <a:lnTo>
                    <a:pt x="762000" y="381000"/>
                  </a:lnTo>
                </a:path>
              </a:pathLst>
            </a:custGeom>
            <a:noFill/>
            <a:ln w="4762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9144000" y="476250"/>
              <a:ext cx="762000" cy="476250"/>
            </a:xfrm>
            <a:custGeom>
              <a:avLst/>
              <a:gdLst/>
              <a:ahLst/>
              <a:cxnLst/>
              <a:rect l="l" t="t" r="r" b="b"/>
              <a:pathLst>
                <a:path w="762000" h="476250">
                  <a:moveTo>
                    <a:pt x="762000" y="0"/>
                  </a:moveTo>
                  <a:lnTo>
                    <a:pt x="0" y="476250"/>
                  </a:lnTo>
                </a:path>
              </a:pathLst>
            </a:custGeom>
            <a:noFill/>
            <a:ln w="4762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096250" y="952500"/>
              <a:ext cx="1047750" cy="571500"/>
            </a:xfrm>
            <a:custGeom>
              <a:avLst/>
              <a:gdLst/>
              <a:ahLst/>
              <a:cxnLst/>
              <a:rect l="l" t="t" r="r" b="b"/>
              <a:pathLst>
                <a:path w="1047750" h="571500">
                  <a:moveTo>
                    <a:pt x="0" y="571500"/>
                  </a:moveTo>
                  <a:lnTo>
                    <a:pt x="1047750" y="0"/>
                  </a:lnTo>
                </a:path>
              </a:pathLst>
            </a:custGeom>
            <a:noFill/>
            <a:ln w="4762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144000" y="952500"/>
              <a:ext cx="857250" cy="381000"/>
            </a:xfrm>
            <a:custGeom>
              <a:avLst/>
              <a:gdLst/>
              <a:ahLst/>
              <a:cxnLst/>
              <a:rect l="l" t="t" r="r" b="b"/>
              <a:pathLst>
                <a:path w="857250" h="381000">
                  <a:moveTo>
                    <a:pt x="857250" y="381000"/>
                  </a:moveTo>
                  <a:lnTo>
                    <a:pt x="0" y="0"/>
                  </a:lnTo>
                </a:path>
              </a:pathLst>
            </a:custGeom>
            <a:noFill/>
            <a:ln w="4762">
              <a:solidFill>
                <a:srgbClr val="FFFFFF">
                  <a:alpha val="6000"/>
                </a:srgbClr>
              </a:solidFill>
            </a:ln>
          </p:spPr>
        </p:sp>
      </p:grpSp>
      <p:sp>
        <p:nvSpPr>
          <p:cNvPr id="16" name="Rectangle 16"/>
          <p:cNvSpPr/>
          <p:nvPr/>
        </p:nvSpPr>
        <p:spPr>
          <a:xfrm>
            <a:off x="762000" y="1905000"/>
            <a:ext cx="571500" cy="38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56666" y="2172652"/>
            <a:ext cx="15383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spc="300" dirty="0">
                <a:solidFill>
                  <a:schemeClr val="accent3"/>
                </a:solidFill>
                <a:latin typeface="Inter"/>
                <a:ea typeface="Inter"/>
                <a:cs typeface="Inter"/>
              </a:rPr>
              <a:t>02 · SOLUTION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3712" y="2564130"/>
            <a:ext cx="220068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AlgoPilot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5998" y="3184208"/>
            <a:ext cx="225828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算法领航员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3905250"/>
            <a:ext cx="28575" cy="4762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4880" y="3952875"/>
            <a:ext cx="46596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一个懂你、记你、陪你、纠你的全流程智能学习平台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6404" y="4232910"/>
            <a:ext cx="5336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Inter"/>
                <a:ea typeface="Microsoft YaHei"/>
                <a:cs typeface="Inter"/>
              </a:rPr>
              <a:t>多智能体协同 + RAG 知识库 + 大语言模型 + 代码 Trace 可视化 深度融合</a:t>
            </a:r>
          </a:p>
        </p:txBody>
      </p:sp>
      <p:sp>
        <p:nvSpPr>
          <p:cNvPr id="23" name="Rectangle 23"/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0F1D3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55904" y="5966460"/>
            <a:ext cx="1102603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Inter"/>
                <a:ea typeface="Microsoft YaHei"/>
                <a:cs typeface="Inter"/>
              </a:rPr>
              <a:t>面向《数据结构与算法》课程，提供对话式学生画像、个性化学习路径、多智能体资源生成、OJ 判题与 Trace 可视化诊断、AI 辅导与教师学情看板。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6666" y="6363652"/>
            <a:ext cx="73214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2"/>
                </a:solidFill>
                <a:latin typeface="Inter"/>
                <a:ea typeface="Microsoft YaHei"/>
                <a:cs typeface="Inter"/>
              </a:rPr>
              <a:t>系统通过 BM25 RAG 检索、内容校验、安全审查和有限重试等机制，降低大模型生成幻觉和不合规内容的风险。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019358" y="6427470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3"/>
                </a:solidFill>
                <a:latin typeface="Inter"/>
                <a:ea typeface="Inter"/>
                <a:cs typeface="Inter"/>
              </a:rPr>
              <a:t>05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7238" y="283845"/>
            <a:ext cx="126408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02 · SOLUTION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1332" y="582930"/>
            <a:ext cx="375300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从"不会"到"掌握"的智能闭环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9525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36" name="Group 36"/>
          <p:cNvGrpSpPr/>
          <p:nvPr/>
        </p:nvGrpSpPr>
        <p:grpSpPr>
          <a:xfrm>
            <a:off x="3333750" y="857250"/>
            <a:ext cx="5524500" cy="5524500"/>
            <a:chOff x="3333750" y="857250"/>
            <a:chExt cx="5524500" cy="5524500"/>
          </a:xfrm>
        </p:grpSpPr>
        <p:sp>
          <p:nvSpPr>
            <p:cNvPr id="6" name="Ellipse 6"/>
            <p:cNvSpPr/>
            <p:nvPr/>
          </p:nvSpPr>
          <p:spPr>
            <a:xfrm>
              <a:off x="4191000" y="1714500"/>
              <a:ext cx="3810000" cy="3810000"/>
            </a:xfrm>
            <a:prstGeom prst="ellipse">
              <a:avLst/>
            </a:prstGeom>
            <a:noFill/>
            <a:ln w="9525">
              <a:solidFill>
                <a:schemeClr val="accent4"/>
              </a:solidFill>
              <a:custDash>
                <a:ds d="600000" sp="400000"/>
              </a:custDash>
            </a:ln>
          </p:spPr>
        </p:sp>
        <p:sp>
          <p:nvSpPr>
            <p:cNvPr id="7" name="Freeform 7"/>
            <p:cNvSpPr/>
            <p:nvPr/>
          </p:nvSpPr>
          <p:spPr>
            <a:xfrm>
              <a:off x="6096000" y="1714500"/>
              <a:ext cx="1905000" cy="1905000"/>
            </a:xfrm>
            <a:custGeom>
              <a:avLst/>
              <a:gdLst/>
              <a:ahLst/>
              <a:cxnLst/>
              <a:rect l="l" t="t" r="r" b="b"/>
              <a:pathLst>
                <a:path w="1905000" h="1905000">
                  <a:moveTo>
                    <a:pt x="0" y="0"/>
                  </a:moveTo>
                  <a:cubicBezTo>
                    <a:pt x="1052102" y="0"/>
                    <a:pt x="1905000" y="852898"/>
                    <a:pt x="1905000" y="1905000"/>
                  </a:cubicBez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98005" y="19812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→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83755" y="33623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→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183630" y="45529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→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993005" y="33623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→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12005" y="26479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→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7429500" y="2286000"/>
              <a:ext cx="314325" cy="381000"/>
            </a:xfrm>
            <a:custGeom>
              <a:avLst/>
              <a:gdLst/>
              <a:ahLst/>
              <a:cxnLst/>
              <a:rect l="l" t="t" r="r" b="b"/>
              <a:pathLst>
                <a:path w="314325" h="381000">
                  <a:moveTo>
                    <a:pt x="0" y="0"/>
                  </a:moveTo>
                  <a:lnTo>
                    <a:pt x="314325" y="3810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7429500" y="4572000"/>
              <a:ext cx="314325" cy="381000"/>
            </a:xfrm>
            <a:custGeom>
              <a:avLst/>
              <a:gdLst/>
              <a:ahLst/>
              <a:cxnLst/>
              <a:rect l="l" t="t" r="r" b="b"/>
              <a:pathLst>
                <a:path w="314325" h="381000">
                  <a:moveTo>
                    <a:pt x="314325" y="0"/>
                  </a:moveTo>
                  <a:lnTo>
                    <a:pt x="0" y="3810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6096000" y="4953000"/>
              <a:ext cx="9525" cy="314325"/>
            </a:xfrm>
            <a:custGeom>
              <a:avLst/>
              <a:gdLst/>
              <a:ahLst/>
              <a:cxnLst/>
              <a:rect l="l" t="t" r="r" b="b"/>
              <a:pathLst>
                <a:path w="9525" h="314325">
                  <a:moveTo>
                    <a:pt x="0" y="314325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448175" y="4572000"/>
              <a:ext cx="314325" cy="381000"/>
            </a:xfrm>
            <a:custGeom>
              <a:avLst/>
              <a:gdLst/>
              <a:ahLst/>
              <a:cxnLst/>
              <a:rect l="l" t="t" r="r" b="b"/>
              <a:pathLst>
                <a:path w="314325" h="381000">
                  <a:moveTo>
                    <a:pt x="0" y="0"/>
                  </a:moveTo>
                  <a:lnTo>
                    <a:pt x="314325" y="3810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448175" y="2286000"/>
              <a:ext cx="314325" cy="381000"/>
            </a:xfrm>
            <a:custGeom>
              <a:avLst/>
              <a:gdLst/>
              <a:ahLst/>
              <a:cxnLst/>
              <a:rect l="l" t="t" r="r" b="b"/>
              <a:pathLst>
                <a:path w="314325" h="381000">
                  <a:moveTo>
                    <a:pt x="0" y="381000"/>
                  </a:moveTo>
                  <a:lnTo>
                    <a:pt x="314325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5619750" y="3143250"/>
              <a:ext cx="952500" cy="952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854389" y="3489008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闭环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5715000" y="857250"/>
              <a:ext cx="762000" cy="762000"/>
              <a:chOff x="5715000" y="857250"/>
              <a:chExt cx="762000" cy="762000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5715000" y="857250"/>
                <a:ext cx="762000" cy="7620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5949315" y="1010602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学生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949315" y="1201102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画像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8096250" y="3238500"/>
              <a:ext cx="762000" cy="762000"/>
              <a:chOff x="8096250" y="3238500"/>
              <a:chExt cx="762000" cy="762000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8096250" y="3238500"/>
                <a:ext cx="762000" cy="7620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330565" y="3391852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学习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330565" y="3582352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路径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5715000" y="5619750"/>
              <a:ext cx="762000" cy="762000"/>
              <a:chOff x="5715000" y="5619750"/>
              <a:chExt cx="762000" cy="762000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5715000" y="5619750"/>
                <a:ext cx="762000" cy="7620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5949315" y="5773102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资源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949315" y="5963602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生成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3333750" y="3238500"/>
              <a:ext cx="762000" cy="762000"/>
              <a:chOff x="3333750" y="3238500"/>
              <a:chExt cx="762000" cy="762000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3333750" y="3238500"/>
                <a:ext cx="762000" cy="7620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3537661" y="3391852"/>
                <a:ext cx="3541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OJ与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512858" y="3582352"/>
                <a:ext cx="40378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Trace</a:t>
                </a:r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8382000" y="2667000"/>
            <a:ext cx="1905000" cy="952500"/>
            <a:chOff x="8382000" y="2667000"/>
            <a:chExt cx="1905000" cy="952500"/>
          </a:xfrm>
        </p:grpSpPr>
        <p:sp>
          <p:nvSpPr>
            <p:cNvPr id="37" name="Rectangle 37"/>
            <p:cNvSpPr/>
            <p:nvPr/>
          </p:nvSpPr>
          <p:spPr>
            <a:xfrm>
              <a:off x="8382000" y="2667000"/>
              <a:ext cx="1905000" cy="952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75788" y="28203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掌握度评估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845039" y="3048952"/>
              <a:ext cx="978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→ 路径动态调整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8572500" y="3286125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75440" y="3369945"/>
              <a:ext cx="11181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持续迭代 · 动态优化</a:t>
              </a:r>
            </a:p>
          </p:txBody>
        </p:sp>
      </p:grpSp>
      <p:sp>
        <p:nvSpPr>
          <p:cNvPr id="43" name="Line 43"/>
          <p:cNvSpPr/>
          <p:nvPr/>
        </p:nvSpPr>
        <p:spPr>
          <a:xfrm>
            <a:off x="4095750" y="3143250"/>
            <a:ext cx="4191000" cy="476250"/>
          </a:xfrm>
          <a:custGeom>
            <a:avLst/>
            <a:gdLst/>
            <a:ahLst/>
            <a:cxnLst/>
            <a:rect l="l" t="t" r="r" b="b"/>
            <a:pathLst>
              <a:path w="4191000" h="476250">
                <a:moveTo>
                  <a:pt x="0" y="476250"/>
                </a:moveTo>
                <a:lnTo>
                  <a:pt x="4191000" y="0"/>
                </a:lnTo>
              </a:path>
            </a:pathLst>
          </a:custGeom>
          <a:noFill/>
          <a:ln w="14288">
            <a:solidFill>
              <a:schemeClr val="accent2"/>
            </a:solidFill>
            <a:custDash>
              <a:ds d="266666" sp="200000"/>
            </a:custDash>
          </a:ln>
        </p:spPr>
      </p:sp>
      <p:sp>
        <p:nvSpPr>
          <p:cNvPr id="44" name="Polygon 44"/>
          <p:cNvSpPr/>
          <p:nvPr/>
        </p:nvSpPr>
        <p:spPr>
          <a:xfrm>
            <a:off x="8210550" y="3095625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762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06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7238" y="283845"/>
            <a:ext cx="162252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03 ·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1332" y="582930"/>
            <a:ext cx="317346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三层架构 + 多智能体编排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9525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762000" y="1333500"/>
            <a:ext cx="10668000" cy="1143000"/>
            <a:chOff x="762000" y="1333500"/>
            <a:chExt cx="10668000" cy="1143000"/>
          </a:xfrm>
        </p:grpSpPr>
        <p:sp>
          <p:nvSpPr>
            <p:cNvPr id="6" name="Rectangle 6"/>
            <p:cNvSpPr/>
            <p:nvPr/>
          </p:nvSpPr>
          <p:spPr>
            <a:xfrm>
              <a:off x="762000" y="1333500"/>
              <a:ext cx="10668000" cy="1143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333500"/>
              <a:ext cx="1333500" cy="1143000"/>
            </a:xfrm>
            <a:prstGeom prst="roundRect">
              <a:avLst>
                <a:gd name="adj" fmla="val 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53033" y="17278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前端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55554" y="1979295"/>
              <a:ext cx="54639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3"/>
                  </a:solidFill>
                  <a:latin typeface="Inter"/>
                  <a:ea typeface="Inter"/>
                  <a:cs typeface="Inter"/>
                </a:rPr>
                <a:t>Frontend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2268651" y="1524000"/>
              <a:ext cx="1558698" cy="762000"/>
              <a:chOff x="2268651" y="1524000"/>
              <a:chExt cx="1558698" cy="7620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2286000" y="1524000"/>
                <a:ext cx="1524000" cy="762000"/>
              </a:xfrm>
              <a:prstGeom prst="roundRect">
                <a:avLst>
                  <a:gd name="adj" fmla="val 5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405438" y="1744028"/>
                <a:ext cx="1285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Vue 3 + TypeScript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268651" y="1979295"/>
                <a:ext cx="155869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Element Plus · CodeMirror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000500" y="1524000"/>
              <a:ext cx="1524000" cy="762000"/>
              <a:chOff x="4000500" y="1524000"/>
              <a:chExt cx="1524000" cy="7620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4000500" y="1524000"/>
                <a:ext cx="1524000" cy="762000"/>
              </a:xfrm>
              <a:prstGeom prst="roundRect">
                <a:avLst>
                  <a:gd name="adj" fmla="val 5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477998" y="1744028"/>
                <a:ext cx="56900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30+ 页面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242816" y="1979295"/>
                <a:ext cx="103936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70+ 组件 · 13 游戏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715000" y="1524000"/>
              <a:ext cx="1524000" cy="762000"/>
              <a:chOff x="5715000" y="1524000"/>
              <a:chExt cx="1524000" cy="7620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715000" y="1524000"/>
                <a:ext cx="1524000" cy="762000"/>
              </a:xfrm>
              <a:prstGeom prst="roundRect">
                <a:avLst>
                  <a:gd name="adj" fmla="val 5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5924878" y="1744028"/>
                <a:ext cx="110424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Mermaid · D3.js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011466" y="1979295"/>
                <a:ext cx="93106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Vue Flow · Pinia</a:t>
                </a:r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6045479" y="220408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▼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2619375"/>
            <a:ext cx="10668000" cy="1000125"/>
            <a:chOff x="762000" y="2619375"/>
            <a:chExt cx="10668000" cy="1000125"/>
          </a:xfrm>
        </p:grpSpPr>
        <p:sp>
          <p:nvSpPr>
            <p:cNvPr id="24" name="Rectangle 24"/>
            <p:cNvSpPr/>
            <p:nvPr/>
          </p:nvSpPr>
          <p:spPr>
            <a:xfrm>
              <a:off x="762000" y="2619375"/>
              <a:ext cx="10668000" cy="1000125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2000" y="2619375"/>
              <a:ext cx="1333500" cy="1000125"/>
            </a:xfrm>
            <a:prstGeom prst="roundRect">
              <a:avLst>
                <a:gd name="adj" fmla="val 571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80704" y="2947035"/>
              <a:ext cx="4960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API 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46781" y="3188970"/>
              <a:ext cx="5639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3"/>
                  </a:solidFill>
                  <a:latin typeface="Inter"/>
                  <a:ea typeface="Inter"/>
                  <a:cs typeface="Inter"/>
                </a:rPr>
                <a:t>API Layer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2286000" y="2762250"/>
              <a:ext cx="1524000" cy="714375"/>
              <a:chOff x="2286000" y="2762250"/>
              <a:chExt cx="1524000" cy="714375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2286000" y="2762250"/>
                <a:ext cx="1524000" cy="714375"/>
              </a:xfrm>
              <a:prstGeom prst="roundRect">
                <a:avLst>
                  <a:gd name="adj" fmla="val 533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2780005" y="2953702"/>
                <a:ext cx="53599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FastAPI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2512471" y="3179445"/>
                <a:ext cx="107105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16 路由 · Pydantic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000500" y="2762250"/>
              <a:ext cx="1524000" cy="714375"/>
              <a:chOff x="4000500" y="2762250"/>
              <a:chExt cx="1524000" cy="714375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4000500" y="2762250"/>
                <a:ext cx="1524000" cy="714375"/>
              </a:xfrm>
              <a:prstGeom prst="roundRect">
                <a:avLst>
                  <a:gd name="adj" fmla="val 533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447261" y="2953702"/>
                <a:ext cx="63047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JWT 鉴权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245845" y="3179445"/>
                <a:ext cx="103331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bcrypt · 角色隔离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0" y="2762250"/>
              <a:ext cx="1524000" cy="714375"/>
              <a:chOff x="5715000" y="2762250"/>
              <a:chExt cx="1524000" cy="71437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5715000" y="2762250"/>
                <a:ext cx="1524000" cy="714375"/>
              </a:xfrm>
              <a:prstGeom prst="roundRect">
                <a:avLst>
                  <a:gd name="adj" fmla="val 533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176696" y="2953702"/>
                <a:ext cx="60060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SSE 流式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014580" y="3179445"/>
                <a:ext cx="92483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AI 辅导实时输出</a:t>
                </a:r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6045479" y="33661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▼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62000" y="3762375"/>
            <a:ext cx="10668000" cy="1333500"/>
            <a:chOff x="762000" y="3762375"/>
            <a:chExt cx="10668000" cy="1333500"/>
          </a:xfrm>
        </p:grpSpPr>
        <p:sp>
          <p:nvSpPr>
            <p:cNvPr id="42" name="Rectangle 42"/>
            <p:cNvSpPr/>
            <p:nvPr/>
          </p:nvSpPr>
          <p:spPr>
            <a:xfrm>
              <a:off x="762000" y="3762375"/>
              <a:ext cx="10668000" cy="133350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4288">
              <a:solidFill>
                <a:schemeClr val="accent2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62000" y="3762375"/>
              <a:ext cx="1333500" cy="1333500"/>
            </a:xfrm>
            <a:prstGeom prst="roundRect">
              <a:avLst>
                <a:gd name="adj" fmla="val 4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58402" y="4212431"/>
              <a:ext cx="5406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AI 引擎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81764" y="4454366"/>
              <a:ext cx="69397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Agent Engine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210194" y="4673441"/>
              <a:ext cx="4371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★ 核心层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2286000" y="3876675"/>
              <a:ext cx="2398253" cy="523875"/>
              <a:chOff x="2286000" y="3876675"/>
              <a:chExt cx="2398253" cy="523875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2286000" y="3876675"/>
                <a:ext cx="2190750" cy="523875"/>
              </a:xfrm>
              <a:prstGeom prst="roundRect">
                <a:avLst>
                  <a:gd name="adj" fmla="val 7273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2376297" y="3980974"/>
                <a:ext cx="40367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编排层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2376488" y="4187666"/>
                <a:ext cx="230776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自研 DAG Orchestrator · 零 langgraph 依赖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2286000" y="4457700"/>
              <a:ext cx="2190750" cy="523875"/>
              <a:chOff x="2286000" y="4457700"/>
              <a:chExt cx="2190750" cy="523875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2286000" y="4457700"/>
                <a:ext cx="2190750" cy="523875"/>
              </a:xfrm>
              <a:prstGeom prst="roundRect">
                <a:avLst>
                  <a:gd name="adj" fmla="val 7273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2376297" y="4561999"/>
                <a:ext cx="54750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Agent 层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2376488" y="4768691"/>
                <a:ext cx="154829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22 注册 · 20 已实现 · 6 Layer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4667250" y="3876675"/>
              <a:ext cx="2223425" cy="523875"/>
              <a:chOff x="4667250" y="3876675"/>
              <a:chExt cx="2223425" cy="523875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4667250" y="3876675"/>
                <a:ext cx="2190750" cy="523875"/>
              </a:xfrm>
              <a:prstGeom prst="roundRect">
                <a:avLst>
                  <a:gd name="adj" fmla="val 7273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4757547" y="3980974"/>
                <a:ext cx="69639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RAG 知识层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4757738" y="4187666"/>
                <a:ext cx="2132937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BM25 检索 · 同义词扩展 · 课程Markdown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4667250" y="4457700"/>
              <a:ext cx="2190750" cy="523875"/>
              <a:chOff x="4667250" y="4457700"/>
              <a:chExt cx="2190750" cy="523875"/>
            </a:xfrm>
          </p:grpSpPr>
          <p:sp>
            <p:nvSpPr>
              <p:cNvPr id="59" name="Rectangle 59"/>
              <p:cNvSpPr/>
              <p:nvPr/>
            </p:nvSpPr>
            <p:spPr>
              <a:xfrm>
                <a:off x="4667250" y="4457700"/>
                <a:ext cx="2190750" cy="523875"/>
              </a:xfrm>
              <a:prstGeom prst="roundRect">
                <a:avLst>
                  <a:gd name="adj" fmla="val 7273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4757547" y="4561999"/>
                <a:ext cx="76573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OJ + 安全层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4757738" y="4768691"/>
                <a:ext cx="1735398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Python/C++ · AST 审计 · 3s 超时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7048500" y="3876675"/>
              <a:ext cx="2238441" cy="523875"/>
              <a:chOff x="7048500" y="3876675"/>
              <a:chExt cx="2238441" cy="523875"/>
            </a:xfrm>
          </p:grpSpPr>
          <p:sp>
            <p:nvSpPr>
              <p:cNvPr id="63" name="Rectangle 63"/>
              <p:cNvSpPr/>
              <p:nvPr/>
            </p:nvSpPr>
            <p:spPr>
              <a:xfrm>
                <a:off x="7048500" y="3876675"/>
                <a:ext cx="2190750" cy="523875"/>
              </a:xfrm>
              <a:prstGeom prst="roundRect">
                <a:avLst>
                  <a:gd name="adj" fmla="val 7273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7138797" y="3980974"/>
                <a:ext cx="40367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数据层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138988" y="4187666"/>
                <a:ext cx="214795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SQLAlchemy 2.0 · 7 表 · SQLite/MySQL</a:t>
                </a: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7048500" y="4457700"/>
              <a:ext cx="2190750" cy="523875"/>
              <a:chOff x="7048500" y="4457700"/>
              <a:chExt cx="2190750" cy="523875"/>
            </a:xfrm>
          </p:grpSpPr>
          <p:sp>
            <p:nvSpPr>
              <p:cNvPr id="67" name="Rectangle 67"/>
              <p:cNvSpPr/>
              <p:nvPr/>
            </p:nvSpPr>
            <p:spPr>
              <a:xfrm>
                <a:off x="7048500" y="4457700"/>
                <a:ext cx="2190750" cy="523875"/>
              </a:xfrm>
              <a:prstGeom prst="roundRect">
                <a:avLst>
                  <a:gd name="adj" fmla="val 7273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7138797" y="4561999"/>
                <a:ext cx="446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LLM 层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7138988" y="4768691"/>
                <a:ext cx="1996688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讯飞星火 · OpenAI 兼容 · 流式+非流式</a:t>
                </a:r>
              </a:p>
            </p:txBody>
          </p:sp>
        </p:grpSp>
      </p:grpSp>
      <p:grpSp>
        <p:nvGrpSpPr>
          <p:cNvPr id="74" name="Group 74"/>
          <p:cNvGrpSpPr/>
          <p:nvPr/>
        </p:nvGrpSpPr>
        <p:grpSpPr>
          <a:xfrm>
            <a:off x="8382000" y="5238750"/>
            <a:ext cx="2667000" cy="342900"/>
            <a:chOff x="8382000" y="5238750"/>
            <a:chExt cx="2667000" cy="342900"/>
          </a:xfrm>
        </p:grpSpPr>
        <p:sp>
          <p:nvSpPr>
            <p:cNvPr id="72" name="Rectangle 72"/>
            <p:cNvSpPr/>
            <p:nvPr/>
          </p:nvSpPr>
          <p:spPr>
            <a:xfrm>
              <a:off x="8382000" y="5238750"/>
              <a:ext cx="2667000" cy="342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640823" y="5352574"/>
              <a:ext cx="21493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✦ 自研轻量编排 · 零 langgraph 依赖</a:t>
              </a:r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07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7238" y="283845"/>
            <a:ext cx="162252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03 ·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1332" y="582930"/>
            <a:ext cx="296143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22 个智能体 · 6 层协作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9525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11" name="Group 11"/>
          <p:cNvGrpSpPr/>
          <p:nvPr/>
        </p:nvGrpSpPr>
        <p:grpSpPr>
          <a:xfrm>
            <a:off x="762000" y="1285875"/>
            <a:ext cx="1524000" cy="542925"/>
            <a:chOff x="762000" y="1285875"/>
            <a:chExt cx="1524000" cy="542925"/>
          </a:xfrm>
        </p:grpSpPr>
        <p:sp>
          <p:nvSpPr>
            <p:cNvPr id="6" name="Rectangle 6"/>
            <p:cNvSpPr/>
            <p:nvPr/>
          </p:nvSpPr>
          <p:spPr>
            <a:xfrm>
              <a:off x="762000" y="1285875"/>
              <a:ext cx="1524000" cy="523875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chemeClr val="accent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285875"/>
              <a:ext cx="1524000" cy="209550"/>
            </a:xfrm>
            <a:prstGeom prst="roundRect">
              <a:avLst>
                <a:gd name="adj" fmla="val 1818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61072" y="1339691"/>
              <a:ext cx="5258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L1 画像层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52488" y="1558766"/>
              <a:ext cx="7876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ProfilingAgent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2488" y="1681162"/>
              <a:ext cx="85642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chemeClr val="dk2"/>
                  </a:solidFill>
                  <a:latin typeface="Inter"/>
                  <a:ea typeface="Inter"/>
                  <a:cs typeface="Inter"/>
                </a:rPr>
                <a:t>PersonaInitAgent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476500" y="1285875"/>
            <a:ext cx="2857500" cy="542925"/>
            <a:chOff x="2476500" y="1285875"/>
            <a:chExt cx="2857500" cy="542925"/>
          </a:xfrm>
        </p:grpSpPr>
        <p:sp>
          <p:nvSpPr>
            <p:cNvPr id="12" name="Rectangle 12"/>
            <p:cNvSpPr/>
            <p:nvPr/>
          </p:nvSpPr>
          <p:spPr>
            <a:xfrm>
              <a:off x="2476500" y="1285875"/>
              <a:ext cx="2857500" cy="523875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chemeClr val="accent1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476500" y="1285875"/>
              <a:ext cx="2857500" cy="209550"/>
            </a:xfrm>
            <a:prstGeom prst="roundRect">
              <a:avLst>
                <a:gd name="adj" fmla="val 1818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42322" y="1339691"/>
              <a:ext cx="5258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L2 资源层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66988" y="1558766"/>
              <a:ext cx="184251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Concept · Graph · Quiz · Scenario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66988" y="1681162"/>
              <a:ext cx="176016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chemeClr val="dk2"/>
                  </a:solidFill>
                  <a:latin typeface="Inter"/>
                  <a:ea typeface="Inter"/>
                  <a:cs typeface="Inter"/>
                </a:rPr>
                <a:t>Trace · Reading · ResourceDispatch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619750" y="1285875"/>
            <a:ext cx="1524000" cy="523875"/>
            <a:chOff x="5619750" y="1285875"/>
            <a:chExt cx="1524000" cy="523875"/>
          </a:xfrm>
        </p:grpSpPr>
        <p:sp>
          <p:nvSpPr>
            <p:cNvPr id="18" name="Rectangle 18"/>
            <p:cNvSpPr/>
            <p:nvPr/>
          </p:nvSpPr>
          <p:spPr>
            <a:xfrm>
              <a:off x="5619750" y="1285875"/>
              <a:ext cx="1524000" cy="523875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chemeClr val="accent1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619750" y="1285875"/>
              <a:ext cx="1524000" cy="209550"/>
            </a:xfrm>
            <a:prstGeom prst="roundRect">
              <a:avLst>
                <a:gd name="adj" fmla="val 1818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118822" y="1339691"/>
              <a:ext cx="5258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L3 路径层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10238" y="1558766"/>
              <a:ext cx="103028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LearningPathAgent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429500" y="1285875"/>
            <a:ext cx="2095500" cy="542925"/>
            <a:chOff x="7429500" y="1285875"/>
            <a:chExt cx="2095500" cy="542925"/>
          </a:xfrm>
        </p:grpSpPr>
        <p:sp>
          <p:nvSpPr>
            <p:cNvPr id="23" name="Rectangle 23"/>
            <p:cNvSpPr/>
            <p:nvPr/>
          </p:nvSpPr>
          <p:spPr>
            <a:xfrm>
              <a:off x="7429500" y="1285875"/>
              <a:ext cx="2095500" cy="523875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chemeClr val="accent1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429500" y="1285875"/>
              <a:ext cx="2095500" cy="209550"/>
            </a:xfrm>
            <a:prstGeom prst="roundRect">
              <a:avLst>
                <a:gd name="adj" fmla="val 1818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214322" y="1339691"/>
              <a:ext cx="5258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L4 辅导层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19988" y="1558766"/>
              <a:ext cx="15065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AiTutor · CodeReview · Hint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19988" y="1681162"/>
              <a:ext cx="9848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chemeClr val="dk2"/>
                  </a:solidFill>
                  <a:latin typeface="Inter"/>
                  <a:ea typeface="Inter"/>
                  <a:cs typeface="Inter"/>
                </a:rPr>
                <a:t>MisconceptionAgent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62000" y="2000250"/>
            <a:ext cx="4381500" cy="523875"/>
            <a:chOff x="762000" y="2000250"/>
            <a:chExt cx="4381500" cy="523875"/>
          </a:xfrm>
        </p:grpSpPr>
        <p:sp>
          <p:nvSpPr>
            <p:cNvPr id="29" name="Rectangle 29"/>
            <p:cNvSpPr/>
            <p:nvPr/>
          </p:nvSpPr>
          <p:spPr>
            <a:xfrm>
              <a:off x="762000" y="2000250"/>
              <a:ext cx="4381500" cy="523875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62000" y="2000250"/>
              <a:ext cx="4381500" cy="209550"/>
            </a:xfrm>
            <a:prstGeom prst="roundRect">
              <a:avLst>
                <a:gd name="adj" fmla="val 1818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639949" y="2054066"/>
              <a:ext cx="6256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L5 安全层 ★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2488" y="2273141"/>
              <a:ext cx="30892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ContentVerifierAgent · SafetyAgent · ASTAnalyzerAgent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429250" y="2000250"/>
            <a:ext cx="4095750" cy="523875"/>
            <a:chOff x="5429250" y="2000250"/>
            <a:chExt cx="4095750" cy="523875"/>
          </a:xfrm>
        </p:grpSpPr>
        <p:sp>
          <p:nvSpPr>
            <p:cNvPr id="34" name="Rectangle 34"/>
            <p:cNvSpPr/>
            <p:nvPr/>
          </p:nvSpPr>
          <p:spPr>
            <a:xfrm>
              <a:off x="5429250" y="2000250"/>
              <a:ext cx="4095750" cy="523875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chemeClr val="accent1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0" y="2000250"/>
              <a:ext cx="4095750" cy="209550"/>
            </a:xfrm>
            <a:prstGeom prst="roundRect">
              <a:avLst>
                <a:gd name="adj" fmla="val 1818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14197" y="2054066"/>
              <a:ext cx="5258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L6 评估层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19738" y="2273141"/>
              <a:ext cx="2697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MasteryEval · LearningEvent · TeacherDashboard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55904" y="2727960"/>
            <a:ext cx="9245346" cy="1491615"/>
            <a:chOff x="755904" y="2727960"/>
            <a:chExt cx="9245346" cy="1491615"/>
          </a:xfrm>
        </p:grpSpPr>
        <p:sp>
          <p:nvSpPr>
            <p:cNvPr id="39" name="TextBox 39"/>
            <p:cNvSpPr txBox="1"/>
            <p:nvPr/>
          </p:nvSpPr>
          <p:spPr>
            <a:xfrm>
              <a:off x="755904" y="27279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智能体协作流程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762000" y="29718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62000" y="3381375"/>
              <a:ext cx="9239250" cy="838200"/>
              <a:chOff x="762000" y="3381375"/>
              <a:chExt cx="9239250" cy="8382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762000" y="3476625"/>
                <a:ext cx="952500" cy="333375"/>
              </a:xfrm>
              <a:prstGeom prst="roundRect">
                <a:avLst>
                  <a:gd name="adj" fmla="val 4857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991172" y="3589020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/>
                    </a:solidFill>
                    <a:latin typeface="Inter"/>
                    <a:ea typeface="Microsoft YaHei"/>
                    <a:cs typeface="Inter"/>
                  </a:rPr>
                  <a:t>用户输入</a:t>
                </a:r>
              </a:p>
            </p:txBody>
          </p:sp>
          <p:sp>
            <p:nvSpPr>
              <p:cNvPr id="43" name="Line 43"/>
              <p:cNvSpPr/>
              <p:nvPr/>
            </p:nvSpPr>
            <p:spPr>
              <a:xfrm>
                <a:off x="1714500" y="363855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44" name="Polygon 44"/>
              <p:cNvSpPr/>
              <p:nvPr/>
            </p:nvSpPr>
            <p:spPr>
              <a:xfrm>
                <a:off x="2019300" y="3590925"/>
                <a:ext cx="762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0">
                    <a:moveTo>
                      <a:pt x="7620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2095500" y="3476625"/>
                <a:ext cx="1047750" cy="333375"/>
              </a:xfrm>
              <a:prstGeom prst="roundRect">
                <a:avLst>
                  <a:gd name="adj" fmla="val 11429"/>
                </a:avLst>
              </a:prstGeom>
              <a:solidFill>
                <a:schemeClr val="lt2"/>
              </a:solidFill>
              <a:ln w="9525">
                <a:solidFill>
                  <a:schemeClr val="accent1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2392490" y="3597116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画像对话</a:t>
                </a:r>
              </a:p>
            </p:txBody>
          </p:sp>
          <p:sp>
            <p:nvSpPr>
              <p:cNvPr id="47" name="Line 47"/>
              <p:cNvSpPr/>
              <p:nvPr/>
            </p:nvSpPr>
            <p:spPr>
              <a:xfrm>
                <a:off x="3143250" y="3638550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48" name="Polygon 48"/>
              <p:cNvSpPr/>
              <p:nvPr/>
            </p:nvSpPr>
            <p:spPr>
              <a:xfrm>
                <a:off x="3352800" y="3590925"/>
                <a:ext cx="762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0">
                    <a:moveTo>
                      <a:pt x="7620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3429000" y="3476625"/>
                <a:ext cx="1047750" cy="333375"/>
              </a:xfrm>
              <a:prstGeom prst="roundRect">
                <a:avLst>
                  <a:gd name="adj" fmla="val 11429"/>
                </a:avLst>
              </a:prstGeom>
              <a:solidFill>
                <a:schemeClr val="lt2"/>
              </a:solidFill>
              <a:ln w="9525">
                <a:solidFill>
                  <a:schemeClr val="accent1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3725990" y="3597116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路径规划</a:t>
                </a:r>
              </a:p>
            </p:txBody>
          </p:sp>
          <p:sp>
            <p:nvSpPr>
              <p:cNvPr id="51" name="Line 51"/>
              <p:cNvSpPr/>
              <p:nvPr/>
            </p:nvSpPr>
            <p:spPr>
              <a:xfrm>
                <a:off x="4476750" y="3638550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52" name="Polygon 52"/>
              <p:cNvSpPr/>
              <p:nvPr/>
            </p:nvSpPr>
            <p:spPr>
              <a:xfrm>
                <a:off x="4686300" y="3590925"/>
                <a:ext cx="762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0">
                    <a:moveTo>
                      <a:pt x="7620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3" name="Rectangle 53"/>
              <p:cNvSpPr/>
              <p:nvPr/>
            </p:nvSpPr>
            <p:spPr>
              <a:xfrm>
                <a:off x="4762500" y="3381375"/>
                <a:ext cx="1047750" cy="333375"/>
              </a:xfrm>
              <a:prstGeom prst="roundRect">
                <a:avLst>
                  <a:gd name="adj" fmla="val 11429"/>
                </a:avLst>
              </a:prstGeom>
              <a:solidFill>
                <a:srgbClr val="E8F0FE"/>
              </a:solidFill>
              <a:ln w="9525">
                <a:solidFill>
                  <a:schemeClr val="accent2"/>
                </a:solidFill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5059489" y="3501866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资源生成</a:t>
                </a:r>
              </a:p>
            </p:txBody>
          </p:sp>
          <p:sp>
            <p:nvSpPr>
              <p:cNvPr id="55" name="Line 55"/>
              <p:cNvSpPr/>
              <p:nvPr/>
            </p:nvSpPr>
            <p:spPr>
              <a:xfrm>
                <a:off x="5810250" y="3543300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14288">
                <a:solidFill>
                  <a:schemeClr val="accent2"/>
                </a:solidFill>
              </a:ln>
            </p:spPr>
          </p:sp>
          <p:sp>
            <p:nvSpPr>
              <p:cNvPr id="56" name="Polygon 56"/>
              <p:cNvSpPr/>
              <p:nvPr/>
            </p:nvSpPr>
            <p:spPr>
              <a:xfrm>
                <a:off x="6019800" y="3495675"/>
                <a:ext cx="762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0">
                    <a:moveTo>
                      <a:pt x="7620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6096000" y="3381375"/>
                <a:ext cx="1047750" cy="333375"/>
              </a:xfrm>
              <a:prstGeom prst="roundRect">
                <a:avLst>
                  <a:gd name="adj" fmla="val 11429"/>
                </a:avLst>
              </a:prstGeom>
              <a:solidFill>
                <a:srgbClr val="E8F0FE"/>
              </a:solidFill>
              <a:ln w="9525">
                <a:solidFill>
                  <a:schemeClr val="accent2"/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6319348" y="3501866"/>
                <a:ext cx="60105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820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OJ / Trace</a:t>
                </a:r>
              </a:p>
            </p:txBody>
          </p:sp>
          <p:sp>
            <p:nvSpPr>
              <p:cNvPr id="59" name="Line 59"/>
              <p:cNvSpPr/>
              <p:nvPr/>
            </p:nvSpPr>
            <p:spPr>
              <a:xfrm>
                <a:off x="7143750" y="3543300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14288">
                <a:solidFill>
                  <a:schemeClr val="accent2"/>
                </a:solidFill>
              </a:ln>
            </p:spPr>
          </p:sp>
          <p:sp>
            <p:nvSpPr>
              <p:cNvPr id="60" name="Polygon 60"/>
              <p:cNvSpPr/>
              <p:nvPr/>
            </p:nvSpPr>
            <p:spPr>
              <a:xfrm>
                <a:off x="7353300" y="3495675"/>
                <a:ext cx="762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0">
                    <a:moveTo>
                      <a:pt x="7620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1" name="Line 61"/>
              <p:cNvSpPr/>
              <p:nvPr/>
            </p:nvSpPr>
            <p:spPr>
              <a:xfrm>
                <a:off x="4762500" y="3810000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  <a:custDash>
                  <a:ds d="300000" sp="200000"/>
                </a:custDash>
              </a:ln>
            </p:spPr>
          </p:sp>
          <p:sp>
            <p:nvSpPr>
              <p:cNvPr id="62" name="Line 62"/>
              <p:cNvSpPr/>
              <p:nvPr/>
            </p:nvSpPr>
            <p:spPr>
              <a:xfrm>
                <a:off x="4762500" y="4000500"/>
                <a:ext cx="266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67000" h="9525">
                    <a:moveTo>
                      <a:pt x="0" y="0"/>
                    </a:moveTo>
                    <a:lnTo>
                      <a:pt x="2667000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  <a:custDash>
                  <a:ds d="300000" sp="200000"/>
                </a:custDash>
              </a:ln>
            </p:spPr>
          </p:sp>
          <p:sp>
            <p:nvSpPr>
              <p:cNvPr id="63" name="Line 63"/>
              <p:cNvSpPr/>
              <p:nvPr/>
            </p:nvSpPr>
            <p:spPr>
              <a:xfrm>
                <a:off x="7429500" y="3810000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190500"/>
                    </a:move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  <a:custDash>
                  <a:ds d="300000" sp="200000"/>
                </a:custDash>
              </a:ln>
            </p:spPr>
          </p:sp>
          <p:sp>
            <p:nvSpPr>
              <p:cNvPr id="64" name="Polygon 64"/>
              <p:cNvSpPr/>
              <p:nvPr/>
            </p:nvSpPr>
            <p:spPr>
              <a:xfrm>
                <a:off x="7372350" y="3810000"/>
                <a:ext cx="1143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47625">
                    <a:moveTo>
                      <a:pt x="57150" y="0"/>
                    </a:moveTo>
                    <a:lnTo>
                      <a:pt x="0" y="47625"/>
                    </a:lnTo>
                    <a:lnTo>
                      <a:pt x="114300" y="4762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5" name="Rectangle 65"/>
              <p:cNvSpPr/>
              <p:nvPr/>
            </p:nvSpPr>
            <p:spPr>
              <a:xfrm>
                <a:off x="6096000" y="3886200"/>
                <a:ext cx="1047750" cy="333375"/>
              </a:xfrm>
              <a:prstGeom prst="roundRect">
                <a:avLst>
                  <a:gd name="adj" fmla="val 11429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6430289" y="4006691"/>
                <a:ext cx="37917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AI 辅导</a:t>
                </a:r>
              </a:p>
            </p:txBody>
          </p:sp>
          <p:sp>
            <p:nvSpPr>
              <p:cNvPr id="67" name="Line 67"/>
              <p:cNvSpPr/>
              <p:nvPr/>
            </p:nvSpPr>
            <p:spPr>
              <a:xfrm>
                <a:off x="7429500" y="3543300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68" name="Polygon 68"/>
              <p:cNvSpPr/>
              <p:nvPr/>
            </p:nvSpPr>
            <p:spPr>
              <a:xfrm>
                <a:off x="7639050" y="3495675"/>
                <a:ext cx="762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0">
                    <a:moveTo>
                      <a:pt x="7620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9" name="Rectangle 69"/>
              <p:cNvSpPr/>
              <p:nvPr/>
            </p:nvSpPr>
            <p:spPr>
              <a:xfrm>
                <a:off x="7715250" y="3476625"/>
                <a:ext cx="1047750" cy="333375"/>
              </a:xfrm>
              <a:prstGeom prst="roundRect">
                <a:avLst>
                  <a:gd name="adj" fmla="val 11429"/>
                </a:avLst>
              </a:prstGeom>
              <a:solidFill>
                <a:schemeClr val="lt2"/>
              </a:solidFill>
              <a:ln w="9525">
                <a:solidFill>
                  <a:schemeClr val="accent1"/>
                </a:solidFill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8012239" y="3597116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评估反馈</a:t>
                </a:r>
              </a:p>
            </p:txBody>
          </p:sp>
          <p:sp>
            <p:nvSpPr>
              <p:cNvPr id="71" name="Line 71"/>
              <p:cNvSpPr/>
              <p:nvPr/>
            </p:nvSpPr>
            <p:spPr>
              <a:xfrm>
                <a:off x="8763000" y="3638550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72" name="Polygon 72"/>
              <p:cNvSpPr/>
              <p:nvPr/>
            </p:nvSpPr>
            <p:spPr>
              <a:xfrm>
                <a:off x="8972550" y="3590925"/>
                <a:ext cx="762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0">
                    <a:moveTo>
                      <a:pt x="7620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3" name="Rectangle 73"/>
              <p:cNvSpPr/>
              <p:nvPr/>
            </p:nvSpPr>
            <p:spPr>
              <a:xfrm>
                <a:off x="9048750" y="3476625"/>
                <a:ext cx="952500" cy="333375"/>
              </a:xfrm>
              <a:prstGeom prst="roundRect">
                <a:avLst>
                  <a:gd name="adj" fmla="val 48571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9338500" y="3589020"/>
                <a:ext cx="37299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/>
                    </a:solidFill>
                    <a:latin typeface="Inter"/>
                    <a:ea typeface="Microsoft YaHei"/>
                    <a:cs typeface="Inter"/>
                  </a:rPr>
                  <a:t>掌握度</a:t>
                </a:r>
              </a:p>
            </p:txBody>
          </p:sp>
        </p:grpSp>
      </p:grpSp>
      <p:grpSp>
        <p:nvGrpSpPr>
          <p:cNvPr id="79" name="Group 79"/>
          <p:cNvGrpSpPr/>
          <p:nvPr/>
        </p:nvGrpSpPr>
        <p:grpSpPr>
          <a:xfrm>
            <a:off x="762000" y="4476750"/>
            <a:ext cx="10668000" cy="381000"/>
            <a:chOff x="762000" y="4476750"/>
            <a:chExt cx="10668000" cy="381000"/>
          </a:xfrm>
        </p:grpSpPr>
        <p:sp>
          <p:nvSpPr>
            <p:cNvPr id="77" name="Rectangle 77"/>
            <p:cNvSpPr/>
            <p:nvPr/>
          </p:nvSpPr>
          <p:spPr>
            <a:xfrm>
              <a:off x="762000" y="4476750"/>
              <a:ext cx="10668000" cy="381000"/>
            </a:xfrm>
            <a:prstGeom prst="roundRect">
              <a:avLst>
                <a:gd name="adj" fmla="val 1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47547" y="4609624"/>
              <a:ext cx="72267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📋 注册 22 个 Agent 条目 · 20 个已实现 · 2 个规划中扩展节点（PptAgent / VideoScriptAgent）· 6 个 Layer 端到端覆盖</a:t>
              </a:r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08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7238" y="283845"/>
            <a:ext cx="162252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03 ·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1332" y="582930"/>
            <a:ext cx="341376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四阶段并行生成，效率翻倍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9525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49" name="Group 49"/>
          <p:cNvGrpSpPr/>
          <p:nvPr/>
        </p:nvGrpSpPr>
        <p:grpSpPr>
          <a:xfrm>
            <a:off x="762000" y="1238250"/>
            <a:ext cx="9810750" cy="2095500"/>
            <a:chOff x="762000" y="1238250"/>
            <a:chExt cx="9810750" cy="2095500"/>
          </a:xfrm>
        </p:grpSpPr>
        <p:sp>
          <p:nvSpPr>
            <p:cNvPr id="6" name="Rectangle 6"/>
            <p:cNvSpPr/>
            <p:nvPr/>
          </p:nvSpPr>
          <p:spPr>
            <a:xfrm>
              <a:off x="762000" y="1428750"/>
              <a:ext cx="2095500" cy="152400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14288">
              <a:solidFill>
                <a:schemeClr val="accent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428750"/>
              <a:ext cx="2095500" cy="333375"/>
            </a:xfrm>
            <a:prstGeom prst="roundRect">
              <a:avLst>
                <a:gd name="adj" fmla="val 1714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65864" y="1542574"/>
              <a:ext cx="4877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Phase 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04875" y="1905000"/>
              <a:ext cx="1809750" cy="428625"/>
            </a:xfrm>
            <a:prstGeom prst="roundRect">
              <a:avLst>
                <a:gd name="adj" fmla="val 8889"/>
              </a:avLst>
            </a:prstGeom>
            <a:solidFill>
              <a:srgbClr val="E8F0F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74832" y="1979295"/>
              <a:ext cx="6698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📄 document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68660" y="2185988"/>
              <a:ext cx="68218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chemeClr val="dk2"/>
                  </a:solidFill>
                  <a:latin typeface="Inter"/>
                  <a:ea typeface="Inter"/>
                  <a:cs typeface="Inter"/>
                </a:rPr>
                <a:t>ConceptAgent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62672" y="25698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串行入口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61112" y="2757488"/>
              <a:ext cx="29727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串行 →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2857500" y="21907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3143250" y="2124075"/>
              <a:ext cx="95250" cy="133350"/>
            </a:xfrm>
            <a:custGeom>
              <a:avLst/>
              <a:gdLst/>
              <a:ahLst/>
              <a:cxnLst/>
              <a:rect l="l" t="t" r="r" b="b"/>
              <a:pathLst>
                <a:path w="95250" h="133350">
                  <a:moveTo>
                    <a:pt x="9525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3333750" y="1238250"/>
              <a:ext cx="2095500" cy="904875"/>
              <a:chOff x="3333750" y="1238250"/>
              <a:chExt cx="2095500" cy="904875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3333750" y="1238250"/>
                <a:ext cx="2095500" cy="904875"/>
              </a:xfrm>
              <a:prstGeom prst="roundRect">
                <a:avLst>
                  <a:gd name="adj" fmla="val 6316"/>
                </a:avLst>
              </a:prstGeom>
              <a:solidFill>
                <a:srgbClr val="FFFFFF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3333750" y="1238250"/>
                <a:ext cx="20955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3981580" y="1331595"/>
                <a:ext cx="79984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/>
                    </a:solidFill>
                    <a:latin typeface="Inter"/>
                    <a:ea typeface="Microsoft YaHei"/>
                    <a:cs typeface="Inter"/>
                  </a:rPr>
                  <a:t>Phase 2 ⚡并行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3429000" y="1619250"/>
                <a:ext cx="904875" cy="400050"/>
              </a:xfrm>
              <a:prstGeom prst="roundRect">
                <a:avLst>
                  <a:gd name="adj" fmla="val 9524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578104" y="1693545"/>
                <a:ext cx="59714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🧠 mindmap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619195" y="1870234"/>
                <a:ext cx="514960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68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GraphAgent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4429125" y="1619250"/>
                <a:ext cx="904875" cy="400050"/>
              </a:xfrm>
              <a:prstGeom prst="roundRect">
                <a:avLst>
                  <a:gd name="adj" fmla="val 9524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4535824" y="1693545"/>
                <a:ext cx="68195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📝 exercises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646609" y="1870234"/>
                <a:ext cx="460381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68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QuizAgent</a:t>
                </a:r>
              </a:p>
            </p:txBody>
          </p:sp>
        </p:grpSp>
        <p:sp>
          <p:nvSpPr>
            <p:cNvPr id="26" name="Line 26"/>
            <p:cNvSpPr/>
            <p:nvPr/>
          </p:nvSpPr>
          <p:spPr>
            <a:xfrm>
              <a:off x="4381500" y="276225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9525">
              <a:solidFill>
                <a:schemeClr val="accent2"/>
              </a:solidFill>
              <a:custDash>
                <a:ds d="400000" sp="300000"/>
              </a:custDash>
            </a:ln>
          </p:spPr>
        </p:sp>
        <p:sp>
          <p:nvSpPr>
            <p:cNvPr id="27" name="Line 27"/>
            <p:cNvSpPr/>
            <p:nvPr/>
          </p:nvSpPr>
          <p:spPr>
            <a:xfrm>
              <a:off x="4381500" y="31432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  <a:custDash>
                <a:ds d="400000" sp="300000"/>
              </a:custDash>
            </a:ln>
          </p:spPr>
        </p:sp>
        <p:sp>
          <p:nvSpPr>
            <p:cNvPr id="28" name="Line 28"/>
            <p:cNvSpPr/>
            <p:nvPr/>
          </p:nvSpPr>
          <p:spPr>
            <a:xfrm>
              <a:off x="5905500" y="31432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5848350" y="32385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000750" y="1428750"/>
              <a:ext cx="2095500" cy="904875"/>
              <a:chOff x="6000750" y="1428750"/>
              <a:chExt cx="2095500" cy="90487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6000750" y="1428750"/>
                <a:ext cx="2095500" cy="904875"/>
              </a:xfrm>
              <a:prstGeom prst="roundRect">
                <a:avLst>
                  <a:gd name="adj" fmla="val 6316"/>
                </a:avLst>
              </a:prstGeom>
              <a:solidFill>
                <a:srgbClr val="FFFFFF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6000750" y="1428750"/>
                <a:ext cx="20955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804614" y="1513999"/>
                <a:ext cx="48777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Phase 3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6143625" y="1828800"/>
                <a:ext cx="1809750" cy="400050"/>
              </a:xfrm>
              <a:prstGeom prst="roundRect">
                <a:avLst>
                  <a:gd name="adj" fmla="val 9524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6692379" y="1903095"/>
                <a:ext cx="71224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💻 code_case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692375" y="2081212"/>
                <a:ext cx="712250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5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ScenarioAgent</a:t>
                </a:r>
              </a:p>
            </p:txBody>
          </p:sp>
        </p:grpSp>
        <p:sp>
          <p:nvSpPr>
            <p:cNvPr id="37" name="Line 37"/>
            <p:cNvSpPr/>
            <p:nvPr/>
          </p:nvSpPr>
          <p:spPr>
            <a:xfrm>
              <a:off x="8096250" y="18764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8286750" y="1809750"/>
              <a:ext cx="95250" cy="133350"/>
            </a:xfrm>
            <a:custGeom>
              <a:avLst/>
              <a:gdLst/>
              <a:ahLst/>
              <a:cxnLst/>
              <a:rect l="l" t="t" r="r" b="b"/>
              <a:pathLst>
                <a:path w="95250" h="133350">
                  <a:moveTo>
                    <a:pt x="9525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8477250" y="1238250"/>
              <a:ext cx="2095500" cy="904875"/>
              <a:chOff x="8477250" y="1238250"/>
              <a:chExt cx="2095500" cy="904875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8477250" y="1238250"/>
                <a:ext cx="2095500" cy="904875"/>
              </a:xfrm>
              <a:prstGeom prst="roundRect">
                <a:avLst>
                  <a:gd name="adj" fmla="val 6316"/>
                </a:avLst>
              </a:prstGeom>
              <a:solidFill>
                <a:srgbClr val="FFFFFF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8477250" y="1238250"/>
                <a:ext cx="2095500" cy="285750"/>
              </a:xfrm>
              <a:prstGeom prst="roundRect">
                <a:avLst>
                  <a:gd name="adj" fmla="val 2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9125080" y="1331595"/>
                <a:ext cx="79984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/>
                    </a:solidFill>
                    <a:latin typeface="Inter"/>
                    <a:ea typeface="Microsoft YaHei"/>
                    <a:cs typeface="Inter"/>
                  </a:rPr>
                  <a:t>Phase 4 ⚡并行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8572500" y="1619250"/>
                <a:ext cx="904875" cy="400050"/>
              </a:xfrm>
              <a:prstGeom prst="roundRect">
                <a:avLst>
                  <a:gd name="adj" fmla="val 9524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8797328" y="1693545"/>
                <a:ext cx="44569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🎬 trace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762695" y="1870234"/>
                <a:ext cx="514960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68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TraceAgent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9572625" y="1619250"/>
                <a:ext cx="904875" cy="400050"/>
              </a:xfrm>
              <a:prstGeom prst="roundRect">
                <a:avLst>
                  <a:gd name="adj" fmla="val 9524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9745961" y="1693545"/>
                <a:ext cx="54867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📖 reading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724308" y="1870234"/>
                <a:ext cx="591984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68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ReadingAgent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762000" y="4000500"/>
            <a:ext cx="10668000" cy="857250"/>
            <a:chOff x="762000" y="4000500"/>
            <a:chExt cx="10668000" cy="857250"/>
          </a:xfrm>
        </p:grpSpPr>
        <p:sp>
          <p:nvSpPr>
            <p:cNvPr id="50" name="Rectangle 50"/>
            <p:cNvSpPr/>
            <p:nvPr/>
          </p:nvSpPr>
          <p:spPr>
            <a:xfrm>
              <a:off x="762000" y="4000500"/>
              <a:ext cx="10668000" cy="857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46785" y="4145756"/>
              <a:ext cx="29040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⚡ 并行拓扑相比串行生成，效率提升 2-3 倍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952500" y="440055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EDF0F5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47547" y="4485799"/>
              <a:ext cx="34054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Phase 2 的 mindmap 和 exercises 互不依赖，可并行生成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7547" y="4657249"/>
              <a:ext cx="32523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Phase 4 的 trace_animation 和 reading 同样并行执行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763000" y="5095875"/>
            <a:ext cx="2286000" cy="285750"/>
            <a:chOff x="8763000" y="5095875"/>
            <a:chExt cx="2286000" cy="285750"/>
          </a:xfrm>
        </p:grpSpPr>
        <p:sp>
          <p:nvSpPr>
            <p:cNvPr id="56" name="Rectangle 56"/>
            <p:cNvSpPr/>
            <p:nvPr/>
          </p:nvSpPr>
          <p:spPr>
            <a:xfrm>
              <a:off x="8763000" y="5095875"/>
              <a:ext cx="2286000" cy="2857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131884" y="5189220"/>
              <a:ext cx="15482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✦ 6 种资源类型的协同工作流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09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4000"/>
                </a:schemeClr>
              </a:gs>
              <a:gs pos="100000">
                <a:schemeClr val="accent2">
                  <a:alpha val="8000"/>
                </a:schemeClr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-1341316" y="-381000"/>
            <a:ext cx="13152316" cy="8286750"/>
            <a:chOff x="-1341316" y="-381000"/>
            <a:chExt cx="13152316" cy="8286750"/>
          </a:xfrm>
        </p:grpSpPr>
        <p:sp>
          <p:nvSpPr>
            <p:cNvPr id="4" name="Ellipse 4"/>
            <p:cNvSpPr/>
            <p:nvPr/>
          </p:nvSpPr>
          <p:spPr>
            <a:xfrm>
              <a:off x="-285750" y="4476750"/>
              <a:ext cx="3429000" cy="3429000"/>
            </a:xfrm>
            <a:prstGeom prst="ellipse">
              <a:avLst/>
            </a:prstGeom>
            <a:solidFill>
              <a:schemeClr val="accent1">
                <a:alpha val="4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144000" y="-381000"/>
              <a:ext cx="2667000" cy="2667000"/>
            </a:xfrm>
            <a:prstGeom prst="ellipse">
              <a:avLst/>
            </a:prstGeom>
            <a:solidFill>
              <a:schemeClr val="accent2">
                <a:alpha val="4000"/>
              </a:scheme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 rot="900000">
              <a:off x="-528108" y="181112"/>
              <a:ext cx="19050" cy="6286500"/>
            </a:xfrm>
            <a:prstGeom prst="rect">
              <a:avLst/>
            </a:prstGeom>
            <a:solidFill>
              <a:schemeClr val="accent1">
                <a:alpha val="4000"/>
              </a:schemeClr>
            </a:solidFill>
            <a:ln>
              <a:noFill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757238" y="283845"/>
            <a:ext cx="17505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04 · CORE FEATURES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1332" y="582930"/>
            <a:ext cx="284835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懂你：对话式六维画像</a:t>
            </a:r>
          </a:p>
        </p:txBody>
      </p:sp>
      <p:sp>
        <p:nvSpPr>
          <p:cNvPr id="10" name="Line 10"/>
          <p:cNvSpPr/>
          <p:nvPr/>
        </p:nvSpPr>
        <p:spPr>
          <a:xfrm>
            <a:off x="762000" y="9525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59" name="Group 59"/>
          <p:cNvGrpSpPr/>
          <p:nvPr/>
        </p:nvGrpSpPr>
        <p:grpSpPr>
          <a:xfrm>
            <a:off x="3571875" y="1381125"/>
            <a:ext cx="5143500" cy="3571875"/>
            <a:chOff x="3571875" y="1381125"/>
            <a:chExt cx="5143500" cy="3571875"/>
          </a:xfrm>
        </p:grpSpPr>
        <p:sp>
          <p:nvSpPr>
            <p:cNvPr id="11" name="Ellipse 11"/>
            <p:cNvSpPr/>
            <p:nvPr/>
          </p:nvSpPr>
          <p:spPr>
            <a:xfrm>
              <a:off x="4381500" y="1524000"/>
              <a:ext cx="3429000" cy="3429000"/>
            </a:xfrm>
            <a:prstGeom prst="ellipse">
              <a:avLst/>
            </a:prstGeom>
            <a:noFill/>
            <a:ln w="4762">
              <a:solidFill>
                <a:schemeClr val="accent4"/>
              </a:solidFill>
              <a:custDash>
                <a:ds d="800000" sp="1200000"/>
              </a:custDash>
            </a:ln>
          </p:spPr>
        </p:sp>
        <p:sp>
          <p:nvSpPr>
            <p:cNvPr id="12" name="Ellipse 12"/>
            <p:cNvSpPr/>
            <p:nvPr/>
          </p:nvSpPr>
          <p:spPr>
            <a:xfrm>
              <a:off x="4857750" y="2000250"/>
              <a:ext cx="2476500" cy="2476500"/>
            </a:xfrm>
            <a:prstGeom prst="ellipse">
              <a:avLst/>
            </a:prstGeom>
            <a:noFill/>
            <a:ln w="9525">
              <a:solidFill>
                <a:srgbClr val="EDF0F5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5619750" y="2762250"/>
              <a:ext cx="952500" cy="952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619750" y="2762250"/>
              <a:ext cx="952500" cy="952500"/>
            </a:xfrm>
            <a:prstGeom prst="ellipse">
              <a:avLst/>
            </a:prstGeom>
            <a:noFill/>
            <a:ln w="19050">
              <a:solidFill>
                <a:schemeClr val="accent2">
                  <a:alpha val="30000"/>
                </a:scheme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938838" y="3040856"/>
              <a:ext cx="3143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六维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38838" y="3212306"/>
              <a:ext cx="3143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画像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0" y="3714750"/>
              <a:ext cx="9525" cy="1047750"/>
            </a:xfrm>
            <a:custGeom>
              <a:avLst/>
              <a:gdLst/>
              <a:ahLst/>
              <a:cxnLst/>
              <a:rect l="l" t="t" r="r" b="b"/>
              <a:pathLst>
                <a:path w="9525" h="1047750">
                  <a:moveTo>
                    <a:pt x="0" y="0"/>
                  </a:moveTo>
                  <a:lnTo>
                    <a:pt x="0" y="104775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6057900" y="47244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6096000" y="1714500"/>
              <a:ext cx="9525" cy="1047750"/>
            </a:xfrm>
            <a:custGeom>
              <a:avLst/>
              <a:gdLst/>
              <a:ahLst/>
              <a:cxnLst/>
              <a:rect l="l" t="t" r="r" b="b"/>
              <a:pathLst>
                <a:path w="9525" h="1047750">
                  <a:moveTo>
                    <a:pt x="0" y="104775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6057900" y="16764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6572250" y="3238500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7581900" y="32004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4572000" y="3238500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1047750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33900" y="32004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6429375" y="3571875"/>
              <a:ext cx="742950" cy="742950"/>
            </a:xfrm>
            <a:custGeom>
              <a:avLst/>
              <a:gdLst/>
              <a:ahLst/>
              <a:cxnLst/>
              <a:rect l="l" t="t" r="r" b="b"/>
              <a:pathLst>
                <a:path w="742950" h="742950">
                  <a:moveTo>
                    <a:pt x="0" y="0"/>
                  </a:moveTo>
                  <a:lnTo>
                    <a:pt x="742950" y="74295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7134225" y="42767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5019675" y="2162175"/>
              <a:ext cx="742950" cy="742950"/>
            </a:xfrm>
            <a:custGeom>
              <a:avLst/>
              <a:gdLst/>
              <a:ahLst/>
              <a:cxnLst/>
              <a:rect l="l" t="t" r="r" b="b"/>
              <a:pathLst>
                <a:path w="742950" h="742950">
                  <a:moveTo>
                    <a:pt x="742950" y="74295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4981575" y="212407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3571875" y="2905125"/>
              <a:ext cx="2000250" cy="476250"/>
              <a:chOff x="3571875" y="2905125"/>
              <a:chExt cx="2000250" cy="4762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3571875" y="2905125"/>
                <a:ext cx="2000250" cy="47625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3743325" y="3028950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3810000" y="30956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042791" y="307752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编程基础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5000625" y="1381125"/>
              <a:ext cx="2000250" cy="476250"/>
              <a:chOff x="5000625" y="1381125"/>
              <a:chExt cx="2000250" cy="4762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000625" y="1381125"/>
                <a:ext cx="2000250" cy="47625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5172075" y="1504950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5238750" y="15716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5471541" y="155352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语言偏好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5191125" y="1381125"/>
              <a:ext cx="2000250" cy="476250"/>
              <a:chOff x="5191125" y="1381125"/>
              <a:chExt cx="2000250" cy="47625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5191125" y="1381125"/>
                <a:ext cx="2000250" cy="47625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5362575" y="1504950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5429250" y="15716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662041" y="1553528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数据结构掌握度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715125" y="2905125"/>
              <a:ext cx="2000250" cy="476250"/>
              <a:chOff x="6715125" y="2905125"/>
              <a:chExt cx="2000250" cy="47625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6715125" y="2905125"/>
                <a:ext cx="2000250" cy="47625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6886575" y="3028950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6953250" y="30956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186041" y="307752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学习目标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6238875" y="4143375"/>
              <a:ext cx="2000250" cy="476250"/>
              <a:chOff x="6238875" y="4143375"/>
              <a:chExt cx="2000250" cy="47625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6238875" y="4143375"/>
                <a:ext cx="2000250" cy="47625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6410325" y="4267200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6477000" y="433387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6709791" y="431577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学习风格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3952875" y="4143375"/>
              <a:ext cx="2000250" cy="476250"/>
              <a:chOff x="3952875" y="4143375"/>
              <a:chExt cx="2000250" cy="47625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3952875" y="4143375"/>
                <a:ext cx="2000250" cy="47625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4124325" y="4267200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6" name="Ellipse 56"/>
              <p:cNvSpPr/>
              <p:nvPr/>
            </p:nvSpPr>
            <p:spPr>
              <a:xfrm>
                <a:off x="4191000" y="433387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4423791" y="4315778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薄弱知识点</a:t>
                </a:r>
              </a:p>
            </p:txBody>
          </p:sp>
        </p:grpSp>
      </p:grpSp>
      <p:grpSp>
        <p:nvGrpSpPr>
          <p:cNvPr id="70" name="Group 70"/>
          <p:cNvGrpSpPr/>
          <p:nvPr/>
        </p:nvGrpSpPr>
        <p:grpSpPr>
          <a:xfrm>
            <a:off x="762000" y="5048250"/>
            <a:ext cx="10668000" cy="764857"/>
            <a:chOff x="762000" y="5048250"/>
            <a:chExt cx="10668000" cy="764857"/>
          </a:xfrm>
        </p:grpSpPr>
        <p:sp>
          <p:nvSpPr>
            <p:cNvPr id="60" name="Rectangle 60"/>
            <p:cNvSpPr/>
            <p:nvPr/>
          </p:nvSpPr>
          <p:spPr>
            <a:xfrm>
              <a:off x="762000" y="5048250"/>
              <a:ext cx="10668000" cy="762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62000" y="5048250"/>
              <a:ext cx="57150" cy="762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952500" y="5238750"/>
              <a:ext cx="381000" cy="381000"/>
              <a:chOff x="952500" y="5238750"/>
              <a:chExt cx="381000" cy="381000"/>
            </a:xfrm>
          </p:grpSpPr>
          <p:sp>
            <p:nvSpPr>
              <p:cNvPr id="62" name="Rectangle 62"/>
              <p:cNvSpPr/>
              <p:nvPr/>
            </p:nvSpPr>
            <p:spPr>
              <a:xfrm>
                <a:off x="952500" y="5238750"/>
                <a:ext cx="381000" cy="381000"/>
              </a:xfrm>
              <a:prstGeom prst="roundRect">
                <a:avLst>
                  <a:gd name="adj" fmla="val 10000"/>
                </a:avLst>
              </a:prstGeom>
              <a:solidFill>
                <a:schemeClr val="accent1">
                  <a:alpha val="15000"/>
                </a:schemeClr>
              </a:solidFill>
              <a:ln>
                <a:noFill/>
              </a:ln>
            </p:spPr>
          </p:sp>
          <p:sp>
            <p:nvSpPr>
              <p:cNvPr id="63" name="Line 63"/>
              <p:cNvSpPr/>
              <p:nvPr/>
            </p:nvSpPr>
            <p:spPr>
              <a:xfrm>
                <a:off x="1028700" y="5429250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FFFFFF">
                    <a:alpha val="15000"/>
                  </a:srgbClr>
                </a:solidFill>
              </a:ln>
            </p:spPr>
          </p:sp>
          <p:sp>
            <p:nvSpPr>
              <p:cNvPr id="64" name="Line 64"/>
              <p:cNvSpPr/>
              <p:nvPr/>
            </p:nvSpPr>
            <p:spPr>
              <a:xfrm>
                <a:off x="1085850" y="535305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rgbClr val="FFFFFF">
                    <a:alpha val="15000"/>
                  </a:srgbClr>
                </a:solidFill>
              </a:ln>
            </p:spPr>
          </p:sp>
          <p:sp>
            <p:nvSpPr>
              <p:cNvPr id="65" name="Line 65"/>
              <p:cNvSpPr/>
              <p:nvPr/>
            </p:nvSpPr>
            <p:spPr>
              <a:xfrm>
                <a:off x="1200150" y="535305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rgbClr val="FFFFFF">
                    <a:alpha val="15000"/>
                  </a:srgbClr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947166" y="5201602"/>
              <a:ext cx="978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🔄 动态更新机制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47547" y="5438299"/>
              <a:ext cx="43938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3-5 轮对话自动抽取 · 无需问卷 · 每次学习后画像更新 · 路径随之动态调整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576388" y="5636895"/>
              <a:ext cx="28858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ProfilingAgent 驱动 · 数据库 7 表外键关联持久存储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10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7238" y="283845"/>
            <a:ext cx="17505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04 · CORE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1332" y="582930"/>
            <a:ext cx="329214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记你：动态学习路径 DAG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9525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37" name="Group 37"/>
          <p:cNvGrpSpPr/>
          <p:nvPr/>
        </p:nvGrpSpPr>
        <p:grpSpPr>
          <a:xfrm>
            <a:off x="755904" y="1299210"/>
            <a:ext cx="6673596" cy="3996690"/>
            <a:chOff x="755904" y="1299210"/>
            <a:chExt cx="6673596" cy="3996690"/>
          </a:xfrm>
        </p:grpSpPr>
        <p:sp>
          <p:nvSpPr>
            <p:cNvPr id="6" name="TextBox 6"/>
            <p:cNvSpPr txBox="1"/>
            <p:nvPr/>
          </p:nvSpPr>
          <p:spPr>
            <a:xfrm>
              <a:off x="755904" y="1299210"/>
              <a:ext cx="15398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知识点依赖关系 DAG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572000" y="1714500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007292" y="1828324"/>
              <a:ext cx="2724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数组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3810000" y="2057400"/>
              <a:ext cx="1143000" cy="476250"/>
            </a:xfrm>
            <a:custGeom>
              <a:avLst/>
              <a:gdLst/>
              <a:ahLst/>
              <a:cxnLst/>
              <a:rect l="l" t="t" r="r" b="b"/>
              <a:pathLst>
                <a:path w="1143000" h="476250">
                  <a:moveTo>
                    <a:pt x="1143000" y="0"/>
                  </a:moveTo>
                  <a:lnTo>
                    <a:pt x="0" y="47625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5334000" y="205740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5715000" y="2057400"/>
              <a:ext cx="1143000" cy="476250"/>
            </a:xfrm>
            <a:custGeom>
              <a:avLst/>
              <a:gdLst/>
              <a:ahLst/>
              <a:cxnLst/>
              <a:rect l="l" t="t" r="r" b="b"/>
              <a:pathLst>
                <a:path w="1143000" h="476250">
                  <a:moveTo>
                    <a:pt x="0" y="0"/>
                  </a:moveTo>
                  <a:lnTo>
                    <a:pt x="1143000" y="47625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3238500" y="2571750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684079" y="269367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链表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762500" y="2571750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086921" y="26936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栈与队列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286500" y="2571750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71500" y="269367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哈希表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810000" y="29146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334000" y="29146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6858000" y="29146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3810000" y="33337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4762">
              <a:solidFill>
                <a:schemeClr val="accent4"/>
              </a:solidFill>
              <a:custDash>
                <a:ds d="600000" sp="400000"/>
              </a:custDash>
            </a:ln>
          </p:spPr>
        </p:sp>
        <p:sp>
          <p:nvSpPr>
            <p:cNvPr id="22" name="Line 22"/>
            <p:cNvSpPr/>
            <p:nvPr/>
          </p:nvSpPr>
          <p:spPr>
            <a:xfrm>
              <a:off x="5334000" y="33337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4762">
              <a:solidFill>
                <a:schemeClr val="accent4"/>
              </a:solidFill>
              <a:custDash>
                <a:ds d="600000" sp="400000"/>
              </a:custDash>
            </a:ln>
          </p:spPr>
        </p:sp>
        <p:sp>
          <p:nvSpPr>
            <p:cNvPr id="23" name="Rectangle 23"/>
            <p:cNvSpPr/>
            <p:nvPr/>
          </p:nvSpPr>
          <p:spPr>
            <a:xfrm>
              <a:off x="3238500" y="3333750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502342" y="345567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树与二叉树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905500" y="3333750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29921" y="34556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排序算法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3810000" y="367665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477000" y="367665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3810000" y="409575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4762">
              <a:solidFill>
                <a:schemeClr val="accent4"/>
              </a:solidFill>
              <a:custDash>
                <a:ds d="600000" sp="400000"/>
              </a:custDash>
            </a:ln>
          </p:spPr>
        </p:sp>
        <p:sp>
          <p:nvSpPr>
            <p:cNvPr id="30" name="Rectangle 30"/>
            <p:cNvSpPr/>
            <p:nvPr/>
          </p:nvSpPr>
          <p:spPr>
            <a:xfrm>
              <a:off x="3143250" y="4191000"/>
              <a:ext cx="1333500" cy="342900"/>
            </a:xfrm>
            <a:prstGeom prst="roundRect">
              <a:avLst>
                <a:gd name="adj" fmla="val 50000"/>
              </a:avLst>
            </a:prstGeom>
            <a:solidFill>
              <a:srgbClr val="E8F0FE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502342" y="43129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图与图算法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524500" y="4191000"/>
              <a:ext cx="1333500" cy="342900"/>
            </a:xfrm>
            <a:prstGeom prst="roundRect">
              <a:avLst>
                <a:gd name="adj" fmla="val 50000"/>
              </a:avLst>
            </a:prstGeom>
            <a:solidFill>
              <a:srgbClr val="E8F0FE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44171" y="431292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动态规划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191250" y="4533900"/>
              <a:ext cx="9525" cy="323850"/>
            </a:xfrm>
            <a:custGeom>
              <a:avLst/>
              <a:gdLst/>
              <a:ahLst/>
              <a:cxnLst/>
              <a:rect l="l" t="t" r="r" b="b"/>
              <a:pathLst>
                <a:path w="9525" h="323850">
                  <a:moveTo>
                    <a:pt x="0" y="0"/>
                  </a:moveTo>
                  <a:lnTo>
                    <a:pt x="0" y="323850"/>
                  </a:lnTo>
                </a:path>
              </a:pathLst>
            </a:custGeom>
            <a:noFill/>
            <a:ln w="14288">
              <a:solidFill>
                <a:srgbClr val="EF4444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0" y="4953000"/>
              <a:ext cx="1524000" cy="3429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288">
              <a:solidFill>
                <a:srgbClr val="EF4444"/>
              </a:solidFill>
              <a:custDash>
                <a:ds d="266666" sp="133333"/>
              </a:custDash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750571" y="5083016"/>
              <a:ext cx="88135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EF4444"/>
                  </a:solidFill>
                  <a:latin typeface="Inter"/>
                  <a:ea typeface="Microsoft YaHei"/>
                  <a:cs typeface="Inter"/>
                </a:rPr>
                <a:t>⚠ 巩固：从树到图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620000" y="1524000"/>
            <a:ext cx="3429000" cy="1180814"/>
            <a:chOff x="7620000" y="1524000"/>
            <a:chExt cx="3429000" cy="1180814"/>
          </a:xfrm>
        </p:grpSpPr>
        <p:sp>
          <p:nvSpPr>
            <p:cNvPr id="38" name="Rectangle 38"/>
            <p:cNvSpPr/>
            <p:nvPr/>
          </p:nvSpPr>
          <p:spPr>
            <a:xfrm>
              <a:off x="7620000" y="1524000"/>
              <a:ext cx="3429000" cy="1143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805166" y="1677352"/>
              <a:ext cx="13098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LearningPathAgent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05547" y="1942624"/>
              <a:ext cx="15652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✦ 基于画像生成个性化路径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05547" y="2133124"/>
              <a:ext cx="16463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✦ DAG 可视化，可拖动交互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05547" y="2323624"/>
              <a:ext cx="14340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✦ 受挫自动插入巩固节点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05547" y="2514124"/>
              <a:ext cx="14340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✦ 掌握度达阈值自动推进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11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857500"/>
          </a:xfrm>
          <a:prstGeom prst="rect">
            <a:avLst/>
          </a:prstGeom>
          <a:gradFill>
            <a:gsLst>
              <a:gs pos="0">
                <a:schemeClr val="accent1">
                  <a:alpha val="3000"/>
                </a:schemeClr>
              </a:gs>
              <a:gs pos="100000">
                <a:schemeClr val="lt1">
                  <a:alpha val="0"/>
                </a:schemeClr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-190500" y="4572000"/>
            <a:ext cx="12763500" cy="2571750"/>
            <a:chOff x="-190500" y="4572000"/>
            <a:chExt cx="12763500" cy="2571750"/>
          </a:xfrm>
        </p:grpSpPr>
        <p:sp>
          <p:nvSpPr>
            <p:cNvPr id="4" name="Ellipse 4"/>
            <p:cNvSpPr/>
            <p:nvPr/>
          </p:nvSpPr>
          <p:spPr>
            <a:xfrm>
              <a:off x="10287000" y="4572000"/>
              <a:ext cx="2286000" cy="2286000"/>
            </a:xfrm>
            <a:prstGeom prst="ellipse">
              <a:avLst/>
            </a:prstGeom>
            <a:solidFill>
              <a:schemeClr val="accent1">
                <a:alpha val="3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0500" y="5238750"/>
              <a:ext cx="1905000" cy="1905000"/>
            </a:xfrm>
            <a:prstGeom prst="ellipse">
              <a:avLst/>
            </a:prstGeom>
            <a:solidFill>
              <a:schemeClr val="accent2">
                <a:alpha val="3000"/>
              </a:scheme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 rot="-1800000">
              <a:off x="4284974" y="5106377"/>
              <a:ext cx="19050" cy="1905000"/>
            </a:xfrm>
            <a:prstGeom prst="rect">
              <a:avLst/>
            </a:prstGeom>
            <a:solidFill>
              <a:schemeClr val="accent1">
                <a:alpha val="3000"/>
              </a:schemeClr>
            </a:solidFill>
            <a:ln>
              <a:noFill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757238" y="283845"/>
            <a:ext cx="17505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04 · CORE FEATURES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1332" y="582930"/>
            <a:ext cx="397916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陪你：六种覆盖全场景学习资源</a:t>
            </a:r>
          </a:p>
        </p:txBody>
      </p:sp>
      <p:sp>
        <p:nvSpPr>
          <p:cNvPr id="10" name="Line 10"/>
          <p:cNvSpPr/>
          <p:nvPr/>
        </p:nvSpPr>
        <p:spPr>
          <a:xfrm>
            <a:off x="762000" y="952500"/>
            <a:ext cx="3524250" cy="9525"/>
          </a:xfrm>
          <a:custGeom>
            <a:avLst/>
            <a:gdLst/>
            <a:ahLst/>
            <a:cxnLst/>
            <a:rect l="l" t="t" r="r" b="b"/>
            <a:pathLst>
              <a:path w="3524250" h="9525">
                <a:moveTo>
                  <a:pt x="0" y="0"/>
                </a:moveTo>
                <a:lnTo>
                  <a:pt x="352425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762000" y="1285875"/>
            <a:ext cx="3238500" cy="1476375"/>
            <a:chOff x="762000" y="1285875"/>
            <a:chExt cx="3238500" cy="1476375"/>
          </a:xfrm>
        </p:grpSpPr>
        <p:sp>
          <p:nvSpPr>
            <p:cNvPr id="11" name="Rectangle 11"/>
            <p:cNvSpPr/>
            <p:nvPr/>
          </p:nvSpPr>
          <p:spPr>
            <a:xfrm>
              <a:off x="762000" y="1285875"/>
              <a:ext cx="3238500" cy="1476375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1285875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3429000" y="1428750"/>
              <a:ext cx="381000" cy="476250"/>
              <a:chOff x="3429000" y="1428750"/>
              <a:chExt cx="381000" cy="4762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3429000" y="1428750"/>
                <a:ext cx="381000" cy="476250"/>
              </a:xfrm>
              <a:prstGeom prst="roundRect">
                <a:avLst>
                  <a:gd name="adj" fmla="val 10000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3505200" y="1571625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FFFFFF">
                    <a:alpha val="10000"/>
                  </a:srgbClr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3505200" y="1666875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FFFFFF">
                    <a:alpha val="10000"/>
                  </a:srgbClr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3505200" y="1762125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">
                    <a:moveTo>
                      <a:pt x="0" y="0"/>
                    </a:moveTo>
                    <a:lnTo>
                      <a:pt x="161925" y="0"/>
                    </a:lnTo>
                  </a:path>
                </a:pathLst>
              </a:custGeom>
              <a:noFill/>
              <a:ln w="19050">
                <a:solidFill>
                  <a:srgbClr val="FFFFFF">
                    <a:alpha val="10000"/>
                  </a:srgbClr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945642" y="1502092"/>
              <a:ext cx="895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📄 讲解文档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952500" y="1762125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EDF0F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7547" y="1866424"/>
              <a:ext cx="8843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ConceptAgent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547" y="2085499"/>
              <a:ext cx="10153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结合 RAG 知识库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7547" y="2304574"/>
              <a:ext cx="9286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个性化课程讲解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381500" y="1285875"/>
            <a:ext cx="3238500" cy="1476375"/>
            <a:chOff x="4381500" y="1285875"/>
            <a:chExt cx="3238500" cy="1476375"/>
          </a:xfrm>
        </p:grpSpPr>
        <p:sp>
          <p:nvSpPr>
            <p:cNvPr id="24" name="Rectangle 24"/>
            <p:cNvSpPr/>
            <p:nvPr/>
          </p:nvSpPr>
          <p:spPr>
            <a:xfrm>
              <a:off x="4381500" y="1285875"/>
              <a:ext cx="3238500" cy="1476375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381500" y="1285875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096125" y="1428750"/>
              <a:ext cx="428625" cy="285750"/>
              <a:chOff x="7096125" y="1428750"/>
              <a:chExt cx="428625" cy="285750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7096125" y="1428750"/>
                <a:ext cx="285750" cy="285750"/>
              </a:xfrm>
              <a:prstGeom prst="ellipse">
                <a:avLst/>
              </a:prstGeom>
              <a:solidFill>
                <a:schemeClr val="accent2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7191375" y="1524000"/>
                <a:ext cx="95250" cy="95250"/>
              </a:xfrm>
              <a:prstGeom prst="ellipse">
                <a:avLst/>
              </a:prstGeom>
              <a:solidFill>
                <a:srgbClr val="FFFFFF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7381875" y="1476375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95250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chemeClr val="accent2">
                    <a:alpha val="10000"/>
                  </a:schemeClr>
                </a:solidFill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7381875" y="1571625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0"/>
                    </a:moveTo>
                    <a:lnTo>
                      <a:pt x="142875" y="95250"/>
                    </a:lnTo>
                  </a:path>
                </a:pathLst>
              </a:custGeom>
              <a:noFill/>
              <a:ln w="19050">
                <a:solidFill>
                  <a:schemeClr val="accent2">
                    <a:alpha val="10000"/>
                  </a:schemeClr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4565142" y="1502092"/>
              <a:ext cx="895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🧠 思维导图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4572000" y="1762125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EDF0F5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567047" y="1866424"/>
              <a:ext cx="7399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GraphAgent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67047" y="2085499"/>
              <a:ext cx="8434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Mermaid 格式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67047" y="2304574"/>
              <a:ext cx="10599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知识结构化可视化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001000" y="1285875"/>
            <a:ext cx="3238500" cy="1476375"/>
            <a:chOff x="8001000" y="1285875"/>
            <a:chExt cx="3238500" cy="1476375"/>
          </a:xfrm>
        </p:grpSpPr>
        <p:sp>
          <p:nvSpPr>
            <p:cNvPr id="37" name="Rectangle 37"/>
            <p:cNvSpPr/>
            <p:nvPr/>
          </p:nvSpPr>
          <p:spPr>
            <a:xfrm>
              <a:off x="8001000" y="1285875"/>
              <a:ext cx="3238500" cy="1476375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001000" y="1285875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10668000" y="1428750"/>
              <a:ext cx="381000" cy="381000"/>
              <a:chOff x="10668000" y="1428750"/>
              <a:chExt cx="381000" cy="3810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10668000" y="1428750"/>
                <a:ext cx="381000" cy="381000"/>
              </a:xfrm>
              <a:prstGeom prst="roundRect">
                <a:avLst>
                  <a:gd name="adj" fmla="val 10000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0792573" y="150495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>
                        <a:alphaMod val="10000"/>
                      </a:srgbClr>
                    </a:solidFill>
                    <a:latin typeface="Inter"/>
                    <a:ea typeface="Inter"/>
                    <a:cs typeface="Inter"/>
                  </a:rPr>
                  <a:t>✓</a:t>
                </a:r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8184642" y="1502092"/>
              <a:ext cx="1076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📝 分层练习题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8191500" y="1762125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EDF0F5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186547" y="1866424"/>
              <a:ext cx="6611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QuizAgent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86547" y="2085499"/>
              <a:ext cx="9390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Bloom 认知分层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186547" y="2304574"/>
              <a:ext cx="9089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5 道个性化习题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62000" y="3000375"/>
            <a:ext cx="3238500" cy="1476375"/>
            <a:chOff x="762000" y="3000375"/>
            <a:chExt cx="3238500" cy="1476375"/>
          </a:xfrm>
        </p:grpSpPr>
        <p:sp>
          <p:nvSpPr>
            <p:cNvPr id="48" name="Rectangle 48"/>
            <p:cNvSpPr/>
            <p:nvPr/>
          </p:nvSpPr>
          <p:spPr>
            <a:xfrm>
              <a:off x="762000" y="3000375"/>
              <a:ext cx="3238500" cy="1476375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62000" y="3000375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3429000" y="3143250"/>
              <a:ext cx="381000" cy="381000"/>
              <a:chOff x="3429000" y="3143250"/>
              <a:chExt cx="381000" cy="3810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3429000" y="3143250"/>
                <a:ext cx="381000" cy="381000"/>
              </a:xfrm>
              <a:prstGeom prst="roundRect">
                <a:avLst>
                  <a:gd name="adj" fmla="val 5000"/>
                </a:avLst>
              </a:prstGeom>
              <a:solidFill>
                <a:schemeClr val="accent2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3527277" y="3233738"/>
                <a:ext cx="184447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50" b="1" dirty="0">
                    <a:solidFill>
                      <a:srgbClr val="FFFFFF">
                        <a:alphaMod val="10000"/>
                      </a:srgbClr>
                    </a:solidFill>
                    <a:latin typeface="Courier New"/>
                    <a:ea typeface="Courier New"/>
                    <a:cs typeface="Courier New"/>
                  </a:rPr>
                  <a:t>&lt;/&gt;</a:t>
                </a:r>
              </a:p>
            </p:txBody>
          </p:sp>
        </p:grpSp>
        <p:sp>
          <p:nvSpPr>
            <p:cNvPr id="53" name="TextBox 53"/>
            <p:cNvSpPr txBox="1"/>
            <p:nvPr/>
          </p:nvSpPr>
          <p:spPr>
            <a:xfrm>
              <a:off x="945642" y="3216592"/>
              <a:ext cx="12586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💻 代码实操案例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952500" y="3476625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EDF0F5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47547" y="3580924"/>
              <a:ext cx="9234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ScenarioAgent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7547" y="3799999"/>
              <a:ext cx="9286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交互式代码沙盒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47547" y="4019074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即学即练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4381500" y="3000375"/>
            <a:ext cx="3238500" cy="1476375"/>
            <a:chOff x="4381500" y="3000375"/>
            <a:chExt cx="3238500" cy="1476375"/>
          </a:xfrm>
        </p:grpSpPr>
        <p:sp>
          <p:nvSpPr>
            <p:cNvPr id="59" name="Rectangle 59"/>
            <p:cNvSpPr/>
            <p:nvPr/>
          </p:nvSpPr>
          <p:spPr>
            <a:xfrm>
              <a:off x="4381500" y="3000375"/>
              <a:ext cx="3238500" cy="1476375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4381500" y="3000375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048500" y="3190875"/>
              <a:ext cx="333375" cy="285750"/>
              <a:chOff x="7048500" y="3190875"/>
              <a:chExt cx="333375" cy="285750"/>
            </a:xfrm>
          </p:grpSpPr>
          <p:sp>
            <p:nvSpPr>
              <p:cNvPr id="61" name="Polygon 61"/>
              <p:cNvSpPr/>
              <p:nvPr/>
            </p:nvSpPr>
            <p:spPr>
              <a:xfrm>
                <a:off x="7239000" y="3190875"/>
                <a:ext cx="14287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85750">
                    <a:moveTo>
                      <a:pt x="0" y="0"/>
                    </a:moveTo>
                    <a:lnTo>
                      <a:pt x="142875" y="142875"/>
                    </a:lnTo>
                    <a:lnTo>
                      <a:pt x="0" y="285750"/>
                    </a:lnTo>
                    <a:close/>
                  </a:path>
                </a:pathLst>
              </a:cu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7048500" y="3238500"/>
                <a:ext cx="114300" cy="28575"/>
              </a:xfrm>
              <a:prstGeom prst="roundRect">
                <a:avLst>
                  <a:gd name="adj" fmla="val 33333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63" name="Rectangle 63"/>
              <p:cNvSpPr/>
              <p:nvPr/>
            </p:nvSpPr>
            <p:spPr>
              <a:xfrm>
                <a:off x="7048500" y="3314700"/>
                <a:ext cx="114300" cy="28575"/>
              </a:xfrm>
              <a:prstGeom prst="roundRect">
                <a:avLst>
                  <a:gd name="adj" fmla="val 33333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64" name="Rectangle 64"/>
              <p:cNvSpPr/>
              <p:nvPr/>
            </p:nvSpPr>
            <p:spPr>
              <a:xfrm>
                <a:off x="7048500" y="3390900"/>
                <a:ext cx="114300" cy="28575"/>
              </a:xfrm>
              <a:prstGeom prst="roundRect">
                <a:avLst>
                  <a:gd name="adj" fmla="val 33333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4565142" y="3216592"/>
              <a:ext cx="14656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🎬 Trace 执行动画</a:t>
              </a:r>
            </a:p>
          </p:txBody>
        </p:sp>
        <p:sp>
          <p:nvSpPr>
            <p:cNvPr id="67" name="Line 67"/>
            <p:cNvSpPr/>
            <p:nvPr/>
          </p:nvSpPr>
          <p:spPr>
            <a:xfrm>
              <a:off x="4572000" y="3476625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EDF0F5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4567047" y="3580924"/>
              <a:ext cx="7399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TraceAgent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567047" y="3799999"/>
              <a:ext cx="9811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13 种可视化类型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567047" y="4019074"/>
              <a:ext cx="10599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代码逐行追踪诊断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001000" y="3000375"/>
            <a:ext cx="3238500" cy="1476375"/>
            <a:chOff x="8001000" y="3000375"/>
            <a:chExt cx="3238500" cy="1476375"/>
          </a:xfrm>
        </p:grpSpPr>
        <p:sp>
          <p:nvSpPr>
            <p:cNvPr id="72" name="Rectangle 72"/>
            <p:cNvSpPr/>
            <p:nvPr/>
          </p:nvSpPr>
          <p:spPr>
            <a:xfrm>
              <a:off x="8001000" y="3000375"/>
              <a:ext cx="3238500" cy="1476375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8001000" y="3000375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10668000" y="3143250"/>
              <a:ext cx="333375" cy="428625"/>
              <a:chOff x="10668000" y="3143250"/>
              <a:chExt cx="333375" cy="428625"/>
            </a:xfrm>
          </p:grpSpPr>
          <p:sp>
            <p:nvSpPr>
              <p:cNvPr id="74" name="Rectangle 74"/>
              <p:cNvSpPr/>
              <p:nvPr/>
            </p:nvSpPr>
            <p:spPr>
              <a:xfrm>
                <a:off x="10668000" y="3143250"/>
                <a:ext cx="333375" cy="428625"/>
              </a:xfrm>
              <a:prstGeom prst="roundRect">
                <a:avLst>
                  <a:gd name="adj" fmla="val 5714"/>
                </a:avLst>
              </a:prstGeom>
              <a:solidFill>
                <a:schemeClr val="accent2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75" name="Line 75"/>
              <p:cNvSpPr/>
              <p:nvPr/>
            </p:nvSpPr>
            <p:spPr>
              <a:xfrm>
                <a:off x="10715625" y="3238500"/>
                <a:ext cx="238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9525">
                    <a:moveTo>
                      <a:pt x="0" y="0"/>
                    </a:moveTo>
                    <a:lnTo>
                      <a:pt x="238125" y="0"/>
                    </a:lnTo>
                  </a:path>
                </a:pathLst>
              </a:custGeom>
              <a:noFill/>
              <a:ln w="14288">
                <a:solidFill>
                  <a:srgbClr val="FFFFFF">
                    <a:alpha val="10000"/>
                  </a:srgbClr>
                </a:solidFill>
              </a:ln>
            </p:spPr>
          </p:sp>
          <p:sp>
            <p:nvSpPr>
              <p:cNvPr id="76" name="Line 76"/>
              <p:cNvSpPr/>
              <p:nvPr/>
            </p:nvSpPr>
            <p:spPr>
              <a:xfrm>
                <a:off x="10715625" y="33147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4288">
                <a:solidFill>
                  <a:srgbClr val="FFFFFF">
                    <a:alpha val="10000"/>
                  </a:srgbClr>
                </a:solidFill>
              </a:ln>
            </p:spPr>
          </p:sp>
          <p:sp>
            <p:nvSpPr>
              <p:cNvPr id="77" name="Line 77"/>
              <p:cNvSpPr/>
              <p:nvPr/>
            </p:nvSpPr>
            <p:spPr>
              <a:xfrm>
                <a:off x="10715625" y="3390900"/>
                <a:ext cx="238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9525">
                    <a:moveTo>
                      <a:pt x="0" y="0"/>
                    </a:moveTo>
                    <a:lnTo>
                      <a:pt x="238125" y="0"/>
                    </a:lnTo>
                  </a:path>
                </a:pathLst>
              </a:custGeom>
              <a:noFill/>
              <a:ln w="14288">
                <a:solidFill>
                  <a:srgbClr val="FFFFFF">
                    <a:alpha val="10000"/>
                  </a:srgbClr>
                </a:solidFill>
              </a:ln>
            </p:spPr>
          </p:sp>
          <p:sp>
            <p:nvSpPr>
              <p:cNvPr id="78" name="Line 78"/>
              <p:cNvSpPr/>
              <p:nvPr/>
            </p:nvSpPr>
            <p:spPr>
              <a:xfrm>
                <a:off x="10715625" y="346710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4288">
                <a:solidFill>
                  <a:srgbClr val="FFFFFF">
                    <a:alpha val="10000"/>
                  </a:srgbClr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8184642" y="3216592"/>
              <a:ext cx="12586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📖 分层拓展阅读</a:t>
              </a:r>
            </a:p>
          </p:txBody>
        </p:sp>
        <p:sp>
          <p:nvSpPr>
            <p:cNvPr id="81" name="Line 81"/>
            <p:cNvSpPr/>
            <p:nvPr/>
          </p:nvSpPr>
          <p:spPr>
            <a:xfrm>
              <a:off x="8191500" y="3476625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EDF0F5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186547" y="3580924"/>
              <a:ext cx="851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ReadingAgent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186547" y="3799999"/>
              <a:ext cx="7974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分层难度匹配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186547" y="4019074"/>
              <a:ext cx="7974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拓展知识边界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762000" y="4762500"/>
            <a:ext cx="10668000" cy="381000"/>
            <a:chOff x="762000" y="4762500"/>
            <a:chExt cx="10668000" cy="381000"/>
          </a:xfrm>
        </p:grpSpPr>
        <p:sp>
          <p:nvSpPr>
            <p:cNvPr id="86" name="Rectangle 86"/>
            <p:cNvSpPr/>
            <p:nvPr/>
          </p:nvSpPr>
          <p:spPr>
            <a:xfrm>
              <a:off x="762000" y="4762500"/>
              <a:ext cx="106680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762000" y="4762500"/>
              <a:ext cx="10668000" cy="38100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540954" y="490347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理解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3191008" y="4903470"/>
              <a:ext cx="4759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→ 结构化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5108962" y="4903470"/>
              <a:ext cx="3548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→ 练习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775837" y="4903470"/>
              <a:ext cx="3548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→ 实践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490337" y="4903470"/>
              <a:ext cx="3548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→ 调试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300087" y="4903470"/>
              <a:ext cx="3548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→ 拓展</a:t>
              </a:r>
            </a:p>
          </p:txBody>
        </p:sp>
      </p:grpSp>
      <p:sp>
        <p:nvSpPr>
          <p:cNvPr id="95" name="TextBox 95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12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7238" y="283845"/>
            <a:ext cx="17505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04 · CORE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1332" y="582930"/>
            <a:ext cx="353110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纠你：在线 OJ + 代码诊断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9525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34" name="Group 34"/>
          <p:cNvGrpSpPr/>
          <p:nvPr/>
        </p:nvGrpSpPr>
        <p:grpSpPr>
          <a:xfrm>
            <a:off x="762000" y="1333500"/>
            <a:ext cx="6096000" cy="3429000"/>
            <a:chOff x="762000" y="1333500"/>
            <a:chExt cx="6096000" cy="3429000"/>
          </a:xfrm>
        </p:grpSpPr>
        <p:sp>
          <p:nvSpPr>
            <p:cNvPr id="6" name="Rectangle 6"/>
            <p:cNvSpPr/>
            <p:nvPr/>
          </p:nvSpPr>
          <p:spPr>
            <a:xfrm>
              <a:off x="762000" y="1333500"/>
              <a:ext cx="6096000" cy="3429000"/>
            </a:xfrm>
            <a:prstGeom prst="roundRect">
              <a:avLst>
                <a:gd name="adj" fmla="val 16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42035" y="1545431"/>
              <a:ext cx="13876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OJ 代码编辑器界面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2500" y="1857375"/>
              <a:ext cx="5715000" cy="381000"/>
            </a:xfrm>
            <a:prstGeom prst="roundRect">
              <a:avLst>
                <a:gd name="adj" fmla="val 10000"/>
              </a:avLst>
            </a:prstGeom>
            <a:solidFill>
              <a:srgbClr val="0F1D3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0612" y="1998345"/>
              <a:ext cx="31813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Inter"/>
                  <a:ea typeface="Inter"/>
                  <a:cs typeface="Inter"/>
                </a:rPr>
                <a:t>▶ Run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62112" y="1998345"/>
              <a:ext cx="4587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dk2"/>
                  </a:solidFill>
                  <a:latin typeface="Inter"/>
                  <a:ea typeface="Inter"/>
                  <a:cs typeface="Inter"/>
                </a:rPr>
                <a:t>|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52612" y="1998345"/>
              <a:ext cx="5170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Python 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14612" y="1998345"/>
              <a:ext cx="220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C++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05488" y="1998345"/>
              <a:ext cx="4436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chemeClr val="accent6"/>
                </a:buClr>
                <a:buSzTx/>
                <a:buFontTx/>
                <a:buChar char="●"/>
              </a:pPr>
              <a:r>
                <a:rPr lang="en-US" sz="900" dirty="0">
                  <a:solidFill>
                    <a:schemeClr val="accent6"/>
                  </a:solidFill>
                  <a:latin typeface="Inter"/>
                  <a:ea typeface="Inter"/>
                  <a:cs typeface="Inter"/>
                </a:rPr>
                <a:t>Trace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0612" y="23793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E8E8E8">
                      <a:alphaMod val="50000"/>
                    </a:srgbClr>
                  </a:solidFill>
                  <a:latin typeface="JetBrains Mono"/>
                  <a:ea typeface="JetBrains Mono"/>
                  <a:cs typeface="JetBrains Mono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33488" y="2379345"/>
              <a:ext cx="14513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JetBrains Mono"/>
                  <a:ea typeface="JetBrains Mono"/>
                  <a:cs typeface="JetBrains Mono"/>
                </a:rPr>
                <a:t>def reverse_list(head):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0612" y="25888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E8E8E8">
                      <a:alphaMod val="50000"/>
                    </a:srgbClr>
                  </a:solidFill>
                  <a:latin typeface="JetBrains Mono"/>
                  <a:ea typeface="JetBrains Mono"/>
                  <a:cs typeface="JetBrains Mono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33488" y="2588895"/>
              <a:ext cx="686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JetBrains Mono"/>
                  <a:ea typeface="JetBrains Mono"/>
                  <a:cs typeface="JetBrains Mono"/>
                </a:rPr>
                <a:t>prev = None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0612" y="27984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E8E8E8">
                      <a:alphaMod val="50000"/>
                    </a:srgbClr>
                  </a:solidFill>
                  <a:latin typeface="JetBrains Mono"/>
                  <a:ea typeface="JetBrains Mono"/>
                  <a:cs typeface="JetBrains Mono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33488" y="2798445"/>
              <a:ext cx="6819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JetBrains Mono"/>
                  <a:ea typeface="JetBrains Mono"/>
                  <a:cs typeface="JetBrains Mono"/>
                </a:rPr>
                <a:t>curr = head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0612" y="30079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E8E8E8">
                      <a:alphaMod val="50000"/>
                    </a:srgbClr>
                  </a:solidFill>
                  <a:latin typeface="JetBrains Mono"/>
                  <a:ea typeface="JetBrains Mono"/>
                  <a:cs typeface="JetBrains Mono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33488" y="3007995"/>
              <a:ext cx="6758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JetBrains Mono"/>
                  <a:ea typeface="JetBrains Mono"/>
                  <a:cs typeface="JetBrains Mono"/>
                </a:rPr>
                <a:t>while curr: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0612" y="32175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E8E8E8">
                      <a:alphaMod val="50000"/>
                    </a:srgbClr>
                  </a:solidFill>
                  <a:latin typeface="JetBrains Mono"/>
                  <a:ea typeface="JetBrains Mono"/>
                  <a:cs typeface="JetBrains Mono"/>
                </a:rPr>
                <a:t>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33488" y="3217545"/>
              <a:ext cx="13483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next_node = curr.next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0612" y="34270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E8E8E8">
                      <a:alphaMod val="50000"/>
                    </a:srgbClr>
                  </a:solidFill>
                  <a:latin typeface="JetBrains Mono"/>
                  <a:ea typeface="JetBrains Mono"/>
                  <a:cs typeface="JetBrains Mono"/>
                </a:rPr>
                <a:t>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33488" y="3427095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JetBrains Mono"/>
                  <a:ea typeface="JetBrains Mono"/>
                  <a:cs typeface="JetBrains Mono"/>
                </a:rPr>
                <a:t>curr.next = prev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0612" y="3636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E8E8E8">
                      <a:alphaMod val="50000"/>
                    </a:srgbClr>
                  </a:solidFill>
                  <a:latin typeface="JetBrains Mono"/>
                  <a:ea typeface="JetBrains Mono"/>
                  <a:cs typeface="JetBrains Mono"/>
                </a:rPr>
                <a:t>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33488" y="3636645"/>
              <a:ext cx="6819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JetBrains Mono"/>
                  <a:ea typeface="JetBrains Mono"/>
                  <a:cs typeface="JetBrains Mono"/>
                </a:rPr>
                <a:t>prev = curr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0612" y="38461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E8E8E8">
                      <a:alphaMod val="50000"/>
                    </a:srgbClr>
                  </a:solidFill>
                  <a:latin typeface="JetBrains Mono"/>
                  <a:ea typeface="JetBrains Mono"/>
                  <a:cs typeface="JetBrains Mono"/>
                </a:rPr>
                <a:t>8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33488" y="3846195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JetBrains Mono"/>
                  <a:ea typeface="JetBrains Mono"/>
                  <a:cs typeface="JetBrains Mono"/>
                </a:rPr>
                <a:t>curr = next_node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0612" y="40557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E8E8E8">
                      <a:alphaMod val="50000"/>
                    </a:srgbClr>
                  </a:solidFill>
                  <a:latin typeface="JetBrains Mono"/>
                  <a:ea typeface="JetBrains Mono"/>
                  <a:cs typeface="JetBrains Mono"/>
                </a:rPr>
                <a:t>9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33488" y="4055745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JetBrains Mono"/>
                  <a:ea typeface="JetBrains Mono"/>
                  <a:cs typeface="JetBrains Mono"/>
                </a:rPr>
                <a:t>return prev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52500" y="4286250"/>
              <a:ext cx="5715000" cy="333375"/>
            </a:xfrm>
            <a:prstGeom prst="roundRect">
              <a:avLst>
                <a:gd name="adj" fmla="val 11429"/>
              </a:avLst>
            </a:prstGeom>
            <a:solidFill>
              <a:srgbClr val="0F1D3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0612" y="4408170"/>
              <a:ext cx="20741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Inter"/>
                  <a:ea typeface="Microsoft YaHei"/>
                  <a:cs typeface="Inter"/>
                </a:rPr>
                <a:t>✓ 测试通过 (3/3) | Trace 动画已生成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143750" y="1333500"/>
            <a:ext cx="1905000" cy="762000"/>
            <a:chOff x="7143750" y="1333500"/>
            <a:chExt cx="1905000" cy="762000"/>
          </a:xfrm>
        </p:grpSpPr>
        <p:sp>
          <p:nvSpPr>
            <p:cNvPr id="35" name="Rectangle 35"/>
            <p:cNvSpPr/>
            <p:nvPr/>
          </p:nvSpPr>
          <p:spPr>
            <a:xfrm>
              <a:off x="7143750" y="1333500"/>
              <a:ext cx="1905000" cy="762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80910" y="1478756"/>
              <a:ext cx="9974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🐍 Python 判题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81862" y="1731645"/>
              <a:ext cx="11968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subprocess 沙盒执行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81862" y="1903095"/>
              <a:ext cx="7849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3s 超时硬上限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334500" y="1333500"/>
            <a:ext cx="1905000" cy="762000"/>
            <a:chOff x="9334500" y="1333500"/>
            <a:chExt cx="1905000" cy="762000"/>
          </a:xfrm>
        </p:grpSpPr>
        <p:sp>
          <p:nvSpPr>
            <p:cNvPr id="40" name="Rectangle 40"/>
            <p:cNvSpPr/>
            <p:nvPr/>
          </p:nvSpPr>
          <p:spPr>
            <a:xfrm>
              <a:off x="9334500" y="1333500"/>
              <a:ext cx="1905000" cy="762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471660" y="1478756"/>
              <a:ext cx="7795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⚡ C++ 判题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72612" y="1731645"/>
              <a:ext cx="8697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g++ 编译 + 运行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72612" y="190309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危险调用拦截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143750" y="2286000"/>
            <a:ext cx="1905000" cy="762000"/>
            <a:chOff x="7143750" y="2286000"/>
            <a:chExt cx="1905000" cy="762000"/>
          </a:xfrm>
        </p:grpSpPr>
        <p:sp>
          <p:nvSpPr>
            <p:cNvPr id="45" name="Rectangle 45"/>
            <p:cNvSpPr/>
            <p:nvPr/>
          </p:nvSpPr>
          <p:spPr>
            <a:xfrm>
              <a:off x="7143750" y="2286000"/>
              <a:ext cx="1905000" cy="762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280910" y="2431256"/>
              <a:ext cx="7795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🔍 AST 审计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81862" y="26841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死循环检测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81862" y="285559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数组越界检查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334500" y="2286000"/>
            <a:ext cx="1905000" cy="762000"/>
            <a:chOff x="9334500" y="2286000"/>
            <a:chExt cx="1905000" cy="762000"/>
          </a:xfrm>
        </p:grpSpPr>
        <p:sp>
          <p:nvSpPr>
            <p:cNvPr id="50" name="Rectangle 50"/>
            <p:cNvSpPr/>
            <p:nvPr/>
          </p:nvSpPr>
          <p:spPr>
            <a:xfrm>
              <a:off x="9334500" y="2286000"/>
              <a:ext cx="1905000" cy="762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471660" y="2431256"/>
              <a:ext cx="8292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🛡️ 安全机制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472612" y="268414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危险调用拦截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72612" y="285559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输出截断保护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143750" y="3333750"/>
            <a:ext cx="4095750" cy="771239"/>
            <a:chOff x="7143750" y="3333750"/>
            <a:chExt cx="4095750" cy="771239"/>
          </a:xfrm>
        </p:grpSpPr>
        <p:sp>
          <p:nvSpPr>
            <p:cNvPr id="55" name="Rectangle 55"/>
            <p:cNvSpPr/>
            <p:nvPr/>
          </p:nvSpPr>
          <p:spPr>
            <a:xfrm>
              <a:off x="7143750" y="3333750"/>
              <a:ext cx="4095750" cy="762000"/>
            </a:xfrm>
            <a:prstGeom prst="roundRect">
              <a:avLst>
                <a:gd name="adj" fmla="val 7500"/>
              </a:avLst>
            </a:prstGeom>
            <a:solidFill>
              <a:srgbClr val="E8F0FE"/>
            </a:solidFill>
            <a:ln w="14288">
              <a:solidFill>
                <a:schemeClr val="accent2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328535" y="3479006"/>
              <a:ext cx="9715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🎯 AI 诊断分析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29297" y="3723799"/>
              <a:ext cx="25431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错误代码自动分析 + 优化建议 + 知识点关联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29297" y="3914299"/>
              <a:ext cx="21248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基于 RAG 知识库的上下文感知诊断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13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7238" y="283845"/>
            <a:ext cx="17505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04 · CORE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1332" y="582930"/>
            <a:ext cx="415262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代码 Trace 可视化——看见每一步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952500"/>
            <a:ext cx="3524250" cy="9525"/>
          </a:xfrm>
          <a:custGeom>
            <a:avLst/>
            <a:gdLst/>
            <a:ahLst/>
            <a:cxnLst/>
            <a:rect l="l" t="t" r="r" b="b"/>
            <a:pathLst>
              <a:path w="3524250" h="9525">
                <a:moveTo>
                  <a:pt x="0" y="0"/>
                </a:moveTo>
                <a:lnTo>
                  <a:pt x="352425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27" name="Group 27"/>
          <p:cNvGrpSpPr/>
          <p:nvPr/>
        </p:nvGrpSpPr>
        <p:grpSpPr>
          <a:xfrm>
            <a:off x="762000" y="1285875"/>
            <a:ext cx="5143500" cy="2476500"/>
            <a:chOff x="762000" y="1285875"/>
            <a:chExt cx="5143500" cy="2476500"/>
          </a:xfrm>
        </p:grpSpPr>
        <p:sp>
          <p:nvSpPr>
            <p:cNvPr id="6" name="Rectangle 6"/>
            <p:cNvSpPr/>
            <p:nvPr/>
          </p:nvSpPr>
          <p:spPr>
            <a:xfrm>
              <a:off x="762000" y="1285875"/>
              <a:ext cx="5143500" cy="2476500"/>
            </a:xfrm>
            <a:prstGeom prst="roundRect">
              <a:avLst>
                <a:gd name="adj" fmla="val 2308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285875"/>
              <a:ext cx="5143500" cy="333375"/>
            </a:xfrm>
            <a:prstGeom prst="roundRect">
              <a:avLst>
                <a:gd name="adj" fmla="val 1714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7547" y="1399699"/>
              <a:ext cx="19624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🐍 Python Trace：sys.settrace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947738" y="1857375"/>
              <a:ext cx="4005262" cy="762000"/>
              <a:chOff x="947738" y="1857375"/>
              <a:chExt cx="4005262" cy="762000"/>
            </a:xfrm>
          </p:grpSpPr>
          <p:sp>
            <p:nvSpPr>
              <p:cNvPr id="9" name="Line 9"/>
              <p:cNvSpPr/>
              <p:nvPr/>
            </p:nvSpPr>
            <p:spPr>
              <a:xfrm>
                <a:off x="952500" y="1857375"/>
                <a:ext cx="228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9525">
                    <a:moveTo>
                      <a:pt x="0" y="0"/>
                    </a:moveTo>
                    <a:lnTo>
                      <a:pt x="2286000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947738" y="1903095"/>
                <a:ext cx="38428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Step 5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952500" y="2095500"/>
                <a:ext cx="1143000" cy="523875"/>
              </a:xfrm>
              <a:prstGeom prst="roundRect">
                <a:avLst>
                  <a:gd name="adj" fmla="val 727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42988" y="2177891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变量追踪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42988" y="2339816"/>
                <a:ext cx="814826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20" dirty="0">
                    <a:solidFill>
                      <a:schemeClr val="accent2"/>
                    </a:solidFill>
                    <a:latin typeface="Inter"/>
                    <a:ea typeface="Inter"/>
                    <a:cs typeface="Inter"/>
                  </a:rPr>
                  <a:t>curr → Node(3)</a:t>
                </a:r>
              </a:p>
            </p:txBody>
          </p:sp>
          <p:sp>
            <p:nvSpPr>
              <p:cNvPr id="14" name="Line 14"/>
              <p:cNvSpPr/>
              <p:nvPr/>
            </p:nvSpPr>
            <p:spPr>
              <a:xfrm>
                <a:off x="2095500" y="22098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</a:ln>
            </p:spPr>
          </p:sp>
          <p:sp>
            <p:nvSpPr>
              <p:cNvPr id="15" name="Polygon 15"/>
              <p:cNvSpPr/>
              <p:nvPr/>
            </p:nvSpPr>
            <p:spPr>
              <a:xfrm>
                <a:off x="2228850" y="2171700"/>
                <a:ext cx="571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76200">
                    <a:moveTo>
                      <a:pt x="57150" y="38100"/>
                    </a:moveTo>
                    <a:lnTo>
                      <a:pt x="0" y="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2328862" y="1903095"/>
                <a:ext cx="38428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Step 6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2286000" y="2095500"/>
                <a:ext cx="1143000" cy="523875"/>
              </a:xfrm>
              <a:prstGeom prst="roundRect">
                <a:avLst>
                  <a:gd name="adj" fmla="val 727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2376488" y="2177891"/>
                <a:ext cx="342710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调用栈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376488" y="2339816"/>
                <a:ext cx="687000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2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reverse_list</a:t>
                </a: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3429000" y="22098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</a:ln>
            </p:spPr>
          </p:sp>
          <p:sp>
            <p:nvSpPr>
              <p:cNvPr id="21" name="Polygon 21"/>
              <p:cNvSpPr/>
              <p:nvPr/>
            </p:nvSpPr>
            <p:spPr>
              <a:xfrm>
                <a:off x="3562350" y="2171700"/>
                <a:ext cx="571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76200">
                    <a:moveTo>
                      <a:pt x="57150" y="38100"/>
                    </a:moveTo>
                    <a:lnTo>
                      <a:pt x="0" y="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3662362" y="1903095"/>
                <a:ext cx="38428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Step 7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3619500" y="2095500"/>
                <a:ext cx="1333500" cy="523875"/>
              </a:xfrm>
              <a:prstGeom prst="roundRect">
                <a:avLst>
                  <a:gd name="adj" fmla="val 727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3709988" y="2177891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内存状态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709988" y="2339816"/>
                <a:ext cx="93226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2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head▸1▸2▸3▸None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6191250" y="1285875"/>
            <a:ext cx="5143500" cy="2476500"/>
            <a:chOff x="6191250" y="1285875"/>
            <a:chExt cx="5143500" cy="2476500"/>
          </a:xfrm>
        </p:grpSpPr>
        <p:sp>
          <p:nvSpPr>
            <p:cNvPr id="28" name="Rectangle 28"/>
            <p:cNvSpPr/>
            <p:nvPr/>
          </p:nvSpPr>
          <p:spPr>
            <a:xfrm>
              <a:off x="6191250" y="1285875"/>
              <a:ext cx="5143500" cy="2476500"/>
            </a:xfrm>
            <a:prstGeom prst="roundRect">
              <a:avLst>
                <a:gd name="adj" fmla="val 2308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191250" y="1285875"/>
              <a:ext cx="5143500" cy="333375"/>
            </a:xfrm>
            <a:prstGeom prst="roundRect">
              <a:avLst>
                <a:gd name="adj" fmla="val 1714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76797" y="1399699"/>
              <a:ext cx="13085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⚡ C++ Trace：GDB MI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6381750" y="1857375"/>
              <a:ext cx="2952750" cy="762000"/>
              <a:chOff x="6381750" y="1857375"/>
              <a:chExt cx="2952750" cy="762000"/>
            </a:xfrm>
          </p:grpSpPr>
          <p:sp>
            <p:nvSpPr>
              <p:cNvPr id="31" name="Line 31"/>
              <p:cNvSpPr/>
              <p:nvPr/>
            </p:nvSpPr>
            <p:spPr>
              <a:xfrm>
                <a:off x="6381750" y="1857375"/>
                <a:ext cx="228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9525">
                    <a:moveTo>
                      <a:pt x="0" y="0"/>
                    </a:moveTo>
                    <a:lnTo>
                      <a:pt x="2286000" y="0"/>
                    </a:lnTo>
                  </a:path>
                </a:pathLst>
              </a:custGeom>
              <a:noFill/>
              <a:ln w="9525">
                <a:solidFill>
                  <a:schemeClr val="accent1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6381750" y="2095500"/>
                <a:ext cx="1333500" cy="523875"/>
              </a:xfrm>
              <a:prstGeom prst="roundRect">
                <a:avLst>
                  <a:gd name="adj" fmla="val 7273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472238" y="2177891"/>
                <a:ext cx="707746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GDB 单步追踪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472238" y="2339816"/>
                <a:ext cx="1525514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2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→ line 42: curr = curr-&gt;next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7905750" y="2095500"/>
                <a:ext cx="1428750" cy="523875"/>
              </a:xfrm>
              <a:prstGeom prst="roundRect">
                <a:avLst>
                  <a:gd name="adj" fmla="val 7273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996238" y="2177891"/>
                <a:ext cx="707746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STL 容器提取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996238" y="2339816"/>
                <a:ext cx="898017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2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gdb_stl_extract</a:t>
                </a: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755904" y="3870960"/>
            <a:ext cx="8007096" cy="1005840"/>
            <a:chOff x="755904" y="3870960"/>
            <a:chExt cx="8007096" cy="1005840"/>
          </a:xfrm>
        </p:grpSpPr>
        <p:sp>
          <p:nvSpPr>
            <p:cNvPr id="40" name="TextBox 40"/>
            <p:cNvSpPr txBox="1"/>
            <p:nvPr/>
          </p:nvSpPr>
          <p:spPr>
            <a:xfrm>
              <a:off x="755904" y="3870960"/>
              <a:ext cx="17684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13 种 Trace 可视化类型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762000" y="41338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62000" y="4286250"/>
              <a:ext cx="8001000" cy="590550"/>
              <a:chOff x="762000" y="4286250"/>
              <a:chExt cx="8001000" cy="59055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762000" y="4286250"/>
                <a:ext cx="1238250" cy="266700"/>
              </a:xfrm>
              <a:prstGeom prst="roundRect">
                <a:avLst>
                  <a:gd name="adj" fmla="val 1428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852488" y="4378166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变量追踪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2114550" y="4286250"/>
                <a:ext cx="1238250" cy="266700"/>
              </a:xfrm>
              <a:prstGeom prst="roundRect">
                <a:avLst>
                  <a:gd name="adj" fmla="val 1428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2205038" y="4378166"/>
                <a:ext cx="342710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调用栈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3467100" y="4286250"/>
                <a:ext cx="1238250" cy="266700"/>
              </a:xfrm>
              <a:prstGeom prst="roundRect">
                <a:avLst>
                  <a:gd name="adj" fmla="val 1428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3557588" y="4378166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内存状态</a:t>
                </a: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4819650" y="4286250"/>
                <a:ext cx="1238250" cy="266700"/>
              </a:xfrm>
              <a:prstGeom prst="roundRect">
                <a:avLst>
                  <a:gd name="adj" fmla="val 1428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4910138" y="4378166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链表结构</a:t>
                </a: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6172200" y="4286250"/>
                <a:ext cx="1238250" cy="266700"/>
              </a:xfrm>
              <a:prstGeom prst="roundRect">
                <a:avLst>
                  <a:gd name="adj" fmla="val 1428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6262688" y="4378166"/>
                <a:ext cx="29273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树/图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7524750" y="4286250"/>
                <a:ext cx="1238250" cy="266700"/>
              </a:xfrm>
              <a:prstGeom prst="roundRect">
                <a:avLst>
                  <a:gd name="adj" fmla="val 1428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615238" y="4378166"/>
                <a:ext cx="231648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数组</a:t>
                </a:r>
              </a:p>
            </p:txBody>
          </p:sp>
          <p:sp>
            <p:nvSpPr>
              <p:cNvPr id="54" name="Rectangle 54"/>
              <p:cNvSpPr/>
              <p:nvPr/>
            </p:nvSpPr>
            <p:spPr>
              <a:xfrm>
                <a:off x="762000" y="4610100"/>
                <a:ext cx="1238250" cy="266700"/>
              </a:xfrm>
              <a:prstGeom prst="roundRect">
                <a:avLst>
                  <a:gd name="adj" fmla="val 1428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852488" y="4702016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指针引用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2114550" y="4610100"/>
                <a:ext cx="1238250" cy="266700"/>
              </a:xfrm>
              <a:prstGeom prst="roundRect">
                <a:avLst>
                  <a:gd name="adj" fmla="val 1428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2205038" y="4702016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递归展开</a:t>
                </a:r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3467100" y="4610100"/>
                <a:ext cx="1238250" cy="266700"/>
              </a:xfrm>
              <a:prstGeom prst="roundRect">
                <a:avLst>
                  <a:gd name="adj" fmla="val 1428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3557588" y="4702016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循环展开</a:t>
                </a:r>
              </a:p>
            </p:txBody>
          </p:sp>
          <p:sp>
            <p:nvSpPr>
              <p:cNvPr id="60" name="Rectangle 60"/>
              <p:cNvSpPr/>
              <p:nvPr/>
            </p:nvSpPr>
            <p:spPr>
              <a:xfrm>
                <a:off x="4819650" y="4610100"/>
                <a:ext cx="1238250" cy="266700"/>
              </a:xfrm>
              <a:prstGeom prst="roundRect">
                <a:avLst>
                  <a:gd name="adj" fmla="val 1428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4910138" y="4702016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条件分支</a:t>
                </a:r>
              </a:p>
            </p:txBody>
          </p:sp>
          <p:sp>
            <p:nvSpPr>
              <p:cNvPr id="62" name="Rectangle 62"/>
              <p:cNvSpPr/>
              <p:nvPr/>
            </p:nvSpPr>
            <p:spPr>
              <a:xfrm>
                <a:off x="6172200" y="4610100"/>
                <a:ext cx="1238250" cy="266700"/>
              </a:xfrm>
              <a:prstGeom prst="roundRect">
                <a:avLst>
                  <a:gd name="adj" fmla="val 1428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6262688" y="4702016"/>
                <a:ext cx="342710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时间线</a:t>
                </a:r>
              </a:p>
            </p:txBody>
          </p:sp>
          <p:sp>
            <p:nvSpPr>
              <p:cNvPr id="64" name="Rectangle 64"/>
              <p:cNvSpPr/>
              <p:nvPr/>
            </p:nvSpPr>
            <p:spPr>
              <a:xfrm>
                <a:off x="7524750" y="4610100"/>
                <a:ext cx="1238250" cy="266700"/>
              </a:xfrm>
              <a:prstGeom prst="roundRect">
                <a:avLst>
                  <a:gd name="adj" fmla="val 1428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7615238" y="4702016"/>
                <a:ext cx="231648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旁白</a:t>
                </a:r>
              </a:p>
            </p:txBody>
          </p:sp>
        </p:grpSp>
      </p:grpSp>
      <p:grpSp>
        <p:nvGrpSpPr>
          <p:cNvPr id="70" name="Group 70"/>
          <p:cNvGrpSpPr/>
          <p:nvPr/>
        </p:nvGrpSpPr>
        <p:grpSpPr>
          <a:xfrm>
            <a:off x="762000" y="5048250"/>
            <a:ext cx="10668000" cy="419100"/>
            <a:chOff x="762000" y="5048250"/>
            <a:chExt cx="10668000" cy="419100"/>
          </a:xfrm>
        </p:grpSpPr>
        <p:sp>
          <p:nvSpPr>
            <p:cNvPr id="68" name="Rectangle 68"/>
            <p:cNvSpPr/>
            <p:nvPr/>
          </p:nvSpPr>
          <p:spPr>
            <a:xfrm>
              <a:off x="762000" y="5048250"/>
              <a:ext cx="10668000" cy="419100"/>
            </a:xfrm>
            <a:prstGeom prst="roundRect">
              <a:avLst>
                <a:gd name="adj" fmla="val 1363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47547" y="5200174"/>
              <a:ext cx="57911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✦ Python sys.settrace + C++ GDB MI 统一为 13 类可视化类型 · 确定性旁白确保经典题目可复现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14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7238" y="283845"/>
            <a:ext cx="17505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04 · CORE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1332" y="582930"/>
            <a:ext cx="399409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学情全景：AI 辅导 + 教师看板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952500"/>
            <a:ext cx="3524250" cy="9525"/>
          </a:xfrm>
          <a:custGeom>
            <a:avLst/>
            <a:gdLst/>
            <a:ahLst/>
            <a:cxnLst/>
            <a:rect l="l" t="t" r="r" b="b"/>
            <a:pathLst>
              <a:path w="3524250" h="9525">
                <a:moveTo>
                  <a:pt x="0" y="0"/>
                </a:moveTo>
                <a:lnTo>
                  <a:pt x="352425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31" name="Group 31"/>
          <p:cNvGrpSpPr/>
          <p:nvPr/>
        </p:nvGrpSpPr>
        <p:grpSpPr>
          <a:xfrm>
            <a:off x="762000" y="1333500"/>
            <a:ext cx="5143500" cy="3619500"/>
            <a:chOff x="762000" y="1333500"/>
            <a:chExt cx="5143500" cy="3619500"/>
          </a:xfrm>
        </p:grpSpPr>
        <p:sp>
          <p:nvSpPr>
            <p:cNvPr id="6" name="Rectangle 6"/>
            <p:cNvSpPr/>
            <p:nvPr/>
          </p:nvSpPr>
          <p:spPr>
            <a:xfrm>
              <a:off x="762000" y="1333500"/>
              <a:ext cx="5143500" cy="3619500"/>
            </a:xfrm>
            <a:prstGeom prst="roundRect">
              <a:avLst>
                <a:gd name="adj" fmla="val 1579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333500"/>
              <a:ext cx="5143500" cy="381000"/>
            </a:xfrm>
            <a:prstGeom prst="roundRect">
              <a:avLst>
                <a:gd name="adj" fmla="val 1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95350" y="142875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51953" y="1482566"/>
              <a:ext cx="772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32535" y="1450181"/>
              <a:ext cx="1475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学生端：AI 智能辅导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952500" y="1905000"/>
              <a:ext cx="2286000" cy="650557"/>
              <a:chOff x="952500" y="1905000"/>
              <a:chExt cx="2286000" cy="650557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952500" y="1905000"/>
                <a:ext cx="2286000" cy="619125"/>
              </a:xfrm>
              <a:prstGeom prst="roundRect">
                <a:avLst>
                  <a:gd name="adj" fmla="val 6154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42416" y="2001202"/>
                <a:ext cx="120548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💬 AI 助教流式答疑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42988" y="2226945"/>
                <a:ext cx="157772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基于 RAG 知识库上下文感知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42988" y="2379345"/>
                <a:ext cx="102725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SSE 流式实时输出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3381375" y="1905000"/>
              <a:ext cx="2286000" cy="650557"/>
              <a:chOff x="3381375" y="1905000"/>
              <a:chExt cx="2286000" cy="650557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3381375" y="1905000"/>
                <a:ext cx="2286000" cy="619125"/>
              </a:xfrm>
              <a:prstGeom prst="roundRect">
                <a:avLst>
                  <a:gd name="adj" fmla="val 6154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471291" y="2001202"/>
                <a:ext cx="97398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🔍 OJ 智能诊断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471862" y="2226945"/>
                <a:ext cx="97878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错误代码自动分析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471862" y="2379345"/>
                <a:ext cx="99588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Trace 可视化回放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952500" y="2714625"/>
              <a:ext cx="2286000" cy="650557"/>
              <a:chOff x="952500" y="2714625"/>
              <a:chExt cx="2286000" cy="650557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952500" y="2714625"/>
                <a:ext cx="2286000" cy="619125"/>
              </a:xfrm>
              <a:prstGeom prst="roundRect">
                <a:avLst>
                  <a:gd name="adj" fmla="val 6154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042416" y="2810828"/>
                <a:ext cx="83757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📊 掌握度评估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042988" y="3036570"/>
                <a:ext cx="108090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MasteryEvalAgent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042988" y="3188970"/>
                <a:ext cx="122110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基于学习事件数据分析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3381375" y="2714625"/>
              <a:ext cx="2286000" cy="650557"/>
              <a:chOff x="3381375" y="2714625"/>
              <a:chExt cx="2286000" cy="650557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3381375" y="2714625"/>
                <a:ext cx="2286000" cy="619125"/>
              </a:xfrm>
              <a:prstGeom prst="roundRect">
                <a:avLst>
                  <a:gd name="adj" fmla="val 6154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3471291" y="2810828"/>
                <a:ext cx="97892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📝 个性化错题本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471862" y="3036570"/>
                <a:ext cx="89283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WeakPoint 标注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471862" y="3188970"/>
                <a:ext cx="85763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针对性巩固练习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6286500" y="1333500"/>
            <a:ext cx="5143500" cy="3619500"/>
            <a:chOff x="6286500" y="1333500"/>
            <a:chExt cx="5143500" cy="3619500"/>
          </a:xfrm>
        </p:grpSpPr>
        <p:sp>
          <p:nvSpPr>
            <p:cNvPr id="32" name="Rectangle 32"/>
            <p:cNvSpPr/>
            <p:nvPr/>
          </p:nvSpPr>
          <p:spPr>
            <a:xfrm>
              <a:off x="6286500" y="1333500"/>
              <a:ext cx="5143500" cy="3619500"/>
            </a:xfrm>
            <a:prstGeom prst="roundRect">
              <a:avLst>
                <a:gd name="adj" fmla="val 1579"/>
              </a:avLst>
            </a:prstGeom>
            <a:solidFill>
              <a:srgbClr val="FFFFFF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86500" y="1333500"/>
              <a:ext cx="5143500" cy="381000"/>
            </a:xfrm>
            <a:prstGeom prst="roundRect">
              <a:avLst>
                <a:gd name="adj" fmla="val 15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6419850" y="1428750"/>
              <a:ext cx="190500" cy="190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76453" y="1482566"/>
              <a:ext cx="772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57035" y="1450181"/>
              <a:ext cx="152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教师端：全面学情看板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6477000" y="1905000"/>
              <a:ext cx="2286000" cy="650557"/>
              <a:chOff x="6477000" y="1905000"/>
              <a:chExt cx="2286000" cy="650557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6477000" y="1905000"/>
                <a:ext cx="2286000" cy="619125"/>
              </a:xfrm>
              <a:prstGeom prst="roundRect">
                <a:avLst>
                  <a:gd name="adj" fmla="val 6154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566916" y="2001202"/>
                <a:ext cx="97892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🔥 掌握度热力图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567488" y="2226945"/>
                <a:ext cx="122110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班级整体学情一目了然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567488" y="2379345"/>
                <a:ext cx="109994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颜色标注薄弱知识点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8905875" y="1905000"/>
              <a:ext cx="2286000" cy="650557"/>
              <a:chOff x="8905875" y="1905000"/>
              <a:chExt cx="2286000" cy="650557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8905875" y="1905000"/>
                <a:ext cx="2286000" cy="619125"/>
              </a:xfrm>
              <a:prstGeom prst="roundRect">
                <a:avLst>
                  <a:gd name="adj" fmla="val 6154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8995791" y="2001202"/>
                <a:ext cx="83757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📋 学生花名册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996362" y="2226945"/>
                <a:ext cx="109994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逐个查看学生薄弱点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996362" y="2379345"/>
                <a:ext cx="85763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针对性辅导参考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6477000" y="2714625"/>
              <a:ext cx="2286000" cy="650557"/>
              <a:chOff x="6477000" y="2714625"/>
              <a:chExt cx="2286000" cy="650557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6477000" y="2714625"/>
                <a:ext cx="2286000" cy="619125"/>
              </a:xfrm>
              <a:prstGeom prst="roundRect">
                <a:avLst>
                  <a:gd name="adj" fmla="val 6154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6566916" y="2810828"/>
                <a:ext cx="97398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📊 OJ 学情分析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567488" y="3036570"/>
                <a:ext cx="127688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全班 OJ 完成情况统计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567488" y="3188970"/>
                <a:ext cx="99696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通过率 / 错误分布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8905875" y="2714625"/>
              <a:ext cx="2286000" cy="650557"/>
              <a:chOff x="8905875" y="2714625"/>
              <a:chExt cx="2286000" cy="650557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8905875" y="2714625"/>
                <a:ext cx="2286000" cy="619125"/>
              </a:xfrm>
              <a:prstGeom prst="roundRect">
                <a:avLst>
                  <a:gd name="adj" fmla="val 6154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8995791" y="2810828"/>
                <a:ext cx="97892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📈 学习事件追踪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996362" y="3036570"/>
                <a:ext cx="109994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学习行为记录与分析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996362" y="3188970"/>
                <a:ext cx="96061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7 表外键关联数据</a:t>
                </a: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762000" y="5238750"/>
            <a:ext cx="10668000" cy="419100"/>
            <a:chOff x="762000" y="5238750"/>
            <a:chExt cx="10668000" cy="419100"/>
          </a:xfrm>
        </p:grpSpPr>
        <p:sp>
          <p:nvSpPr>
            <p:cNvPr id="58" name="Rectangle 58"/>
            <p:cNvSpPr/>
            <p:nvPr/>
          </p:nvSpPr>
          <p:spPr>
            <a:xfrm>
              <a:off x="762000" y="5238750"/>
              <a:ext cx="10668000" cy="419100"/>
            </a:xfrm>
            <a:prstGeom prst="roundRect">
              <a:avLst>
                <a:gd name="adj" fmla="val 13636"/>
              </a:avLst>
            </a:prstGeom>
            <a:noFill/>
            <a:ln w="9525">
              <a:solidFill>
                <a:schemeClr val="accent2"/>
              </a:solidFill>
              <a:custDash>
                <a:ds d="400000" sp="300000"/>
              </a:custDash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2813773" y="5382578"/>
              <a:ext cx="6564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✦ AiTutorAgent + TeacherDashboardAgent + MasteryEvalAgent + LearningEventAgent 四引擎驱动</a:t>
              </a:r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15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7238" y="283845"/>
            <a:ext cx="229461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05 · SAFETY &amp; INNOVATION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1332" y="582930"/>
            <a:ext cx="493501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如何让 AI 不说胡话？三重防幻觉防线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952500"/>
            <a:ext cx="4476750" cy="9525"/>
          </a:xfrm>
          <a:custGeom>
            <a:avLst/>
            <a:gdLst/>
            <a:ahLst/>
            <a:cxnLst/>
            <a:rect l="l" t="t" r="r" b="b"/>
            <a:pathLst>
              <a:path w="4476750" h="9525">
                <a:moveTo>
                  <a:pt x="0" y="0"/>
                </a:moveTo>
                <a:lnTo>
                  <a:pt x="447675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14" name="Group 14"/>
          <p:cNvGrpSpPr/>
          <p:nvPr/>
        </p:nvGrpSpPr>
        <p:grpSpPr>
          <a:xfrm>
            <a:off x="4095750" y="1809750"/>
            <a:ext cx="4000500" cy="4000500"/>
            <a:chOff x="4095750" y="1809750"/>
            <a:chExt cx="4000500" cy="4000500"/>
          </a:xfrm>
        </p:grpSpPr>
        <p:sp>
          <p:nvSpPr>
            <p:cNvPr id="6" name="Ellipse 6"/>
            <p:cNvSpPr/>
            <p:nvPr/>
          </p:nvSpPr>
          <p:spPr>
            <a:xfrm>
              <a:off x="4095750" y="1809750"/>
              <a:ext cx="4000500" cy="4000500"/>
            </a:xfrm>
            <a:prstGeom prst="ellipse">
              <a:avLst/>
            </a:pr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4714875" y="2428875"/>
              <a:ext cx="2762250" cy="276225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0" y="3048000"/>
              <a:ext cx="1524000" cy="1524000"/>
            </a:xfrm>
            <a:prstGeom prst="ellipse">
              <a:avLst/>
            </a:pr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5715000" y="3429000"/>
              <a:ext cx="762000" cy="76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42247" y="3744278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安全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78640" y="32204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Inter"/>
                  <a:ea typeface="Microsoft YaHei"/>
                  <a:cs typeface="Inter"/>
                </a:rPr>
                <a:t>第一层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878765" y="269652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第二层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97890" y="20774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第三层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2000" y="1333500"/>
            <a:ext cx="3238500" cy="3048000"/>
            <a:chOff x="762000" y="1333500"/>
            <a:chExt cx="3238500" cy="3048000"/>
          </a:xfrm>
        </p:grpSpPr>
        <p:sp>
          <p:nvSpPr>
            <p:cNvPr id="15" name="Rectangle 15"/>
            <p:cNvSpPr/>
            <p:nvPr/>
          </p:nvSpPr>
          <p:spPr>
            <a:xfrm>
              <a:off x="762000" y="1333500"/>
              <a:ext cx="3238500" cy="3048000"/>
            </a:xfrm>
            <a:prstGeom prst="roundRect">
              <a:avLst>
                <a:gd name="adj" fmla="val 1875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2000" y="1333500"/>
              <a:ext cx="3238500" cy="400050"/>
            </a:xfrm>
            <a:prstGeom prst="roundRect">
              <a:avLst>
                <a:gd name="adj" fmla="val 14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876300" y="1419225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7747" y="1475899"/>
              <a:ext cx="857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13485" y="1459706"/>
              <a:ext cx="9635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RAG 知识约束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947166" y="1791652"/>
              <a:ext cx="2862834" cy="1922812"/>
              <a:chOff x="947166" y="1791652"/>
              <a:chExt cx="2862834" cy="1922812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947166" y="1791652"/>
                <a:ext cx="11254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Okapi BM25 检索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47547" y="2037874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检索课程知识库切片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47547" y="2256949"/>
                <a:ext cx="118178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约束 LLM 生成范围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47547" y="2476024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同义词扩展增强召回</a:t>
                </a:r>
              </a:p>
            </p:txBody>
          </p:sp>
          <p:sp>
            <p:nvSpPr>
              <p:cNvPr id="24" name="Line 24"/>
              <p:cNvSpPr/>
              <p:nvPr/>
            </p:nvSpPr>
            <p:spPr>
              <a:xfrm>
                <a:off x="952500" y="2762250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47166" y="2839402"/>
                <a:ext cx="116371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课程级 Markdown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47547" y="3085624"/>
                <a:ext cx="137495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14 章 + 6 实验 + 2 项目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47547" y="3304699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结构化切片存储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47547" y="3523774"/>
                <a:ext cx="7974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加权打分排序</a:t>
                </a:r>
              </a:p>
            </p:txBody>
          </p:sp>
        </p:grpSp>
      </p:grpSp>
      <p:grpSp>
        <p:nvGrpSpPr>
          <p:cNvPr id="48" name="Group 48"/>
          <p:cNvGrpSpPr/>
          <p:nvPr/>
        </p:nvGrpSpPr>
        <p:grpSpPr>
          <a:xfrm>
            <a:off x="4286250" y="1333500"/>
            <a:ext cx="3238500" cy="3048000"/>
            <a:chOff x="4286250" y="1333500"/>
            <a:chExt cx="3238500" cy="3048000"/>
          </a:xfrm>
        </p:grpSpPr>
        <p:sp>
          <p:nvSpPr>
            <p:cNvPr id="31" name="Rectangle 31"/>
            <p:cNvSpPr/>
            <p:nvPr/>
          </p:nvSpPr>
          <p:spPr>
            <a:xfrm>
              <a:off x="4286250" y="1333500"/>
              <a:ext cx="3238500" cy="3048000"/>
            </a:xfrm>
            <a:prstGeom prst="roundRect">
              <a:avLst>
                <a:gd name="adj" fmla="val 1875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286250" y="1333500"/>
              <a:ext cx="3238500" cy="400050"/>
            </a:xfrm>
            <a:prstGeom prst="roundRect">
              <a:avLst>
                <a:gd name="adj" fmla="val 14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4400550" y="1419225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471997" y="1475899"/>
              <a:ext cx="857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37735" y="145970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校验闭环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4471416" y="1791652"/>
              <a:ext cx="2862834" cy="2389537"/>
              <a:chOff x="4471416" y="1791652"/>
              <a:chExt cx="2862834" cy="2389537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4471416" y="1791652"/>
                <a:ext cx="150745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ContentVerifierAgent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471797" y="2037874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对照知识库校验内容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471797" y="2256949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检测事实性错误</a:t>
                </a:r>
              </a:p>
            </p:txBody>
          </p:sp>
          <p:sp>
            <p:nvSpPr>
              <p:cNvPr id="39" name="Line 39"/>
              <p:cNvSpPr/>
              <p:nvPr/>
            </p:nvSpPr>
            <p:spPr>
              <a:xfrm>
                <a:off x="4476750" y="2571750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4471416" y="266795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有限重试机制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471797" y="2914174"/>
                <a:ext cx="10599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校验失败自动回流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471797" y="3133249"/>
                <a:ext cx="10599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携带校验反馈重试</a:t>
                </a:r>
              </a:p>
            </p:txBody>
          </p:sp>
          <p:sp>
            <p:nvSpPr>
              <p:cNvPr id="43" name="Line 43"/>
              <p:cNvSpPr/>
              <p:nvPr/>
            </p:nvSpPr>
            <p:spPr>
              <a:xfrm>
                <a:off x="4476750" y="3429000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4471416" y="352520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结构化输出校验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4471797" y="3771424"/>
                <a:ext cx="136614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Pydantic Schema 验证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471797" y="3990499"/>
                <a:ext cx="113213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格式/类型自动校验</a:t>
                </a: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7810500" y="1333500"/>
            <a:ext cx="3238500" cy="3048000"/>
            <a:chOff x="7810500" y="1333500"/>
            <a:chExt cx="3238500" cy="3048000"/>
          </a:xfrm>
        </p:grpSpPr>
        <p:sp>
          <p:nvSpPr>
            <p:cNvPr id="49" name="Rectangle 49"/>
            <p:cNvSpPr/>
            <p:nvPr/>
          </p:nvSpPr>
          <p:spPr>
            <a:xfrm>
              <a:off x="7810500" y="1333500"/>
              <a:ext cx="3238500" cy="3048000"/>
            </a:xfrm>
            <a:prstGeom prst="roundRect">
              <a:avLst>
                <a:gd name="adj" fmla="val 1875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810500" y="1333500"/>
              <a:ext cx="3238500" cy="400050"/>
            </a:xfrm>
            <a:prstGeom prst="roundRect">
              <a:avLst>
                <a:gd name="adj" fmla="val 14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7924800" y="1419225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996247" y="1475899"/>
              <a:ext cx="857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61985" y="145970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内容安全审查</a:t>
              </a:r>
            </a:p>
          </p:txBody>
        </p:sp>
        <p:grpSp>
          <p:nvGrpSpPr>
            <p:cNvPr id="66" name="Group 66"/>
            <p:cNvGrpSpPr/>
            <p:nvPr/>
          </p:nvGrpSpPr>
          <p:grpSpPr>
            <a:xfrm>
              <a:off x="7995666" y="1791652"/>
              <a:ext cx="2862834" cy="2580037"/>
              <a:chOff x="7995666" y="1791652"/>
              <a:chExt cx="2862834" cy="2580037"/>
            </a:xfrm>
          </p:grpSpPr>
          <p:sp>
            <p:nvSpPr>
              <p:cNvPr id="54" name="TextBox 54"/>
              <p:cNvSpPr txBox="1"/>
              <p:nvPr/>
            </p:nvSpPr>
            <p:spPr>
              <a:xfrm>
                <a:off x="7995666" y="1791652"/>
                <a:ext cx="87464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SafetyAgent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996047" y="2037874"/>
                <a:ext cx="66617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敏感词检测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7996047" y="2256949"/>
                <a:ext cx="7974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幻觉题号识别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996047" y="2476024"/>
                <a:ext cx="104334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Prompt 注入防护</a:t>
                </a:r>
              </a:p>
            </p:txBody>
          </p:sp>
          <p:sp>
            <p:nvSpPr>
              <p:cNvPr id="58" name="Line 58"/>
              <p:cNvSpPr/>
              <p:nvPr/>
            </p:nvSpPr>
            <p:spPr>
              <a:xfrm>
                <a:off x="8001000" y="2762250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7995666" y="285845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内容输出安全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996047" y="3104674"/>
                <a:ext cx="10599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输出内容截断保护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7996047" y="3323749"/>
                <a:ext cx="7974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敏感内容过滤</a:t>
                </a:r>
              </a:p>
            </p:txBody>
          </p:sp>
          <p:sp>
            <p:nvSpPr>
              <p:cNvPr id="62" name="Line 62"/>
              <p:cNvSpPr/>
              <p:nvPr/>
            </p:nvSpPr>
            <p:spPr>
              <a:xfrm>
                <a:off x="8001000" y="3619500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7995666" y="3715702"/>
                <a:ext cx="89931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C++ 安全拦截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7996047" y="3961924"/>
                <a:ext cx="127651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check_cpp_security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996047" y="4180999"/>
                <a:ext cx="149308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system/fork/exec 拦截</a:t>
                </a:r>
              </a:p>
            </p:txBody>
          </p:sp>
        </p:grpSp>
      </p:grpSp>
      <p:sp>
        <p:nvSpPr>
          <p:cNvPr id="68" name="TextBox 68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16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857500"/>
          </a:xfrm>
          <a:prstGeom prst="rect">
            <a:avLst/>
          </a:prstGeom>
          <a:gradFill>
            <a:gsLst>
              <a:gs pos="0">
                <a:schemeClr val="accent1">
                  <a:alpha val="3000"/>
                </a:schemeClr>
              </a:gs>
              <a:gs pos="100000">
                <a:schemeClr val="lt1">
                  <a:alpha val="0"/>
                </a:schemeClr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-190500" y="-476250"/>
            <a:ext cx="12858750" cy="7905750"/>
            <a:chOff x="-190500" y="-476250"/>
            <a:chExt cx="12858750" cy="7905750"/>
          </a:xfrm>
        </p:grpSpPr>
        <p:sp>
          <p:nvSpPr>
            <p:cNvPr id="4" name="Ellipse 4"/>
            <p:cNvSpPr/>
            <p:nvPr/>
          </p:nvSpPr>
          <p:spPr>
            <a:xfrm>
              <a:off x="10191750" y="-476250"/>
              <a:ext cx="2476500" cy="2476500"/>
            </a:xfrm>
            <a:prstGeom prst="ellipse">
              <a:avLst/>
            </a:prstGeom>
            <a:solidFill>
              <a:schemeClr val="accent2">
                <a:alpha val="3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0500" y="5524500"/>
              <a:ext cx="1905000" cy="1905000"/>
            </a:xfrm>
            <a:prstGeom prst="ellipse">
              <a:avLst/>
            </a:prstGeom>
            <a:solidFill>
              <a:schemeClr val="accent1">
                <a:alpha val="3000"/>
              </a:schemeClr>
            </a:solidFill>
            <a:ln>
              <a:noFill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757238" y="283845"/>
            <a:ext cx="229461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05 · SAFETY &amp; INNOVATION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1332" y="582930"/>
            <a:ext cx="313105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从代码到内容，层层设防</a:t>
            </a:r>
          </a:p>
        </p:txBody>
      </p:sp>
      <p:sp>
        <p:nvSpPr>
          <p:cNvPr id="9" name="Line 9"/>
          <p:cNvSpPr/>
          <p:nvPr/>
        </p:nvSpPr>
        <p:spPr>
          <a:xfrm>
            <a:off x="762000" y="9525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19" name="Group 19"/>
          <p:cNvGrpSpPr/>
          <p:nvPr/>
        </p:nvGrpSpPr>
        <p:grpSpPr>
          <a:xfrm>
            <a:off x="762000" y="1238250"/>
            <a:ext cx="3286125" cy="1238250"/>
            <a:chOff x="762000" y="1238250"/>
            <a:chExt cx="3286125" cy="1238250"/>
          </a:xfrm>
        </p:grpSpPr>
        <p:sp>
          <p:nvSpPr>
            <p:cNvPr id="10" name="Rectangle 10"/>
            <p:cNvSpPr/>
            <p:nvPr/>
          </p:nvSpPr>
          <p:spPr>
            <a:xfrm>
              <a:off x="762000" y="1238250"/>
              <a:ext cx="3286125" cy="12382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238250"/>
              <a:ext cx="57150" cy="1238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3524250" y="1381125"/>
              <a:ext cx="333375" cy="333375"/>
              <a:chOff x="3524250" y="1381125"/>
              <a:chExt cx="333375" cy="33337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524250" y="1381125"/>
                <a:ext cx="333375" cy="333375"/>
              </a:xfrm>
              <a:prstGeom prst="roundRect">
                <a:avLst>
                  <a:gd name="adj" fmla="val 11429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540142" y="1470660"/>
                <a:ext cx="2920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>
                        <a:alphaMod val="10000"/>
                      </a:srgbClr>
                    </a:solidFill>
                    <a:latin typeface="Inter"/>
                    <a:ea typeface="Inter"/>
                    <a:cs typeface="Inter"/>
                  </a:rPr>
                  <a:t>&lt;/&gt;</a:t>
                </a:r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984504" y="1413510"/>
              <a:ext cx="1172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🔍 AST 静态审计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5647" y="1685449"/>
              <a:ext cx="11519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Inter"/>
                  <a:ea typeface="Inter"/>
                  <a:cs typeface="Inter"/>
                </a:rPr>
                <a:t>ASTAnalyzerAgent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5647" y="1894999"/>
              <a:ext cx="13224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识别死循环、数组越界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5647" y="2085499"/>
              <a:ext cx="15849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执行前熔断，防止资源耗尽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381500" y="1238250"/>
            <a:ext cx="3286125" cy="1238250"/>
            <a:chOff x="4381500" y="1238250"/>
            <a:chExt cx="3286125" cy="1238250"/>
          </a:xfrm>
        </p:grpSpPr>
        <p:sp>
          <p:nvSpPr>
            <p:cNvPr id="20" name="Rectangle 20"/>
            <p:cNvSpPr/>
            <p:nvPr/>
          </p:nvSpPr>
          <p:spPr>
            <a:xfrm>
              <a:off x="4381500" y="1238250"/>
              <a:ext cx="3286125" cy="12382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381500" y="1238250"/>
              <a:ext cx="57150" cy="1238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143750" y="1381125"/>
              <a:ext cx="333375" cy="333375"/>
              <a:chOff x="7143750" y="1381125"/>
              <a:chExt cx="333375" cy="33337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143750" y="1381125"/>
                <a:ext cx="333375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333375">
                    <a:moveTo>
                      <a:pt x="95250" y="0"/>
                    </a:moveTo>
                    <a:lnTo>
                      <a:pt x="238125" y="0"/>
                    </a:lnTo>
                    <a:lnTo>
                      <a:pt x="333375" y="95250"/>
                    </a:lnTo>
                    <a:lnTo>
                      <a:pt x="238125" y="333375"/>
                    </a:lnTo>
                    <a:lnTo>
                      <a:pt x="95250" y="333375"/>
                    </a:lnTo>
                    <a:lnTo>
                      <a:pt x="0" y="238125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2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259526" y="148685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>
                        <a:alphaMod val="10000"/>
                      </a:srgbClr>
                    </a:solidFill>
                    <a:latin typeface="Inter"/>
                    <a:ea typeface="Inter"/>
                    <a:cs typeface="Inter"/>
                  </a:rPr>
                  <a:t>✓</a:t>
                </a:r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4604004" y="1413510"/>
              <a:ext cx="12667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🛡️ C++ 安全拦截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05147" y="1685449"/>
              <a:ext cx="15783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check_cpp_security 正则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05147" y="1894999"/>
              <a:ext cx="20837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拦截 system() / fork() / exec()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05147" y="2085499"/>
              <a:ext cx="10599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防止危险系统调用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001000" y="1238250"/>
            <a:ext cx="3286125" cy="1238250"/>
            <a:chOff x="8001000" y="1238250"/>
            <a:chExt cx="3286125" cy="1238250"/>
          </a:xfrm>
        </p:grpSpPr>
        <p:sp>
          <p:nvSpPr>
            <p:cNvPr id="30" name="Rectangle 30"/>
            <p:cNvSpPr/>
            <p:nvPr/>
          </p:nvSpPr>
          <p:spPr>
            <a:xfrm>
              <a:off x="8001000" y="1238250"/>
              <a:ext cx="3286125" cy="12382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001000" y="1238250"/>
              <a:ext cx="57150" cy="1238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10763250" y="1381125"/>
              <a:ext cx="323850" cy="323850"/>
              <a:chOff x="10763250" y="1381125"/>
              <a:chExt cx="323850" cy="323850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10763250" y="1381125"/>
                <a:ext cx="323850" cy="323850"/>
              </a:xfrm>
              <a:prstGeom prst="ellipse">
                <a:avLst/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825787" y="14611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>
                        <a:alphaMod val="10000"/>
                      </a:srgbClr>
                    </a:solidFill>
                    <a:latin typeface="Inter"/>
                    <a:ea typeface="Inter"/>
                    <a:cs typeface="Inter"/>
                  </a:rPr>
                  <a:t>3s</a:t>
                </a:r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8223504" y="1413510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⏱️ 子进程超时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24647" y="1685449"/>
              <a:ext cx="14342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Python 判题 3 秒硬上限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24647" y="1894999"/>
              <a:ext cx="13271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C++ Trace 3 秒硬上限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24647" y="2085499"/>
              <a:ext cx="1667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TLE 自动返回，不阻塞系统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62000" y="2667000"/>
            <a:ext cx="3286125" cy="1238250"/>
            <a:chOff x="762000" y="2667000"/>
            <a:chExt cx="3286125" cy="1238250"/>
          </a:xfrm>
        </p:grpSpPr>
        <p:sp>
          <p:nvSpPr>
            <p:cNvPr id="40" name="Rectangle 40"/>
            <p:cNvSpPr/>
            <p:nvPr/>
          </p:nvSpPr>
          <p:spPr>
            <a:xfrm>
              <a:off x="762000" y="2667000"/>
              <a:ext cx="3286125" cy="12382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2000" y="2667000"/>
              <a:ext cx="57150" cy="1238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3571875" y="2809875"/>
              <a:ext cx="238125" cy="333375"/>
              <a:chOff x="3571875" y="2809875"/>
              <a:chExt cx="238125" cy="333375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3571875" y="2809875"/>
                <a:ext cx="238125" cy="333375"/>
              </a:xfrm>
              <a:prstGeom prst="roundRect">
                <a:avLst>
                  <a:gd name="adj" fmla="val 8000"/>
                </a:avLst>
              </a:prstGeom>
              <a:solidFill>
                <a:schemeClr val="accent2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3686175" y="2905125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19050">
                <a:solidFill>
                  <a:srgbClr val="FFFFFF">
                    <a:alpha val="10000"/>
                  </a:srgbClr>
                </a:solidFill>
              </a:ln>
            </p:spPr>
          </p:sp>
          <p:sp>
            <p:nvSpPr>
              <p:cNvPr id="44" name="Line 44"/>
              <p:cNvSpPr/>
              <p:nvPr/>
            </p:nvSpPr>
            <p:spPr>
              <a:xfrm>
                <a:off x="3619500" y="297180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FFFFFF">
                    <a:alpha val="10000"/>
                  </a:srgbClr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984504" y="2842260"/>
              <a:ext cx="12076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✂️ 输出截断保护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85647" y="3114199"/>
              <a:ext cx="7974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防止无限输出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5647" y="3323749"/>
              <a:ext cx="10599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控制输出长度上限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4381500" y="2667000"/>
            <a:ext cx="3286125" cy="1238250"/>
            <a:chOff x="4381500" y="2667000"/>
            <a:chExt cx="3286125" cy="1238250"/>
          </a:xfrm>
        </p:grpSpPr>
        <p:sp>
          <p:nvSpPr>
            <p:cNvPr id="50" name="Rectangle 50"/>
            <p:cNvSpPr/>
            <p:nvPr/>
          </p:nvSpPr>
          <p:spPr>
            <a:xfrm>
              <a:off x="4381500" y="2667000"/>
              <a:ext cx="3286125" cy="12382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4381500" y="2667000"/>
              <a:ext cx="57150" cy="1238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153275" y="2819400"/>
              <a:ext cx="304800" cy="304800"/>
              <a:chOff x="7153275" y="2819400"/>
              <a:chExt cx="304800" cy="304800"/>
            </a:xfrm>
          </p:grpSpPr>
          <p:sp>
            <p:nvSpPr>
              <p:cNvPr id="52" name="Ellipse 52"/>
              <p:cNvSpPr/>
              <p:nvPr/>
            </p:nvSpPr>
            <p:spPr>
              <a:xfrm>
                <a:off x="7153275" y="2819400"/>
                <a:ext cx="304800" cy="304800"/>
              </a:xfrm>
              <a:prstGeom prst="ellipse">
                <a:avLst/>
              </a:prstGeom>
              <a:noFill/>
              <a:ln w="19050">
                <a:solidFill>
                  <a:schemeClr val="accent1">
                    <a:alpha val="10000"/>
                  </a:schemeClr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278078" y="2906078"/>
                <a:ext cx="5519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accent1">
                        <a:alphaMod val="10000"/>
                      </a:schemeClr>
                    </a:solidFill>
                    <a:latin typeface="Inter"/>
                    <a:ea typeface="Inter"/>
                    <a:cs typeface="Inter"/>
                  </a:rPr>
                  <a:t>!</a:t>
                </a:r>
              </a:p>
            </p:txBody>
          </p:sp>
        </p:grpSp>
        <p:sp>
          <p:nvSpPr>
            <p:cNvPr id="55" name="TextBox 55"/>
            <p:cNvSpPr txBox="1"/>
            <p:nvPr/>
          </p:nvSpPr>
          <p:spPr>
            <a:xfrm>
              <a:off x="4604004" y="2842260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🚫 内容安全检测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605147" y="3114199"/>
              <a:ext cx="10796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敏感词 / 幻觉检测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605147" y="3323749"/>
              <a:ext cx="11911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题目编号真实性校验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001000" y="2667000"/>
            <a:ext cx="3286125" cy="1238250"/>
            <a:chOff x="8001000" y="2667000"/>
            <a:chExt cx="3286125" cy="1238250"/>
          </a:xfrm>
        </p:grpSpPr>
        <p:sp>
          <p:nvSpPr>
            <p:cNvPr id="59" name="Rectangle 59"/>
            <p:cNvSpPr/>
            <p:nvPr/>
          </p:nvSpPr>
          <p:spPr>
            <a:xfrm>
              <a:off x="8001000" y="2667000"/>
              <a:ext cx="3286125" cy="12382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8001000" y="2667000"/>
              <a:ext cx="57150" cy="1238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10791825" y="2838450"/>
              <a:ext cx="266700" cy="266700"/>
              <a:chOff x="10791825" y="2838450"/>
              <a:chExt cx="266700" cy="26670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10791825" y="2838450"/>
                <a:ext cx="266700" cy="266700"/>
              </a:xfrm>
              <a:prstGeom prst="roundRect">
                <a:avLst>
                  <a:gd name="adj" fmla="val 14286"/>
                </a:avLst>
              </a:prstGeom>
              <a:noFill/>
              <a:ln w="19050">
                <a:solidFill>
                  <a:schemeClr val="accent2">
                    <a:alpha val="10000"/>
                  </a:schemeClr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10877550" y="29241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95250"/>
                    </a:lnTo>
                    <a:moveTo>
                      <a:pt x="9525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chemeClr val="accent2">
                    <a:alpha val="10000"/>
                  </a:schemeClr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8223504" y="2842260"/>
              <a:ext cx="10965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🔐 Prompt 防护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224647" y="3114199"/>
              <a:ext cx="10433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Prompt 注入检测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224647" y="3323749"/>
              <a:ext cx="10599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防止恶意指令绕过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62000" y="4191000"/>
            <a:ext cx="10668000" cy="619125"/>
            <a:chOff x="762000" y="4191000"/>
            <a:chExt cx="10668000" cy="619125"/>
          </a:xfrm>
        </p:grpSpPr>
        <p:sp>
          <p:nvSpPr>
            <p:cNvPr id="68" name="Rectangle 68"/>
            <p:cNvSpPr/>
            <p:nvPr/>
          </p:nvSpPr>
          <p:spPr>
            <a:xfrm>
              <a:off x="762000" y="4191000"/>
              <a:ext cx="10668000" cy="619125"/>
            </a:xfrm>
            <a:prstGeom prst="roundRect">
              <a:avLst>
                <a:gd name="adj" fmla="val 1230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238839" y="4336256"/>
              <a:ext cx="37143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六道安全防线 · 覆盖代码执行 + 内容生成 + 输出全链路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925348" y="4561999"/>
              <a:ext cx="43413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3"/>
                  </a:solidFill>
                  <a:latin typeface="Inter"/>
                  <a:ea typeface="Microsoft YaHei"/>
                  <a:cs typeface="Inter"/>
                </a:rPr>
                <a:t>大模型生成内容仍可能存在错误，重要学术内容应由学生或教师进一步复核</a:t>
              </a:r>
            </a:p>
          </p:txBody>
        </p:sp>
      </p:grpSp>
      <p:sp>
        <p:nvSpPr>
          <p:cNvPr id="72" name="Rectangle 72"/>
          <p:cNvSpPr/>
          <p:nvPr/>
        </p:nvSpPr>
        <p:spPr>
          <a:xfrm>
            <a:off x="762000" y="5143500"/>
            <a:ext cx="10668000" cy="9525"/>
          </a:xfrm>
          <a:prstGeom prst="rect">
            <a:avLst/>
          </a:prstGeom>
          <a:solidFill>
            <a:schemeClr val="accent1">
              <a:alpha val="6000"/>
            </a:schemeClr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17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7238" y="283845"/>
            <a:ext cx="14369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06 · INNOVATION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1332" y="582930"/>
            <a:ext cx="368046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零依赖的自研 DAG 编排引擎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952500"/>
            <a:ext cx="3524250" cy="9525"/>
          </a:xfrm>
          <a:custGeom>
            <a:avLst/>
            <a:gdLst/>
            <a:ahLst/>
            <a:cxnLst/>
            <a:rect l="l" t="t" r="r" b="b"/>
            <a:pathLst>
              <a:path w="3524250" h="9525">
                <a:moveTo>
                  <a:pt x="0" y="0"/>
                </a:moveTo>
                <a:lnTo>
                  <a:pt x="352425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40" name="Group 40"/>
          <p:cNvGrpSpPr/>
          <p:nvPr/>
        </p:nvGrpSpPr>
        <p:grpSpPr>
          <a:xfrm>
            <a:off x="762000" y="1333500"/>
            <a:ext cx="6096000" cy="3810000"/>
            <a:chOff x="762000" y="1333500"/>
            <a:chExt cx="6096000" cy="3810000"/>
          </a:xfrm>
        </p:grpSpPr>
        <p:sp>
          <p:nvSpPr>
            <p:cNvPr id="6" name="Rectangle 6"/>
            <p:cNvSpPr/>
            <p:nvPr/>
          </p:nvSpPr>
          <p:spPr>
            <a:xfrm>
              <a:off x="762000" y="1333500"/>
              <a:ext cx="6096000" cy="3810000"/>
            </a:xfrm>
            <a:prstGeom prst="roundRect">
              <a:avLst>
                <a:gd name="adj" fmla="val 15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333500"/>
              <a:ext cx="6096000" cy="381000"/>
            </a:xfrm>
            <a:prstGeom prst="roundRect">
              <a:avLst>
                <a:gd name="adj" fmla="val 1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6785" y="1450181"/>
              <a:ext cx="12230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自研编排器架构图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143000" y="2000250"/>
              <a:ext cx="4191000" cy="381000"/>
              <a:chOff x="1143000" y="2000250"/>
              <a:chExt cx="4191000" cy="3810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1143000" y="2000250"/>
                <a:ext cx="1143000" cy="381000"/>
              </a:xfrm>
              <a:prstGeom prst="roundRect">
                <a:avLst>
                  <a:gd name="adj" fmla="val 1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487060" y="2141220"/>
                <a:ext cx="45488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Pipeline</a:t>
                </a:r>
              </a:p>
            </p:txBody>
          </p:sp>
          <p:sp>
            <p:nvSpPr>
              <p:cNvPr id="11" name="Line 11"/>
              <p:cNvSpPr/>
              <p:nvPr/>
            </p:nvSpPr>
            <p:spPr>
              <a:xfrm>
                <a:off x="2286000" y="2190750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12" name="Polygon 12"/>
              <p:cNvSpPr/>
              <p:nvPr/>
            </p:nvSpPr>
            <p:spPr>
              <a:xfrm>
                <a:off x="2495550" y="2143125"/>
                <a:ext cx="762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0">
                    <a:moveTo>
                      <a:pt x="7620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2571750" y="2000250"/>
                <a:ext cx="1143000" cy="381000"/>
              </a:xfrm>
              <a:prstGeom prst="roundRect">
                <a:avLst>
                  <a:gd name="adj" fmla="val 1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2896172" y="2141220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/>
                    </a:solidFill>
                    <a:latin typeface="Inter"/>
                    <a:ea typeface="Microsoft YaHei"/>
                    <a:cs typeface="Inter"/>
                  </a:rPr>
                  <a:t>资源调度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3714750" y="2190750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14288">
                <a:solidFill>
                  <a:schemeClr val="accent2"/>
                </a:solidFill>
              </a:ln>
            </p:spPr>
          </p:sp>
          <p:sp>
            <p:nvSpPr>
              <p:cNvPr id="16" name="Polygon 16"/>
              <p:cNvSpPr/>
              <p:nvPr/>
            </p:nvSpPr>
            <p:spPr>
              <a:xfrm>
                <a:off x="3924300" y="2143125"/>
                <a:ext cx="762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0">
                    <a:moveTo>
                      <a:pt x="7620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4000500" y="2000250"/>
                <a:ext cx="1333500" cy="381000"/>
              </a:xfrm>
              <a:prstGeom prst="roundRect">
                <a:avLst>
                  <a:gd name="adj" fmla="val 1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4359592" y="2141220"/>
                <a:ext cx="61531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/>
                    </a:solidFill>
                    <a:latin typeface="Inter"/>
                    <a:ea typeface="Microsoft YaHei"/>
                    <a:cs typeface="Inter"/>
                  </a:rPr>
                  <a:t>并行执行器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524000" y="2667000"/>
              <a:ext cx="1143000" cy="1666875"/>
              <a:chOff x="1524000" y="2667000"/>
              <a:chExt cx="1143000" cy="1666875"/>
            </a:xfrm>
          </p:grpSpPr>
          <p:sp>
            <p:nvSpPr>
              <p:cNvPr id="20" name="Line 20"/>
              <p:cNvSpPr/>
              <p:nvPr/>
            </p:nvSpPr>
            <p:spPr>
              <a:xfrm>
                <a:off x="2095500" y="2667000"/>
                <a:ext cx="952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0">
                    <a:moveTo>
                      <a:pt x="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4288">
                <a:solidFill>
                  <a:schemeClr val="accent4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1714500" y="2952750"/>
                <a:ext cx="76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9525">
                    <a:moveTo>
                      <a:pt x="0" y="0"/>
                    </a:moveTo>
                    <a:lnTo>
                      <a:pt x="762000" y="0"/>
                    </a:lnTo>
                  </a:path>
                </a:pathLst>
              </a:custGeom>
              <a:noFill/>
              <a:ln w="14288">
                <a:solidFill>
                  <a:schemeClr val="accent4"/>
                </a:solidFill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1714500" y="2952750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14288">
                <a:solidFill>
                  <a:schemeClr val="accent4"/>
                </a:solidFill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2476500" y="2952750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14288">
                <a:solidFill>
                  <a:schemeClr val="accent4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1524000" y="3143250"/>
                <a:ext cx="381000" cy="523875"/>
              </a:xfrm>
              <a:prstGeom prst="roundRect">
                <a:avLst>
                  <a:gd name="adj" fmla="val 10000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608772" y="3271838"/>
                <a:ext cx="211455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串行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608772" y="3424238"/>
                <a:ext cx="211455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节点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2286000" y="3143250"/>
                <a:ext cx="381000" cy="523875"/>
              </a:xfrm>
              <a:prstGeom prst="roundRect">
                <a:avLst>
                  <a:gd name="adj" fmla="val 10000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2370772" y="3271838"/>
                <a:ext cx="211455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串行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370772" y="3424238"/>
                <a:ext cx="211455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节点</a:t>
                </a: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1714500" y="3667125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14288">
                <a:solidFill>
                  <a:schemeClr val="accent4"/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2476500" y="3667125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14288">
                <a:solidFill>
                  <a:schemeClr val="accent4"/>
                </a:solidFill>
              </a:ln>
            </p:spPr>
          </p:sp>
          <p:sp>
            <p:nvSpPr>
              <p:cNvPr id="32" name="Line 32"/>
              <p:cNvSpPr/>
              <p:nvPr/>
            </p:nvSpPr>
            <p:spPr>
              <a:xfrm>
                <a:off x="1714500" y="3857625"/>
                <a:ext cx="76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9525">
                    <a:moveTo>
                      <a:pt x="0" y="0"/>
                    </a:moveTo>
                    <a:lnTo>
                      <a:pt x="762000" y="0"/>
                    </a:lnTo>
                  </a:path>
                </a:pathLst>
              </a:custGeom>
              <a:noFill/>
              <a:ln w="14288">
                <a:solidFill>
                  <a:schemeClr val="accent4"/>
                </a:solidFill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2095500" y="3857625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14288">
                <a:solidFill>
                  <a:schemeClr val="accent4"/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1857375" y="4048125"/>
                <a:ext cx="476250" cy="285750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966841" y="4140041"/>
                <a:ext cx="257318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820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Done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1143000" y="4286250"/>
              <a:ext cx="5334000" cy="342900"/>
              <a:chOff x="1143000" y="4286250"/>
              <a:chExt cx="5334000" cy="3429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1143000" y="4286250"/>
                <a:ext cx="5334000" cy="342900"/>
              </a:xfrm>
              <a:prstGeom prst="roundRect">
                <a:avLst>
                  <a:gd name="adj" fmla="val 16667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2072488" y="4400074"/>
                <a:ext cx="347502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支持串行 / 并行 / 条件分支拓扑 · 188 测试验证编排正确性</a:t>
                </a:r>
              </a:p>
            </p:txBody>
          </p:sp>
        </p:grpSp>
      </p:grpSp>
      <p:grpSp>
        <p:nvGrpSpPr>
          <p:cNvPr id="48" name="Group 48"/>
          <p:cNvGrpSpPr/>
          <p:nvPr/>
        </p:nvGrpSpPr>
        <p:grpSpPr>
          <a:xfrm>
            <a:off x="7239000" y="1333500"/>
            <a:ext cx="4000500" cy="1047750"/>
            <a:chOff x="7239000" y="1333500"/>
            <a:chExt cx="4000500" cy="1047750"/>
          </a:xfrm>
        </p:grpSpPr>
        <p:sp>
          <p:nvSpPr>
            <p:cNvPr id="41" name="Rectangle 41"/>
            <p:cNvSpPr/>
            <p:nvPr/>
          </p:nvSpPr>
          <p:spPr>
            <a:xfrm>
              <a:off x="7239000" y="1333500"/>
              <a:ext cx="4000500" cy="104775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7315200" y="14097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389753" y="14744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✦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52385" y="1450181"/>
              <a:ext cx="12684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零 langgraph 依赖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24547" y="1752124"/>
              <a:ext cx="24022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借鉴状态图与 DAG 编排思想，自主实现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24547" y="1971199"/>
              <a:ext cx="17819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不依赖任何第三方 Agent 框架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24547" y="2161699"/>
              <a:ext cx="171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部署简单，无额外运行时依赖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239000" y="2571750"/>
            <a:ext cx="4000500" cy="1047750"/>
            <a:chOff x="7239000" y="2571750"/>
            <a:chExt cx="4000500" cy="1047750"/>
          </a:xfrm>
        </p:grpSpPr>
        <p:sp>
          <p:nvSpPr>
            <p:cNvPr id="49" name="Rectangle 49"/>
            <p:cNvSpPr/>
            <p:nvPr/>
          </p:nvSpPr>
          <p:spPr>
            <a:xfrm>
              <a:off x="7239000" y="2571750"/>
              <a:ext cx="4000500" cy="104775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7315200" y="264795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389753" y="271272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✦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52385" y="2688431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灵活拓扑编排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24547" y="2990374"/>
              <a:ext cx="18049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DAG 拓扑定义 Agent 依赖关系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24547" y="3209449"/>
              <a:ext cx="11911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四阶段并行资源生成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24547" y="3399949"/>
              <a:ext cx="17421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任务级调度精确到每个 Agent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7239000" y="3810000"/>
            <a:ext cx="4000500" cy="1047750"/>
            <a:chOff x="7239000" y="3810000"/>
            <a:chExt cx="4000500" cy="1047750"/>
          </a:xfrm>
        </p:grpSpPr>
        <p:sp>
          <p:nvSpPr>
            <p:cNvPr id="57" name="Rectangle 57"/>
            <p:cNvSpPr/>
            <p:nvPr/>
          </p:nvSpPr>
          <p:spPr>
            <a:xfrm>
              <a:off x="7239000" y="3810000"/>
              <a:ext cx="4000500" cy="1047750"/>
            </a:xfrm>
            <a:prstGeom prst="roundRect">
              <a:avLst>
                <a:gd name="adj" fmla="val 5455"/>
              </a:avLst>
            </a:prstGeom>
            <a:solidFill>
              <a:srgbClr val="E8F0FE"/>
            </a:solidFill>
            <a:ln w="14288">
              <a:solidFill>
                <a:schemeClr val="accent2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7315200" y="3886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389753" y="39509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✦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652385" y="3926681"/>
              <a:ext cx="9125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188 测试通过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424547" y="4228624"/>
              <a:ext cx="11911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涵盖编排器核心逻辑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424547" y="4447699"/>
              <a:ext cx="12112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Agent 调用链路测试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424547" y="4638199"/>
              <a:ext cx="9286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端到端流程验证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18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7238" y="283845"/>
            <a:ext cx="14369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06 · INNOVATION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1332" y="582930"/>
            <a:ext cx="456557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Python/C++ Trace 协议统一归一化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952500"/>
            <a:ext cx="4000500" cy="9525"/>
          </a:xfrm>
          <a:custGeom>
            <a:avLst/>
            <a:gdLst/>
            <a:ahLst/>
            <a:cxnLst/>
            <a:rect l="l" t="t" r="r" b="b"/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18" name="Group 18"/>
          <p:cNvGrpSpPr/>
          <p:nvPr/>
        </p:nvGrpSpPr>
        <p:grpSpPr>
          <a:xfrm>
            <a:off x="762000" y="1333500"/>
            <a:ext cx="4762500" cy="2857500"/>
            <a:chOff x="762000" y="1333500"/>
            <a:chExt cx="4762500" cy="2857500"/>
          </a:xfrm>
        </p:grpSpPr>
        <p:sp>
          <p:nvSpPr>
            <p:cNvPr id="6" name="Rectangle 6"/>
            <p:cNvSpPr/>
            <p:nvPr/>
          </p:nvSpPr>
          <p:spPr>
            <a:xfrm>
              <a:off x="762000" y="1333500"/>
              <a:ext cx="4762500" cy="28575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333500"/>
              <a:ext cx="4762500" cy="381000"/>
            </a:xfrm>
            <a:prstGeom prst="roundRect">
              <a:avLst>
                <a:gd name="adj" fmla="val 1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6785" y="1450181"/>
              <a:ext cx="14649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🐍 Python Trace 路径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047750" y="1905000"/>
              <a:ext cx="2714625" cy="428625"/>
              <a:chOff x="1047750" y="1905000"/>
              <a:chExt cx="2714625" cy="428625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1047750" y="1905000"/>
                <a:ext cx="1333500" cy="428625"/>
              </a:xfrm>
              <a:prstGeom prst="roundRect">
                <a:avLst>
                  <a:gd name="adj" fmla="val 888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507941" y="1998345"/>
                <a:ext cx="41311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Python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222915" y="2166938"/>
                <a:ext cx="983171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5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sys.settrace HOOK</a:t>
                </a:r>
              </a:p>
            </p:txBody>
          </p:sp>
          <p:sp>
            <p:nvSpPr>
              <p:cNvPr id="12" name="Line 12"/>
              <p:cNvSpPr/>
              <p:nvPr/>
            </p:nvSpPr>
            <p:spPr>
              <a:xfrm>
                <a:off x="2381250" y="2114550"/>
                <a:ext cx="238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9525">
                    <a:moveTo>
                      <a:pt x="0" y="0"/>
                    </a:moveTo>
                    <a:lnTo>
                      <a:pt x="238125" y="0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13" name="Polygon 13"/>
              <p:cNvSpPr/>
              <p:nvPr/>
            </p:nvSpPr>
            <p:spPr>
              <a:xfrm>
                <a:off x="2552700" y="2076450"/>
                <a:ext cx="666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85725">
                    <a:moveTo>
                      <a:pt x="66675" y="38100"/>
                    </a:moveTo>
                    <a:lnTo>
                      <a:pt x="0" y="0"/>
                    </a:lnTo>
                    <a:lnTo>
                      <a:pt x="0" y="8572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2619375" y="1905000"/>
                <a:ext cx="1143000" cy="428625"/>
              </a:xfrm>
              <a:prstGeom prst="roundRect">
                <a:avLst>
                  <a:gd name="adj" fmla="val 8889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2883218" y="1998345"/>
                <a:ext cx="61531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统一事件流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738723" y="2166938"/>
                <a:ext cx="904304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5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Normalized Events</a:t>
                </a:r>
              </a:p>
            </p:txBody>
          </p:sp>
        </p:grpSp>
      </p:grpSp>
      <p:grpSp>
        <p:nvGrpSpPr>
          <p:cNvPr id="36" name="Group 36"/>
          <p:cNvGrpSpPr/>
          <p:nvPr/>
        </p:nvGrpSpPr>
        <p:grpSpPr>
          <a:xfrm>
            <a:off x="762000" y="2190750"/>
            <a:ext cx="4762500" cy="2000250"/>
            <a:chOff x="762000" y="2190750"/>
            <a:chExt cx="4762500" cy="2000250"/>
          </a:xfrm>
        </p:grpSpPr>
        <p:sp>
          <p:nvSpPr>
            <p:cNvPr id="19" name="Rectangle 19"/>
            <p:cNvSpPr/>
            <p:nvPr/>
          </p:nvSpPr>
          <p:spPr>
            <a:xfrm>
              <a:off x="762000" y="2190750"/>
              <a:ext cx="4762500" cy="200025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62000" y="2190750"/>
              <a:ext cx="4762500" cy="381000"/>
            </a:xfrm>
            <a:prstGeom prst="roundRect">
              <a:avLst>
                <a:gd name="adj" fmla="val 15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6785" y="2307431"/>
              <a:ext cx="12227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⚡ C++ Trace 路径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1047750" y="2762250"/>
              <a:ext cx="4191000" cy="428625"/>
              <a:chOff x="1047750" y="2762250"/>
              <a:chExt cx="4191000" cy="428625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1047750" y="2762250"/>
                <a:ext cx="1333500" cy="428625"/>
              </a:xfrm>
              <a:prstGeom prst="roundRect">
                <a:avLst>
                  <a:gd name="adj" fmla="val 888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408900" y="2855595"/>
                <a:ext cx="61120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C++ (GDB)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427036" y="3024188"/>
                <a:ext cx="574929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GDB MI 单步</a:t>
                </a:r>
              </a:p>
            </p:txBody>
          </p:sp>
          <p:sp>
            <p:nvSpPr>
              <p:cNvPr id="25" name="Line 25"/>
              <p:cNvSpPr/>
              <p:nvPr/>
            </p:nvSpPr>
            <p:spPr>
              <a:xfrm>
                <a:off x="2381250" y="2971800"/>
                <a:ext cx="238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9525">
                    <a:moveTo>
                      <a:pt x="0" y="0"/>
                    </a:moveTo>
                    <a:lnTo>
                      <a:pt x="238125" y="0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26" name="Polygon 26"/>
              <p:cNvSpPr/>
              <p:nvPr/>
            </p:nvSpPr>
            <p:spPr>
              <a:xfrm>
                <a:off x="2552700" y="2933700"/>
                <a:ext cx="666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85725">
                    <a:moveTo>
                      <a:pt x="66675" y="38100"/>
                    </a:moveTo>
                    <a:lnTo>
                      <a:pt x="0" y="0"/>
                    </a:lnTo>
                    <a:lnTo>
                      <a:pt x="0" y="8572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2619375" y="2762250"/>
                <a:ext cx="1238250" cy="428625"/>
              </a:xfrm>
              <a:prstGeom prst="roundRect">
                <a:avLst>
                  <a:gd name="adj" fmla="val 8889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2852890" y="2855595"/>
                <a:ext cx="77122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STL 容器提取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829878" y="3024188"/>
                <a:ext cx="817245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5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gdb_stl_extract</a:t>
                </a: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3857625" y="2971800"/>
                <a:ext cx="238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9525">
                    <a:moveTo>
                      <a:pt x="0" y="0"/>
                    </a:moveTo>
                    <a:lnTo>
                      <a:pt x="238125" y="0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31" name="Polygon 31"/>
              <p:cNvSpPr/>
              <p:nvPr/>
            </p:nvSpPr>
            <p:spPr>
              <a:xfrm>
                <a:off x="4029075" y="2933700"/>
                <a:ext cx="666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85725">
                    <a:moveTo>
                      <a:pt x="66675" y="38100"/>
                    </a:moveTo>
                    <a:lnTo>
                      <a:pt x="0" y="0"/>
                    </a:lnTo>
                    <a:lnTo>
                      <a:pt x="0" y="8572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4095750" y="2762250"/>
                <a:ext cx="1143000" cy="428625"/>
              </a:xfrm>
              <a:prstGeom prst="roundRect">
                <a:avLst>
                  <a:gd name="adj" fmla="val 8889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359592" y="2855595"/>
                <a:ext cx="61531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统一事件流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215098" y="3024188"/>
                <a:ext cx="904304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50" dirty="0">
                    <a:solidFill>
                      <a:schemeClr val="dk2"/>
                    </a:solidFill>
                    <a:latin typeface="Inter"/>
                    <a:ea typeface="Inter"/>
                    <a:cs typeface="Inter"/>
                  </a:rPr>
                  <a:t>Normalized Events</a:t>
                </a: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5905500" y="1333500"/>
            <a:ext cx="5143500" cy="2857500"/>
            <a:chOff x="5905500" y="1333500"/>
            <a:chExt cx="5143500" cy="2857500"/>
          </a:xfrm>
        </p:grpSpPr>
        <p:sp>
          <p:nvSpPr>
            <p:cNvPr id="37" name="Rectangle 37"/>
            <p:cNvSpPr/>
            <p:nvPr/>
          </p:nvSpPr>
          <p:spPr>
            <a:xfrm>
              <a:off x="5905500" y="1333500"/>
              <a:ext cx="5143500" cy="28575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905500" y="1333500"/>
              <a:ext cx="5143500" cy="381000"/>
            </a:xfrm>
            <a:prstGeom prst="roundRect">
              <a:avLst>
                <a:gd name="adj" fmla="val 15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90285" y="1450181"/>
              <a:ext cx="20181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🎯 统一输出：13 类可视化类型</a:t>
              </a:r>
            </a:p>
          </p:txBody>
        </p:sp>
        <p:grpSp>
          <p:nvGrpSpPr>
            <p:cNvPr id="56" name="Group 56"/>
            <p:cNvGrpSpPr/>
            <p:nvPr/>
          </p:nvGrpSpPr>
          <p:grpSpPr>
            <a:xfrm>
              <a:off x="6096000" y="1905000"/>
              <a:ext cx="4667250" cy="1238250"/>
              <a:chOff x="6096000" y="1905000"/>
              <a:chExt cx="4667250" cy="12382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6096000" y="1905000"/>
                <a:ext cx="2286000" cy="266700"/>
              </a:xfrm>
              <a:prstGeom prst="roundRect">
                <a:avLst>
                  <a:gd name="adj" fmla="val 1428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186488" y="1996916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变量追踪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8477250" y="1905000"/>
                <a:ext cx="2286000" cy="266700"/>
              </a:xfrm>
              <a:prstGeom prst="roundRect">
                <a:avLst>
                  <a:gd name="adj" fmla="val 1428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8567738" y="1996916"/>
                <a:ext cx="342710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调用栈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6096000" y="2228850"/>
                <a:ext cx="2286000" cy="266700"/>
              </a:xfrm>
              <a:prstGeom prst="roundRect">
                <a:avLst>
                  <a:gd name="adj" fmla="val 1428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186488" y="2320766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内存状态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8477250" y="2228850"/>
                <a:ext cx="2286000" cy="266700"/>
              </a:xfrm>
              <a:prstGeom prst="roundRect">
                <a:avLst>
                  <a:gd name="adj" fmla="val 1428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567738" y="2320766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链表结构</a:t>
                </a: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6096000" y="2552700"/>
                <a:ext cx="2286000" cy="266700"/>
              </a:xfrm>
              <a:prstGeom prst="roundRect">
                <a:avLst>
                  <a:gd name="adj" fmla="val 1428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6186488" y="2644616"/>
                <a:ext cx="51485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树/图遍历</a:t>
                </a: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8477250" y="2552700"/>
                <a:ext cx="2286000" cy="266700"/>
              </a:xfrm>
              <a:prstGeom prst="roundRect">
                <a:avLst>
                  <a:gd name="adj" fmla="val 1428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567738" y="2644616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数组操作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6096000" y="2876550"/>
                <a:ext cx="2286000" cy="266700"/>
              </a:xfrm>
              <a:prstGeom prst="roundRect">
                <a:avLst>
                  <a:gd name="adj" fmla="val 1428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6186488" y="2968466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指针引用</a:t>
                </a:r>
              </a:p>
            </p:txBody>
          </p:sp>
          <p:sp>
            <p:nvSpPr>
              <p:cNvPr id="54" name="Rectangle 54"/>
              <p:cNvSpPr/>
              <p:nvPr/>
            </p:nvSpPr>
            <p:spPr>
              <a:xfrm>
                <a:off x="8477250" y="2876550"/>
                <a:ext cx="2286000" cy="266700"/>
              </a:xfrm>
              <a:prstGeom prst="roundRect">
                <a:avLst>
                  <a:gd name="adj" fmla="val 1428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8567738" y="2968466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递归展开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6096000" y="3333750"/>
              <a:ext cx="4762500" cy="342900"/>
              <a:chOff x="6096000" y="3333750"/>
              <a:chExt cx="4762500" cy="342900"/>
            </a:xfrm>
          </p:grpSpPr>
          <p:sp>
            <p:nvSpPr>
              <p:cNvPr id="57" name="Rectangle 57"/>
              <p:cNvSpPr/>
              <p:nvPr/>
            </p:nvSpPr>
            <p:spPr>
              <a:xfrm>
                <a:off x="6096000" y="3333750"/>
                <a:ext cx="4762500" cy="342900"/>
              </a:xfrm>
              <a:prstGeom prst="roundRect">
                <a:avLst>
                  <a:gd name="adj" fmla="val 16667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7522807" y="3447574"/>
                <a:ext cx="190888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D3.js 13 个可视化组件前端渲染</a:t>
                </a: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5905500" y="4381500"/>
            <a:ext cx="5143500" cy="780764"/>
            <a:chOff x="5905500" y="4381500"/>
            <a:chExt cx="5143500" cy="780764"/>
          </a:xfrm>
        </p:grpSpPr>
        <p:sp>
          <p:nvSpPr>
            <p:cNvPr id="61" name="Rectangle 61"/>
            <p:cNvSpPr/>
            <p:nvPr/>
          </p:nvSpPr>
          <p:spPr>
            <a:xfrm>
              <a:off x="5905500" y="4381500"/>
              <a:ext cx="5143500" cy="762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4288">
              <a:solidFill>
                <a:schemeClr val="accent6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6019800" y="4495800"/>
              <a:ext cx="228600" cy="228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094353" y="45605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✦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356985" y="4526756"/>
              <a:ext cx="7686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确定性旁白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357747" y="4800124"/>
              <a:ext cx="30388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经典题目（反转链表、unique-paths）无 LLM 依赖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357747" y="4971574"/>
              <a:ext cx="18474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确保可复现、可验证的旁白内容</a:t>
              </a: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19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7238" y="283845"/>
            <a:ext cx="14369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06 · INNOVATION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1332" y="582930"/>
            <a:ext cx="171754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更多技术创新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952500"/>
            <a:ext cx="2571750" cy="9525"/>
          </a:xfrm>
          <a:custGeom>
            <a:avLst/>
            <a:gdLst/>
            <a:ahLst/>
            <a:cxnLst/>
            <a:rect l="l" t="t" r="r" b="b"/>
            <a:pathLst>
              <a:path w="2571750" h="9525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22" name="Group 22"/>
          <p:cNvGrpSpPr/>
          <p:nvPr/>
        </p:nvGrpSpPr>
        <p:grpSpPr>
          <a:xfrm>
            <a:off x="762000" y="1333500"/>
            <a:ext cx="3429000" cy="4000500"/>
            <a:chOff x="762000" y="1333500"/>
            <a:chExt cx="3429000" cy="4000500"/>
          </a:xfrm>
        </p:grpSpPr>
        <p:sp>
          <p:nvSpPr>
            <p:cNvPr id="6" name="Rectangle 6"/>
            <p:cNvSpPr/>
            <p:nvPr/>
          </p:nvSpPr>
          <p:spPr>
            <a:xfrm>
              <a:off x="762000" y="1333500"/>
              <a:ext cx="3429000" cy="40005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9525">
              <a:solidFill>
                <a:schemeClr val="accent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333500"/>
              <a:ext cx="3429000" cy="476250"/>
            </a:xfrm>
            <a:prstGeom prst="roundRect">
              <a:avLst>
                <a:gd name="adj" fmla="val 12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6404" y="15087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创新三：四阶段并行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947166" y="2000250"/>
              <a:ext cx="3053334" cy="2199989"/>
              <a:chOff x="947166" y="2000250"/>
              <a:chExt cx="3053334" cy="2199989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952500" y="2000250"/>
                <a:ext cx="3048000" cy="428625"/>
              </a:xfrm>
              <a:prstGeom prst="roundRect">
                <a:avLst>
                  <a:gd name="adj" fmla="val 888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460068" y="2074545"/>
                <a:ext cx="203286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document → (mindmap ∥ exercises)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529734" y="2245995"/>
                <a:ext cx="189353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→ code_case → (trace ∥ reading)</a:t>
                </a:r>
              </a:p>
            </p:txBody>
          </p:sp>
          <p:sp>
            <p:nvSpPr>
              <p:cNvPr id="12" name="Line 12"/>
              <p:cNvSpPr/>
              <p:nvPr/>
            </p:nvSpPr>
            <p:spPr>
              <a:xfrm>
                <a:off x="952500" y="2571750"/>
                <a:ext cx="304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9525">
                    <a:moveTo>
                      <a:pt x="0" y="0"/>
                    </a:moveTo>
                    <a:lnTo>
                      <a:pt x="3048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947547" y="2656999"/>
                <a:ext cx="121088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串行依赖 → 并行拓扑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47547" y="2847499"/>
                <a:ext cx="96150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效率提升 2-3 倍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952500" y="3095625"/>
                <a:ext cx="304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9525">
                    <a:moveTo>
                      <a:pt x="0" y="0"/>
                    </a:moveTo>
                    <a:lnTo>
                      <a:pt x="3048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947166" y="32013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技术细节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47547" y="3438049"/>
                <a:ext cx="204983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Phase 2 的 mindmap 和 exercises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47547" y="3628549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互不依赖，可并行生成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47547" y="3819049"/>
                <a:ext cx="204454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Phase 4 的 trace 和 reading 同理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47547" y="4009549"/>
                <a:ext cx="184746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自研 DAG 调度确保拓扑正确性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4381500" y="1333500"/>
            <a:ext cx="3429000" cy="4000500"/>
            <a:chOff x="4381500" y="1333500"/>
            <a:chExt cx="34290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4381500" y="1333500"/>
              <a:ext cx="3429000" cy="40005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381500" y="1333500"/>
              <a:ext cx="3429000" cy="476250"/>
            </a:xfrm>
            <a:prstGeom prst="roundRect">
              <a:avLst>
                <a:gd name="adj" fmla="val 12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5904" y="15087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创新四：三重防幻觉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4567047" y="2000250"/>
              <a:ext cx="3052953" cy="2161889"/>
              <a:chOff x="4567047" y="2000250"/>
              <a:chExt cx="3052953" cy="2161889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4572000" y="2000250"/>
                <a:ext cx="3048000" cy="428625"/>
              </a:xfrm>
              <a:prstGeom prst="roundRect">
                <a:avLst>
                  <a:gd name="adj" fmla="val 8889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5131118" y="2074545"/>
                <a:ext cx="192976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BM25 约束 → 校验回流 → 安全审查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485448" y="2245995"/>
                <a:ext cx="122110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三层防线系统级降风险</a:t>
                </a: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4572000" y="2571750"/>
                <a:ext cx="304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9525">
                    <a:moveTo>
                      <a:pt x="0" y="0"/>
                    </a:moveTo>
                    <a:lnTo>
                      <a:pt x="3048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567047" y="2656999"/>
                <a:ext cx="185171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第一层：Okapi BM25 知识约束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567047" y="2847499"/>
                <a:ext cx="171621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检索课程知识库约束生成范围</a:t>
                </a:r>
              </a:p>
            </p:txBody>
          </p:sp>
          <p:sp>
            <p:nvSpPr>
              <p:cNvPr id="32" name="Line 32"/>
              <p:cNvSpPr/>
              <p:nvPr/>
            </p:nvSpPr>
            <p:spPr>
              <a:xfrm>
                <a:off x="4572000" y="3095625"/>
                <a:ext cx="304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9525">
                    <a:moveTo>
                      <a:pt x="0" y="0"/>
                    </a:moveTo>
                    <a:lnTo>
                      <a:pt x="3048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567047" y="3209449"/>
                <a:ext cx="192925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第二层：ContentVerifierAgent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567047" y="33999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对照知识库校验回流重试</a:t>
                </a:r>
              </a:p>
            </p:txBody>
          </p:sp>
          <p:sp>
            <p:nvSpPr>
              <p:cNvPr id="35" name="Line 35"/>
              <p:cNvSpPr/>
              <p:nvPr/>
            </p:nvSpPr>
            <p:spPr>
              <a:xfrm>
                <a:off x="4572000" y="3648075"/>
                <a:ext cx="304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9525">
                    <a:moveTo>
                      <a:pt x="0" y="0"/>
                    </a:moveTo>
                    <a:lnTo>
                      <a:pt x="3048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4567047" y="3761899"/>
                <a:ext cx="134258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第三层：SafetyAgent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567047" y="3971449"/>
                <a:ext cx="197079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敏感词 / 幻觉 / Prompt注入检测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8001000" y="1333500"/>
            <a:ext cx="3429000" cy="4000500"/>
            <a:chOff x="8001000" y="1333500"/>
            <a:chExt cx="3429000" cy="4000500"/>
          </a:xfrm>
        </p:grpSpPr>
        <p:sp>
          <p:nvSpPr>
            <p:cNvPr id="40" name="Rectangle 40"/>
            <p:cNvSpPr/>
            <p:nvPr/>
          </p:nvSpPr>
          <p:spPr>
            <a:xfrm>
              <a:off x="8001000" y="1333500"/>
              <a:ext cx="3429000" cy="40005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001000" y="1333500"/>
              <a:ext cx="3429000" cy="476250"/>
            </a:xfrm>
            <a:prstGeom prst="roundRect">
              <a:avLst>
                <a:gd name="adj" fmla="val 12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185404" y="15087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创新五：确定性旁白</a:t>
              </a:r>
            </a:p>
          </p:txBody>
        </p:sp>
        <p:grpSp>
          <p:nvGrpSpPr>
            <p:cNvPr id="55" name="Group 55"/>
            <p:cNvGrpSpPr/>
            <p:nvPr/>
          </p:nvGrpSpPr>
          <p:grpSpPr>
            <a:xfrm>
              <a:off x="8186166" y="2000250"/>
              <a:ext cx="3053334" cy="2314289"/>
              <a:chOff x="8186166" y="2000250"/>
              <a:chExt cx="3053334" cy="2314289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8191500" y="2000250"/>
                <a:ext cx="3048000" cy="428625"/>
              </a:xfrm>
              <a:prstGeom prst="roundRect">
                <a:avLst>
                  <a:gd name="adj" fmla="val 8889"/>
                </a:avLst>
              </a:prstGeom>
              <a:solidFill>
                <a:srgbClr val="F0FDF4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9032253" y="2074545"/>
                <a:ext cx="136649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经典题目 → 无 LLM 依赖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9277598" y="2245995"/>
                <a:ext cx="87580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可复现 · 可验证</a:t>
                </a:r>
              </a:p>
            </p:txBody>
          </p:sp>
          <p:sp>
            <p:nvSpPr>
              <p:cNvPr id="46" name="Line 46"/>
              <p:cNvSpPr/>
              <p:nvPr/>
            </p:nvSpPr>
            <p:spPr>
              <a:xfrm>
                <a:off x="8191500" y="2571750"/>
                <a:ext cx="304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9525">
                    <a:moveTo>
                      <a:pt x="0" y="0"/>
                    </a:moveTo>
                    <a:lnTo>
                      <a:pt x="3048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186166" y="2667952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解决的问题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186547" y="2923699"/>
                <a:ext cx="132047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纯 LLM 旁白不可复现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186547" y="3114199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每次生成结果不一致</a:t>
                </a:r>
              </a:p>
            </p:txBody>
          </p:sp>
          <p:sp>
            <p:nvSpPr>
              <p:cNvPr id="50" name="Line 50"/>
              <p:cNvSpPr/>
              <p:nvPr/>
            </p:nvSpPr>
            <p:spPr>
              <a:xfrm>
                <a:off x="8191500" y="3381375"/>
                <a:ext cx="304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9525">
                    <a:moveTo>
                      <a:pt x="0" y="0"/>
                    </a:moveTo>
                    <a:lnTo>
                      <a:pt x="3048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186166" y="348710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1"/>
                    </a:solidFill>
                    <a:latin typeface="Inter"/>
                    <a:ea typeface="Microsoft YaHei"/>
                    <a:cs typeface="Inter"/>
                  </a:rPr>
                  <a:t>技术方案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186547" y="37428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经典题目预定义旁白模板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186547" y="3933349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基于代码执行状态映射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186547" y="4123849"/>
                <a:ext cx="193278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Inter"/>
                    <a:ea typeface="Microsoft YaHei"/>
                    <a:cs typeface="Inter"/>
                  </a:rPr>
                  <a:t>覆盖反转链表、unique-paths 等</a:t>
                </a:r>
              </a:p>
            </p:txBody>
          </p:sp>
        </p:grpSp>
      </p:grpSp>
      <p:sp>
        <p:nvSpPr>
          <p:cNvPr id="57" name="TextBox 57"/>
          <p:cNvSpPr txBox="1"/>
          <p:nvPr/>
        </p:nvSpPr>
        <p:spPr>
          <a:xfrm>
            <a:off x="11019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20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905000"/>
          </a:xfrm>
          <a:prstGeom prst="rect">
            <a:avLst/>
          </a:prstGeom>
          <a:gradFill>
            <a:gsLst>
              <a:gs pos="0">
                <a:schemeClr val="accent1">
                  <a:alpha val="4000"/>
                </a:schemeClr>
              </a:gs>
              <a:gs pos="100000">
                <a:schemeClr val="lt1">
                  <a:alpha val="0"/>
                </a:schemeClr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381000" y="-190500"/>
            <a:ext cx="11239500" cy="7905750"/>
            <a:chOff x="381000" y="-190500"/>
            <a:chExt cx="11239500" cy="7905750"/>
          </a:xfrm>
        </p:grpSpPr>
        <p:sp>
          <p:nvSpPr>
            <p:cNvPr id="4" name="Ellipse 4"/>
            <p:cNvSpPr/>
            <p:nvPr/>
          </p:nvSpPr>
          <p:spPr>
            <a:xfrm>
              <a:off x="381000" y="4667250"/>
              <a:ext cx="3048000" cy="3048000"/>
            </a:xfrm>
            <a:prstGeom prst="ellipse">
              <a:avLst/>
            </a:prstGeom>
            <a:solidFill>
              <a:schemeClr val="accent1">
                <a:alpha val="3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334500" y="-190500"/>
              <a:ext cx="2286000" cy="2286000"/>
            </a:xfrm>
            <a:prstGeom prst="ellipse">
              <a:avLst/>
            </a:prstGeom>
            <a:solidFill>
              <a:schemeClr val="accent2">
                <a:alpha val="3000"/>
              </a:schemeClr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chemeClr val="accent1">
                  <a:alpha val="3000"/>
                </a:schemeClr>
              </a:solidFill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757238" y="283845"/>
            <a:ext cx="20961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07 · APPLICATION VALUE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1332" y="582930"/>
            <a:ext cx="256565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三种角色，一套平台</a:t>
            </a:r>
          </a:p>
        </p:txBody>
      </p:sp>
      <p:sp>
        <p:nvSpPr>
          <p:cNvPr id="10" name="Line 10"/>
          <p:cNvSpPr/>
          <p:nvPr/>
        </p:nvSpPr>
        <p:spPr>
          <a:xfrm>
            <a:off x="762000" y="952500"/>
            <a:ext cx="2571750" cy="9525"/>
          </a:xfrm>
          <a:custGeom>
            <a:avLst/>
            <a:gdLst/>
            <a:ahLst/>
            <a:cxnLst/>
            <a:rect l="l" t="t" r="r" b="b"/>
            <a:pathLst>
              <a:path w="2571750" h="9525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36" name="Group 36"/>
          <p:cNvGrpSpPr/>
          <p:nvPr/>
        </p:nvGrpSpPr>
        <p:grpSpPr>
          <a:xfrm>
            <a:off x="762000" y="1238250"/>
            <a:ext cx="3429000" cy="3905250"/>
            <a:chOff x="762000" y="1238250"/>
            <a:chExt cx="3429000" cy="3905250"/>
          </a:xfrm>
        </p:grpSpPr>
        <p:sp>
          <p:nvSpPr>
            <p:cNvPr id="11" name="Rectangle 11"/>
            <p:cNvSpPr/>
            <p:nvPr/>
          </p:nvSpPr>
          <p:spPr>
            <a:xfrm>
              <a:off x="762000" y="1238250"/>
              <a:ext cx="3429000" cy="390525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1238250"/>
              <a:ext cx="3429000" cy="1428750"/>
            </a:xfrm>
            <a:prstGeom prst="roundRect">
              <a:avLst>
                <a:gd name="adj" fmla="val 5333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952625" y="1524000"/>
              <a:ext cx="1047750" cy="485775"/>
              <a:chOff x="1952625" y="1524000"/>
              <a:chExt cx="1047750" cy="485775"/>
            </a:xfrm>
          </p:grpSpPr>
          <p:sp>
            <p:nvSpPr>
              <p:cNvPr id="13" name="Polygon 13"/>
              <p:cNvSpPr/>
              <p:nvPr/>
            </p:nvSpPr>
            <p:spPr>
              <a:xfrm>
                <a:off x="2286000" y="1524000"/>
                <a:ext cx="3810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457200">
                    <a:moveTo>
                      <a:pt x="190500" y="0"/>
                    </a:moveTo>
                    <a:lnTo>
                      <a:pt x="381000" y="114300"/>
                    </a:lnTo>
                    <a:lnTo>
                      <a:pt x="381000" y="342900"/>
                    </a:lnTo>
                    <a:lnTo>
                      <a:pt x="190500" y="457200"/>
                    </a:lnTo>
                    <a:lnTo>
                      <a:pt x="0" y="342900"/>
                    </a:lnTo>
                    <a:lnTo>
                      <a:pt x="0" y="114300"/>
                    </a:lnTo>
                    <a:close/>
                  </a:path>
                </a:pathLst>
              </a:custGeom>
              <a:noFill/>
              <a:ln w="9525">
                <a:solidFill>
                  <a:srgbClr val="FFFFFF">
                    <a:alpha val="8000"/>
                  </a:srgbClr>
                </a:solidFill>
              </a:ln>
            </p:spPr>
          </p:sp>
          <p:sp>
            <p:nvSpPr>
              <p:cNvPr id="14" name="Polygon 14"/>
              <p:cNvSpPr/>
              <p:nvPr/>
            </p:nvSpPr>
            <p:spPr>
              <a:xfrm>
                <a:off x="2714625" y="1666875"/>
                <a:ext cx="2857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342900">
                    <a:moveTo>
                      <a:pt x="142875" y="0"/>
                    </a:moveTo>
                    <a:lnTo>
                      <a:pt x="285750" y="85725"/>
                    </a:lnTo>
                    <a:lnTo>
                      <a:pt x="285750" y="257175"/>
                    </a:lnTo>
                    <a:lnTo>
                      <a:pt x="142875" y="342900"/>
                    </a:lnTo>
                    <a:lnTo>
                      <a:pt x="0" y="257175"/>
                    </a:lnTo>
                    <a:lnTo>
                      <a:pt x="0" y="85725"/>
                    </a:lnTo>
                    <a:close/>
                  </a:path>
                </a:pathLst>
              </a:custGeom>
              <a:noFill/>
              <a:ln w="4762">
                <a:solidFill>
                  <a:srgbClr val="FFFFFF">
                    <a:alpha val="8000"/>
                  </a:srgbClr>
                </a:solidFill>
              </a:ln>
            </p:spPr>
          </p:sp>
          <p:sp>
            <p:nvSpPr>
              <p:cNvPr id="15" name="Polygon 15"/>
              <p:cNvSpPr/>
              <p:nvPr/>
            </p:nvSpPr>
            <p:spPr>
              <a:xfrm>
                <a:off x="1952625" y="1666875"/>
                <a:ext cx="2857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342900">
                    <a:moveTo>
                      <a:pt x="142875" y="0"/>
                    </a:moveTo>
                    <a:lnTo>
                      <a:pt x="285750" y="85725"/>
                    </a:lnTo>
                    <a:lnTo>
                      <a:pt x="285750" y="257175"/>
                    </a:lnTo>
                    <a:lnTo>
                      <a:pt x="142875" y="342900"/>
                    </a:lnTo>
                    <a:lnTo>
                      <a:pt x="0" y="257175"/>
                    </a:lnTo>
                    <a:lnTo>
                      <a:pt x="0" y="85725"/>
                    </a:lnTo>
                    <a:close/>
                  </a:path>
                </a:pathLst>
              </a:custGeom>
              <a:noFill/>
              <a:ln w="4762">
                <a:solidFill>
                  <a:srgbClr val="FFFFFF">
                    <a:alpha val="8000"/>
                  </a:srgbClr>
                </a:solidFill>
              </a:ln>
            </p:spPr>
          </p:sp>
        </p:grpSp>
        <p:sp>
          <p:nvSpPr>
            <p:cNvPr id="17" name="Ellipse 17"/>
            <p:cNvSpPr/>
            <p:nvPr/>
          </p:nvSpPr>
          <p:spPr>
            <a:xfrm>
              <a:off x="2047875" y="1619250"/>
              <a:ext cx="857250" cy="857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2047875" y="1619250"/>
              <a:ext cx="857250" cy="857250"/>
            </a:xfrm>
            <a:prstGeom prst="ellipse">
              <a:avLst/>
            </a:prstGeom>
            <a:noFill/>
            <a:ln w="19050">
              <a:solidFill>
                <a:srgbClr val="FFFFFF">
                  <a:alpha val="20000"/>
                </a:srgbClr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343150" y="1790700"/>
              <a:ext cx="266700" cy="266700"/>
            </a:xfrm>
            <a:prstGeom prst="ellipse">
              <a:avLst/>
            </a:prstGeom>
            <a:solidFill>
              <a:srgbClr val="FFFFFF">
                <a:alpha val="80000"/>
              </a:srgbClr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2286000" y="2190750"/>
              <a:ext cx="381000" cy="95250"/>
            </a:xfrm>
            <a:custGeom>
              <a:avLst/>
              <a:gdLst/>
              <a:ahLst/>
              <a:cxnLst/>
              <a:rect l="l" t="t" r="r" b="b"/>
              <a:pathLst>
                <a:path w="381000" h="95250">
                  <a:moveTo>
                    <a:pt x="0" y="95250"/>
                  </a:moveTo>
                  <a:cubicBezTo>
                    <a:pt x="127000" y="0"/>
                    <a:pt x="254000" y="0"/>
                    <a:pt x="381000" y="95250"/>
                  </a:cubicBezTo>
                </a:path>
              </a:pathLst>
            </a:custGeom>
            <a:noFill/>
            <a:ln w="28575" cap="rnd">
              <a:solidFill>
                <a:srgbClr val="FFFFFF">
                  <a:alpha val="80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234889" y="2536508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学生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16839" y="2847499"/>
              <a:ext cx="5193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3"/>
                  </a:solidFill>
                  <a:latin typeface="Inter"/>
                  <a:ea typeface="Inter"/>
                  <a:cs typeface="Inter"/>
                </a:rPr>
                <a:t>Student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990600" y="2943225"/>
              <a:ext cx="1427577" cy="1644586"/>
              <a:chOff x="990600" y="2943225"/>
              <a:chExt cx="1427577" cy="1644586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990600" y="294322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213866" y="295370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个性化学习路径</a:t>
                </a:r>
              </a:p>
            </p:txBody>
          </p:sp>
          <p:sp>
            <p:nvSpPr>
              <p:cNvPr id="25" name="Ellipse 25"/>
              <p:cNvSpPr/>
              <p:nvPr/>
            </p:nvSpPr>
            <p:spPr>
              <a:xfrm>
                <a:off x="990600" y="322897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213866" y="323945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多维度智能资源</a:t>
                </a:r>
              </a:p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990600" y="351472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213866" y="3525202"/>
                <a:ext cx="12043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代码 Trace 可视化</a:t>
                </a:r>
              </a:p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990600" y="380047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213866" y="3810952"/>
                <a:ext cx="10785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AI 智能辅导答疑</a:t>
                </a:r>
              </a:p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990600" y="408622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213866" y="409670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掌握度量化评估</a:t>
                </a:r>
              </a:p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990600" y="437197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213866" y="438245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持久化学习记忆</a:t>
                </a: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4381500" y="1238250"/>
            <a:ext cx="3429000" cy="3905250"/>
            <a:chOff x="4381500" y="1238250"/>
            <a:chExt cx="3429000" cy="3905250"/>
          </a:xfrm>
        </p:grpSpPr>
        <p:sp>
          <p:nvSpPr>
            <p:cNvPr id="37" name="Rectangle 37"/>
            <p:cNvSpPr/>
            <p:nvPr/>
          </p:nvSpPr>
          <p:spPr>
            <a:xfrm>
              <a:off x="4381500" y="1238250"/>
              <a:ext cx="3429000" cy="390525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4381500" y="1238250"/>
              <a:ext cx="3429000" cy="1428750"/>
            </a:xfrm>
            <a:prstGeom prst="roundRect">
              <a:avLst>
                <a:gd name="adj" fmla="val 5333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5619750" y="1524000"/>
              <a:ext cx="952500" cy="428625"/>
              <a:chOff x="5619750" y="1524000"/>
              <a:chExt cx="952500" cy="428625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5810250" y="1524000"/>
                <a:ext cx="381000" cy="381000"/>
              </a:xfrm>
              <a:prstGeom prst="roundRect">
                <a:avLst>
                  <a:gd name="adj" fmla="val 10000"/>
                </a:avLst>
              </a:prstGeom>
              <a:noFill/>
              <a:ln w="9525">
                <a:solidFill>
                  <a:srgbClr val="FFFFFF">
                    <a:alpha val="8000"/>
                  </a:srgbClr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6286500" y="1666875"/>
                <a:ext cx="285750" cy="285750"/>
              </a:xfrm>
              <a:prstGeom prst="roundRect">
                <a:avLst>
                  <a:gd name="adj" fmla="val 10000"/>
                </a:avLst>
              </a:prstGeom>
              <a:noFill/>
              <a:ln w="4762">
                <a:solidFill>
                  <a:srgbClr val="FFFFFF">
                    <a:alpha val="8000"/>
                  </a:srgbClr>
                </a:solidFill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5619750" y="1666875"/>
                <a:ext cx="285750" cy="285750"/>
              </a:xfrm>
              <a:prstGeom prst="roundRect">
                <a:avLst>
                  <a:gd name="adj" fmla="val 10000"/>
                </a:avLst>
              </a:prstGeom>
              <a:noFill/>
              <a:ln w="4762">
                <a:solidFill>
                  <a:srgbClr val="FFFFFF">
                    <a:alpha val="8000"/>
                  </a:srgbClr>
                </a:solidFill>
              </a:ln>
            </p:spPr>
          </p:sp>
        </p:grpSp>
        <p:sp>
          <p:nvSpPr>
            <p:cNvPr id="43" name="Ellipse 43"/>
            <p:cNvSpPr/>
            <p:nvPr/>
          </p:nvSpPr>
          <p:spPr>
            <a:xfrm>
              <a:off x="5667375" y="1619250"/>
              <a:ext cx="857250" cy="857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943600" y="1828800"/>
              <a:ext cx="304800" cy="209550"/>
            </a:xfrm>
            <a:prstGeom prst="roundRect">
              <a:avLst>
                <a:gd name="adj" fmla="val 13636"/>
              </a:avLst>
            </a:prstGeom>
            <a:solidFill>
              <a:srgbClr val="FFFFFF">
                <a:alpha val="80000"/>
              </a:srgbClr>
            </a:solidFill>
            <a:ln>
              <a:noFill/>
            </a:ln>
          </p:spPr>
        </p:sp>
        <p:sp>
          <p:nvSpPr>
            <p:cNvPr id="45" name="Line 45"/>
            <p:cNvSpPr/>
            <p:nvPr/>
          </p:nvSpPr>
          <p:spPr>
            <a:xfrm>
              <a:off x="5981700" y="192405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5905500" y="2219325"/>
              <a:ext cx="381000" cy="114300"/>
            </a:xfrm>
            <a:custGeom>
              <a:avLst/>
              <a:gdLst/>
              <a:ahLst/>
              <a:cxnLst/>
              <a:rect l="l" t="t" r="r" b="b"/>
              <a:pathLst>
                <a:path w="381000" h="114300">
                  <a:moveTo>
                    <a:pt x="0" y="114300"/>
                  </a:moveTo>
                  <a:cubicBezTo>
                    <a:pt x="127000" y="0"/>
                    <a:pt x="254000" y="0"/>
                    <a:pt x="381000" y="114300"/>
                  </a:cubicBezTo>
                </a:path>
              </a:pathLst>
            </a:custGeom>
            <a:noFill/>
            <a:ln w="28575" cap="rnd">
              <a:solidFill>
                <a:srgbClr val="FFFFFF">
                  <a:alpha val="80000"/>
                </a:srgbClr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854389" y="2536508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教师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836339" y="2847499"/>
              <a:ext cx="5193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3"/>
                  </a:solidFill>
                  <a:latin typeface="Inter"/>
                  <a:ea typeface="Inter"/>
                  <a:cs typeface="Inter"/>
                </a:rPr>
                <a:t>Teacher</a:t>
              </a:r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4610100" y="2943225"/>
              <a:ext cx="1364742" cy="1358836"/>
              <a:chOff x="4610100" y="2943225"/>
              <a:chExt cx="1364742" cy="1358836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4610100" y="294322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4833366" y="295370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全面学情看板</a:t>
                </a:r>
              </a:p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4610100" y="322897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4833366" y="323945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掌握度热力图</a:t>
                </a:r>
              </a:p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4610100" y="351472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4833366" y="3525202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精准识别薄弱学生</a:t>
                </a:r>
              </a:p>
            </p:txBody>
          </p:sp>
          <p:sp>
            <p:nvSpPr>
              <p:cNvPr id="55" name="Ellipse 55"/>
              <p:cNvSpPr/>
              <p:nvPr/>
            </p:nvSpPr>
            <p:spPr>
              <a:xfrm>
                <a:off x="4610100" y="380047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4833366" y="3810952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教学效果量化评估</a:t>
                </a:r>
              </a:p>
            </p:txBody>
          </p:sp>
          <p:sp>
            <p:nvSpPr>
              <p:cNvPr id="57" name="Ellipse 57"/>
              <p:cNvSpPr/>
              <p:nvPr/>
            </p:nvSpPr>
            <p:spPr>
              <a:xfrm>
                <a:off x="4610100" y="408622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4833366" y="4096702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因材施教辅助决策</a:t>
                </a:r>
              </a:p>
            </p:txBody>
          </p:sp>
        </p:grpSp>
      </p:grpSp>
      <p:grpSp>
        <p:nvGrpSpPr>
          <p:cNvPr id="83" name="Group 83"/>
          <p:cNvGrpSpPr/>
          <p:nvPr/>
        </p:nvGrpSpPr>
        <p:grpSpPr>
          <a:xfrm>
            <a:off x="8001000" y="1238250"/>
            <a:ext cx="3429000" cy="3905250"/>
            <a:chOff x="8001000" y="1238250"/>
            <a:chExt cx="3429000" cy="3905250"/>
          </a:xfrm>
        </p:grpSpPr>
        <p:sp>
          <p:nvSpPr>
            <p:cNvPr id="61" name="Rectangle 61"/>
            <p:cNvSpPr/>
            <p:nvPr/>
          </p:nvSpPr>
          <p:spPr>
            <a:xfrm>
              <a:off x="8001000" y="1238250"/>
              <a:ext cx="3429000" cy="390525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8001000" y="1238250"/>
              <a:ext cx="3429000" cy="1428750"/>
            </a:xfrm>
            <a:prstGeom prst="roundRect">
              <a:avLst>
                <a:gd name="adj" fmla="val 5333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9429750" y="1476375"/>
              <a:ext cx="571500" cy="571500"/>
              <a:chOff x="9429750" y="1476375"/>
              <a:chExt cx="571500" cy="571500"/>
            </a:xfrm>
          </p:grpSpPr>
          <p:sp>
            <p:nvSpPr>
              <p:cNvPr id="63" name="Ellipse 63"/>
              <p:cNvSpPr/>
              <p:nvPr/>
            </p:nvSpPr>
            <p:spPr>
              <a:xfrm>
                <a:off x="9429750" y="1476375"/>
                <a:ext cx="571500" cy="571500"/>
              </a:xfrm>
              <a:prstGeom prst="ellipse">
                <a:avLst/>
              </a:prstGeom>
              <a:noFill/>
              <a:ln w="9525">
                <a:solidFill>
                  <a:srgbClr val="FFFFFF">
                    <a:alpha val="8000"/>
                  </a:srgbClr>
                </a:solidFill>
              </a:ln>
            </p:spPr>
          </p:sp>
          <p:sp>
            <p:nvSpPr>
              <p:cNvPr id="64" name="Ellipse 64"/>
              <p:cNvSpPr/>
              <p:nvPr/>
            </p:nvSpPr>
            <p:spPr>
              <a:xfrm>
                <a:off x="9525000" y="1571625"/>
                <a:ext cx="381000" cy="381000"/>
              </a:xfrm>
              <a:prstGeom prst="ellipse">
                <a:avLst/>
              </a:prstGeom>
              <a:noFill/>
              <a:ln w="4762">
                <a:solidFill>
                  <a:srgbClr val="FFFFFF">
                    <a:alpha val="8000"/>
                  </a:srgbClr>
                </a:solidFill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9620250" y="1666875"/>
                <a:ext cx="190500" cy="190500"/>
              </a:xfrm>
              <a:prstGeom prst="ellipse">
                <a:avLst/>
              </a:prstGeom>
              <a:noFill/>
              <a:ln w="4762">
                <a:solidFill>
                  <a:srgbClr val="FFFFFF">
                    <a:alpha val="8000"/>
                  </a:srgbClr>
                </a:solidFill>
              </a:ln>
            </p:spPr>
          </p:sp>
        </p:grpSp>
        <p:sp>
          <p:nvSpPr>
            <p:cNvPr id="67" name="Ellipse 67"/>
            <p:cNvSpPr/>
            <p:nvPr/>
          </p:nvSpPr>
          <p:spPr>
            <a:xfrm>
              <a:off x="9286875" y="1619250"/>
              <a:ext cx="857250" cy="857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9572625" y="1952625"/>
              <a:ext cx="285750" cy="254000"/>
            </a:xfrm>
            <a:custGeom>
              <a:avLst/>
              <a:gdLst/>
              <a:ahLst/>
              <a:cxnLst/>
              <a:rect l="l" t="t" r="r" b="b"/>
              <a:pathLst>
                <a:path w="285750" h="254000">
                  <a:moveTo>
                    <a:pt x="0" y="0"/>
                  </a:moveTo>
                  <a:lnTo>
                    <a:pt x="285750" y="0"/>
                  </a:lnTo>
                  <a:lnTo>
                    <a:pt x="285750" y="190500"/>
                  </a:lnTo>
                  <a:cubicBezTo>
                    <a:pt x="190500" y="254000"/>
                    <a:pt x="95250" y="254000"/>
                    <a:pt x="0" y="190500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9677400" y="19621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473889" y="2536508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Inter"/>
                  <a:ea typeface="Microsoft YaHei"/>
                  <a:cs typeface="Inter"/>
                </a:rPr>
                <a:t>教育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400159" y="2847499"/>
              <a:ext cx="630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3"/>
                  </a:solidFill>
                  <a:latin typeface="Inter"/>
                  <a:ea typeface="Inter"/>
                  <a:cs typeface="Inter"/>
                </a:rPr>
                <a:t>Education</a:t>
              </a:r>
            </a:p>
          </p:txBody>
        </p:sp>
        <p:grpSp>
          <p:nvGrpSpPr>
            <p:cNvPr id="82" name="Group 82"/>
            <p:cNvGrpSpPr/>
            <p:nvPr/>
          </p:nvGrpSpPr>
          <p:grpSpPr>
            <a:xfrm>
              <a:off x="8229600" y="2943225"/>
              <a:ext cx="1689849" cy="1358836"/>
              <a:chOff x="8229600" y="2943225"/>
              <a:chExt cx="1689849" cy="1358836"/>
            </a:xfrm>
          </p:grpSpPr>
          <p:sp>
            <p:nvSpPr>
              <p:cNvPr id="72" name="Ellipse 72"/>
              <p:cNvSpPr/>
              <p:nvPr/>
            </p:nvSpPr>
            <p:spPr>
              <a:xfrm>
                <a:off x="8229600" y="294322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8452866" y="2953702"/>
                <a:ext cx="141457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AI+教育深度融合实践</a:t>
                </a:r>
              </a:p>
            </p:txBody>
          </p:sp>
          <p:sp>
            <p:nvSpPr>
              <p:cNvPr id="74" name="Ellipse 74"/>
              <p:cNvSpPr/>
              <p:nvPr/>
            </p:nvSpPr>
            <p:spPr>
              <a:xfrm>
                <a:off x="8229600" y="322897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8452866" y="3239452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降低大模型幻觉风险</a:t>
                </a:r>
              </a:p>
            </p:txBody>
          </p:sp>
          <p:sp>
            <p:nvSpPr>
              <p:cNvPr id="76" name="Ellipse 76"/>
              <p:cNvSpPr/>
              <p:nvPr/>
            </p:nvSpPr>
            <p:spPr>
              <a:xfrm>
                <a:off x="8229600" y="351472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8452866" y="3525202"/>
                <a:ext cx="14241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可复制的智能教育范式</a:t>
                </a:r>
              </a:p>
            </p:txBody>
          </p:sp>
          <p:sp>
            <p:nvSpPr>
              <p:cNvPr id="78" name="Ellipse 78"/>
              <p:cNvSpPr/>
              <p:nvPr/>
            </p:nvSpPr>
            <p:spPr>
              <a:xfrm>
                <a:off x="8229600" y="380047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8452866" y="3810952"/>
                <a:ext cx="14241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多智能体协同参考架构</a:t>
                </a:r>
              </a:p>
            </p:txBody>
          </p:sp>
          <p:sp>
            <p:nvSpPr>
              <p:cNvPr id="80" name="Ellipse 80"/>
              <p:cNvSpPr/>
              <p:nvPr/>
            </p:nvSpPr>
            <p:spPr>
              <a:xfrm>
                <a:off x="8229600" y="408622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8452866" y="4096702"/>
                <a:ext cx="14665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Inter"/>
                    <a:ea typeface="Microsoft YaHei"/>
                    <a:cs typeface="Inter"/>
                  </a:rPr>
                  <a:t>零 langgraph 轻量部署</a:t>
                </a:r>
              </a:p>
            </p:txBody>
          </p:sp>
        </p:grpSp>
      </p:grpSp>
      <p:sp>
        <p:nvSpPr>
          <p:cNvPr id="84" name="TextBox 84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21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905000"/>
          </a:xfrm>
          <a:prstGeom prst="rect">
            <a:avLst/>
          </a:prstGeom>
          <a:gradFill>
            <a:gsLst>
              <a:gs pos="0">
                <a:schemeClr val="accent1">
                  <a:alpha val="3000"/>
                </a:schemeClr>
              </a:gs>
              <a:gs pos="100000">
                <a:schemeClr val="lt1">
                  <a:alpha val="0"/>
                </a:schemeClr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952500" y="-190500"/>
            <a:ext cx="11430000" cy="7810500"/>
            <a:chOff x="952500" y="-190500"/>
            <a:chExt cx="11430000" cy="7810500"/>
          </a:xfrm>
        </p:grpSpPr>
        <p:sp>
          <p:nvSpPr>
            <p:cNvPr id="4" name="Ellipse 4"/>
            <p:cNvSpPr/>
            <p:nvPr/>
          </p:nvSpPr>
          <p:spPr>
            <a:xfrm>
              <a:off x="8572500" y="3810000"/>
              <a:ext cx="3810000" cy="3810000"/>
            </a:xfrm>
            <a:prstGeom prst="ellipse">
              <a:avLst/>
            </a:prstGeom>
            <a:solidFill>
              <a:schemeClr val="accent1">
                <a:alpha val="3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52500" y="-190500"/>
              <a:ext cx="1905000" cy="1905000"/>
            </a:xfrm>
            <a:prstGeom prst="ellipse">
              <a:avLst/>
            </a:prstGeom>
            <a:solidFill>
              <a:schemeClr val="accent2">
                <a:alpha val="3000"/>
              </a:schemeClr>
            </a:solidFill>
            <a:ln>
              <a:noFill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757238" y="283845"/>
            <a:ext cx="20961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07 · APPLICATION VALUE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1332" y="582930"/>
            <a:ext cx="228295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用数据证明完成度</a:t>
            </a:r>
          </a:p>
        </p:txBody>
      </p:sp>
      <p:sp>
        <p:nvSpPr>
          <p:cNvPr id="9" name="Line 9"/>
          <p:cNvSpPr/>
          <p:nvPr/>
        </p:nvSpPr>
        <p:spPr>
          <a:xfrm>
            <a:off x="762000" y="952500"/>
            <a:ext cx="2571750" cy="9525"/>
          </a:xfrm>
          <a:custGeom>
            <a:avLst/>
            <a:gdLst/>
            <a:ahLst/>
            <a:cxnLst/>
            <a:rect l="l" t="t" r="r" b="b"/>
            <a:pathLst>
              <a:path w="2571750" h="9525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22" name="Group 22"/>
          <p:cNvGrpSpPr/>
          <p:nvPr/>
        </p:nvGrpSpPr>
        <p:grpSpPr>
          <a:xfrm>
            <a:off x="762000" y="1333500"/>
            <a:ext cx="3238500" cy="1905000"/>
            <a:chOff x="762000" y="1333500"/>
            <a:chExt cx="3238500" cy="1905000"/>
          </a:xfrm>
        </p:grpSpPr>
        <p:sp>
          <p:nvSpPr>
            <p:cNvPr id="10" name="Rectangle 10"/>
            <p:cNvSpPr/>
            <p:nvPr/>
          </p:nvSpPr>
          <p:spPr>
            <a:xfrm>
              <a:off x="762000" y="1333500"/>
              <a:ext cx="3238500" cy="19050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333500"/>
              <a:ext cx="3238500" cy="47625"/>
            </a:xfrm>
            <a:prstGeom prst="roundRect">
              <a:avLst>
                <a:gd name="adj" fmla="val 40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952500" y="1619250"/>
              <a:ext cx="828675" cy="1047750"/>
              <a:chOff x="952500" y="1619250"/>
              <a:chExt cx="828675" cy="10477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952500" y="1809750"/>
                <a:ext cx="114300" cy="857250"/>
              </a:xfrm>
              <a:prstGeom prst="rect">
                <a:avLst/>
              </a:prstGeom>
              <a:solidFill>
                <a:schemeClr val="accent1">
                  <a:alpha val="6000"/>
                </a:schemeClr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1190625" y="1619250"/>
                <a:ext cx="114300" cy="1047750"/>
              </a:xfrm>
              <a:prstGeom prst="rect">
                <a:avLst/>
              </a:prstGeom>
              <a:solidFill>
                <a:schemeClr val="accent2">
                  <a:alpha val="6000"/>
                </a:schemeClr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1428750" y="1905000"/>
                <a:ext cx="114300" cy="762000"/>
              </a:xfrm>
              <a:prstGeom prst="rect">
                <a:avLst/>
              </a:prstGeom>
              <a:solidFill>
                <a:schemeClr val="accent1">
                  <a:alpha val="6000"/>
                </a:schemeClr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1666875" y="1714500"/>
                <a:ext cx="114300" cy="952500"/>
              </a:xfrm>
              <a:prstGeom prst="rect">
                <a:avLst/>
              </a:prstGeom>
              <a:solidFill>
                <a:schemeClr val="accent2">
                  <a:alpha val="6000"/>
                </a:schemeClr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802450" y="1577340"/>
              <a:ext cx="115760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800" b="1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188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36295" y="2259806"/>
              <a:ext cx="16899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chemeClr val="dk2"/>
                  </a:solidFill>
                  <a:latin typeface="Inter"/>
                  <a:ea typeface="Inter"/>
                  <a:cs typeface="Inter"/>
                </a:rPr>
                <a:t>Backend pytest passed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238250" y="2524125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EDF0F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21421" y="2637949"/>
              <a:ext cx="1919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32 个测试文件 · 全覆盖核心逻辑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00531" y="2847499"/>
              <a:ext cx="21614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Frontend typecheck + build 均通过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381500" y="1333500"/>
            <a:ext cx="3238500" cy="1905000"/>
            <a:chOff x="4381500" y="1333500"/>
            <a:chExt cx="3238500" cy="1905000"/>
          </a:xfrm>
        </p:grpSpPr>
        <p:sp>
          <p:nvSpPr>
            <p:cNvPr id="23" name="Rectangle 23"/>
            <p:cNvSpPr/>
            <p:nvPr/>
          </p:nvSpPr>
          <p:spPr>
            <a:xfrm>
              <a:off x="4381500" y="1333500"/>
              <a:ext cx="3238500" cy="19050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381500" y="1333500"/>
              <a:ext cx="3238500" cy="47625"/>
            </a:xfrm>
            <a:prstGeom prst="roundRect">
              <a:avLst>
                <a:gd name="adj" fmla="val 40000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4953000" y="1714500"/>
              <a:ext cx="762000" cy="762000"/>
              <a:chOff x="4953000" y="1714500"/>
              <a:chExt cx="762000" cy="762000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4953000" y="1714500"/>
                <a:ext cx="762000" cy="762000"/>
              </a:xfrm>
              <a:prstGeom prst="ellipse">
                <a:avLst/>
              </a:prstGeom>
              <a:noFill/>
              <a:ln w="9525">
                <a:solidFill>
                  <a:schemeClr val="accent2">
                    <a:alpha val="6000"/>
                  </a:schemeClr>
                </a:solidFill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5095875" y="1857375"/>
                <a:ext cx="476250" cy="476250"/>
              </a:xfrm>
              <a:prstGeom prst="ellipse">
                <a:avLst/>
              </a:prstGeom>
              <a:noFill/>
              <a:ln w="9525">
                <a:solidFill>
                  <a:schemeClr val="accent2">
                    <a:alpha val="6000"/>
                  </a:schemeClr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5238750" y="2000250"/>
                <a:ext cx="190500" cy="190500"/>
              </a:xfrm>
              <a:prstGeom prst="ellipse">
                <a:avLst/>
              </a:prstGeom>
              <a:solidFill>
                <a:schemeClr val="accent2">
                  <a:alpha val="6000"/>
                </a:schemeClr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5678502" y="1674495"/>
              <a:ext cx="64449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900" b="1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22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120426" y="2259806"/>
              <a:ext cx="17606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多智能体注册 / 20 已实现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4857750" y="2524125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EDF0F5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62406" y="2637949"/>
              <a:ext cx="14766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6 个 Layer · 端到端覆盖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14996" y="2847499"/>
              <a:ext cx="11715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2 个规划中扩展节点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001000" y="1333500"/>
            <a:ext cx="3238500" cy="1905000"/>
            <a:chOff x="8001000" y="1333500"/>
            <a:chExt cx="3238500" cy="1905000"/>
          </a:xfrm>
        </p:grpSpPr>
        <p:sp>
          <p:nvSpPr>
            <p:cNvPr id="35" name="Rectangle 35"/>
            <p:cNvSpPr/>
            <p:nvPr/>
          </p:nvSpPr>
          <p:spPr>
            <a:xfrm>
              <a:off x="8001000" y="1333500"/>
              <a:ext cx="3238500" cy="19050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8001000" y="1333500"/>
              <a:ext cx="3238500" cy="47625"/>
            </a:xfrm>
            <a:prstGeom prst="roundRect">
              <a:avLst>
                <a:gd name="adj" fmla="val 40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8477250" y="1581150"/>
              <a:ext cx="990600" cy="514350"/>
              <a:chOff x="8477250" y="1581150"/>
              <a:chExt cx="990600" cy="51435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477250" y="1619250"/>
                <a:ext cx="9525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476250">
                    <a:moveTo>
                      <a:pt x="0" y="476250"/>
                    </a:moveTo>
                    <a:lnTo>
                      <a:pt x="190500" y="190500"/>
                    </a:lnTo>
                    <a:lnTo>
                      <a:pt x="381000" y="333375"/>
                    </a:lnTo>
                    <a:lnTo>
                      <a:pt x="571500" y="95250"/>
                    </a:lnTo>
                    <a:lnTo>
                      <a:pt x="762000" y="238125"/>
                    </a:lnTo>
                    <a:lnTo>
                      <a:pt x="952500" y="0"/>
                    </a:lnTo>
                  </a:path>
                </a:pathLst>
              </a:custGeom>
              <a:noFill/>
              <a:ln w="19050">
                <a:solidFill>
                  <a:schemeClr val="accent1">
                    <a:alpha val="6000"/>
                  </a:schemeClr>
                </a:solidFill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9391650" y="1581150"/>
                <a:ext cx="76200" cy="76200"/>
              </a:xfrm>
              <a:prstGeom prst="ellipse">
                <a:avLst/>
              </a:prstGeom>
              <a:solidFill>
                <a:schemeClr val="accent1">
                  <a:alpha val="6000"/>
                </a:schemeClr>
              </a:solidFill>
              <a:ln>
                <a:noFill/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9298002" y="1674495"/>
              <a:ext cx="64449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900" b="1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13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98058" y="2259806"/>
              <a:ext cx="12443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Trace 可视化类型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8477250" y="2524125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EDF0F5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943670" y="2637949"/>
              <a:ext cx="13531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Python sys.settrace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04542" y="2847499"/>
              <a:ext cx="14314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C++ GDB MI 统一归一化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62000" y="3524250"/>
            <a:ext cx="3238500" cy="1905000"/>
            <a:chOff x="762000" y="3524250"/>
            <a:chExt cx="3238500" cy="1905000"/>
          </a:xfrm>
        </p:grpSpPr>
        <p:sp>
          <p:nvSpPr>
            <p:cNvPr id="46" name="Rectangle 46"/>
            <p:cNvSpPr/>
            <p:nvPr/>
          </p:nvSpPr>
          <p:spPr>
            <a:xfrm>
              <a:off x="762000" y="3524250"/>
              <a:ext cx="3238500" cy="19050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62000" y="3524250"/>
              <a:ext cx="3238500" cy="47625"/>
            </a:xfrm>
            <a:prstGeom prst="roundRect">
              <a:avLst>
                <a:gd name="adj" fmla="val 40000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952500" y="4095750"/>
              <a:ext cx="762000" cy="571500"/>
              <a:chOff x="952500" y="4095750"/>
              <a:chExt cx="762000" cy="57150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952500" y="4095750"/>
                <a:ext cx="762000" cy="571500"/>
              </a:xfrm>
              <a:prstGeom prst="roundRect">
                <a:avLst>
                  <a:gd name="adj" fmla="val 6667"/>
                </a:avLst>
              </a:prstGeom>
              <a:noFill/>
              <a:ln w="9525">
                <a:solidFill>
                  <a:schemeClr val="accent2">
                    <a:alpha val="6000"/>
                  </a:schemeClr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114450" y="4234815"/>
                <a:ext cx="4381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accent2">
                        <a:alphaMod val="6000"/>
                      </a:schemeClr>
                    </a:solidFill>
                    <a:latin typeface="Inter"/>
                    <a:ea typeface="Inter"/>
                    <a:cs typeface="Inter"/>
                  </a:rPr>
                  <a:t>&lt;/&gt;</a:t>
                </a:r>
              </a:p>
            </p:txBody>
          </p:sp>
        </p:grpSp>
        <p:sp>
          <p:nvSpPr>
            <p:cNvPr id="51" name="TextBox 51"/>
            <p:cNvSpPr txBox="1"/>
            <p:nvPr/>
          </p:nvSpPr>
          <p:spPr>
            <a:xfrm>
              <a:off x="1907403" y="3865245"/>
              <a:ext cx="94769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900" b="1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70+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677305" y="4450556"/>
              <a:ext cx="14078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Vue 组件 / 30+ 页面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1238250" y="4714875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EDF0F5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307238" y="4828699"/>
              <a:ext cx="21480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Vue 3 + TypeScript + Element Plus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360833" y="5038249"/>
              <a:ext cx="2040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13 个算法游戏 + 13 个 Trace 组件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4381500" y="3524250"/>
            <a:ext cx="3238500" cy="1905000"/>
            <a:chOff x="4381500" y="3524250"/>
            <a:chExt cx="3238500" cy="1905000"/>
          </a:xfrm>
        </p:grpSpPr>
        <p:sp>
          <p:nvSpPr>
            <p:cNvPr id="57" name="Rectangle 57"/>
            <p:cNvSpPr/>
            <p:nvPr/>
          </p:nvSpPr>
          <p:spPr>
            <a:xfrm>
              <a:off x="4381500" y="3524250"/>
              <a:ext cx="3238500" cy="19050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4381500" y="3524250"/>
              <a:ext cx="3238500" cy="47625"/>
            </a:xfrm>
            <a:prstGeom prst="roundRect">
              <a:avLst>
                <a:gd name="adj" fmla="val 40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4667250" y="4000500"/>
              <a:ext cx="1047750" cy="476250"/>
              <a:chOff x="4667250" y="4000500"/>
              <a:chExt cx="1047750" cy="476250"/>
            </a:xfrm>
          </p:grpSpPr>
          <p:sp>
            <p:nvSpPr>
              <p:cNvPr id="59" name="Rectangle 59"/>
              <p:cNvSpPr/>
              <p:nvPr/>
            </p:nvSpPr>
            <p:spPr>
              <a:xfrm>
                <a:off x="4667250" y="4000500"/>
                <a:ext cx="285750" cy="476250"/>
              </a:xfrm>
              <a:prstGeom prst="roundRect">
                <a:avLst>
                  <a:gd name="adj" fmla="val 10000"/>
                </a:avLst>
              </a:prstGeom>
              <a:noFill/>
              <a:ln w="9525">
                <a:solidFill>
                  <a:schemeClr val="accent1">
                    <a:alpha val="6000"/>
                  </a:schemeClr>
                </a:solidFill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5048250" y="4095750"/>
                <a:ext cx="285750" cy="381000"/>
              </a:xfrm>
              <a:prstGeom prst="roundRect">
                <a:avLst>
                  <a:gd name="adj" fmla="val 10000"/>
                </a:avLst>
              </a:prstGeom>
              <a:noFill/>
              <a:ln w="9525">
                <a:solidFill>
                  <a:schemeClr val="accent1">
                    <a:alpha val="6000"/>
                  </a:schemeClr>
                </a:solidFill>
              </a:ln>
            </p:spPr>
          </p:sp>
          <p:sp>
            <p:nvSpPr>
              <p:cNvPr id="61" name="Rectangle 61"/>
              <p:cNvSpPr/>
              <p:nvPr/>
            </p:nvSpPr>
            <p:spPr>
              <a:xfrm>
                <a:off x="5429250" y="4191000"/>
                <a:ext cx="285750" cy="285750"/>
              </a:xfrm>
              <a:prstGeom prst="roundRect">
                <a:avLst>
                  <a:gd name="adj" fmla="val 10000"/>
                </a:avLst>
              </a:prstGeom>
              <a:noFill/>
              <a:ln w="9525">
                <a:solidFill>
                  <a:schemeClr val="accent1">
                    <a:alpha val="6000"/>
                  </a:schemeClr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5830101" y="3865245"/>
              <a:ext cx="34129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900" b="1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6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248370" y="4450556"/>
              <a:ext cx="1504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Layer / 6 种资源类型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4857750" y="4714875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EDF0F5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027795" y="4828699"/>
              <a:ext cx="19459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画像/资源/路径/辅导/安全/评估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283741" y="5038249"/>
              <a:ext cx="14340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6 种资源覆盖学习全链路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8001000" y="3524250"/>
            <a:ext cx="3238500" cy="1905000"/>
            <a:chOff x="8001000" y="3524250"/>
            <a:chExt cx="3238500" cy="1905000"/>
          </a:xfrm>
        </p:grpSpPr>
        <p:sp>
          <p:nvSpPr>
            <p:cNvPr id="69" name="Rectangle 69"/>
            <p:cNvSpPr/>
            <p:nvPr/>
          </p:nvSpPr>
          <p:spPr>
            <a:xfrm>
              <a:off x="8001000" y="3524250"/>
              <a:ext cx="3238500" cy="1905000"/>
            </a:xfrm>
            <a:prstGeom prst="roundRect">
              <a:avLst>
                <a:gd name="adj" fmla="val 4000"/>
              </a:avLst>
            </a:prstGeom>
            <a:solidFill>
              <a:srgbClr val="E8F0FE"/>
            </a:solidFill>
            <a:ln w="14288">
              <a:solidFill>
                <a:schemeClr val="accent2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001000" y="3524250"/>
              <a:ext cx="3238500" cy="47625"/>
            </a:xfrm>
            <a:prstGeom prst="roundRect">
              <a:avLst>
                <a:gd name="adj" fmla="val 40000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8286750" y="4048125"/>
              <a:ext cx="476250" cy="571500"/>
              <a:chOff x="8286750" y="4048125"/>
              <a:chExt cx="476250" cy="571500"/>
            </a:xfrm>
          </p:grpSpPr>
          <p:sp>
            <p:nvSpPr>
              <p:cNvPr id="71" name="Rectangle 71"/>
              <p:cNvSpPr/>
              <p:nvPr/>
            </p:nvSpPr>
            <p:spPr>
              <a:xfrm>
                <a:off x="8286750" y="4048125"/>
                <a:ext cx="476250" cy="571500"/>
              </a:xfrm>
              <a:prstGeom prst="roundRect">
                <a:avLst>
                  <a:gd name="adj" fmla="val 4000"/>
                </a:avLst>
              </a:prstGeom>
              <a:solidFill>
                <a:schemeClr val="accent2">
                  <a:alpha val="6000"/>
                </a:schemeClr>
              </a:solidFill>
              <a:ln>
                <a:noFill/>
              </a:ln>
            </p:spPr>
          </p:sp>
          <p:sp>
            <p:nvSpPr>
              <p:cNvPr id="72" name="Line 72"/>
              <p:cNvSpPr/>
              <p:nvPr/>
            </p:nvSpPr>
            <p:spPr>
              <a:xfrm>
                <a:off x="8334375" y="4143375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rgbClr val="FFFFFF">
                    <a:alpha val="6000"/>
                  </a:srgbClr>
                </a:solidFill>
              </a:ln>
            </p:spPr>
          </p:sp>
          <p:sp>
            <p:nvSpPr>
              <p:cNvPr id="73" name="Line 73"/>
              <p:cNvSpPr/>
              <p:nvPr/>
            </p:nvSpPr>
            <p:spPr>
              <a:xfrm>
                <a:off x="8334375" y="4238625"/>
                <a:ext cx="333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9525">
                    <a:moveTo>
                      <a:pt x="0" y="0"/>
                    </a:moveTo>
                    <a:lnTo>
                      <a:pt x="333375" y="0"/>
                    </a:lnTo>
                  </a:path>
                </a:pathLst>
              </a:custGeom>
              <a:noFill/>
              <a:ln w="19050">
                <a:solidFill>
                  <a:srgbClr val="FFFFFF">
                    <a:alpha val="6000"/>
                  </a:srgbClr>
                </a:solidFill>
              </a:ln>
            </p:spPr>
          </p:sp>
          <p:sp>
            <p:nvSpPr>
              <p:cNvPr id="74" name="Line 74"/>
              <p:cNvSpPr/>
              <p:nvPr/>
            </p:nvSpPr>
            <p:spPr>
              <a:xfrm>
                <a:off x="8334375" y="4333875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19050">
                <a:solidFill>
                  <a:srgbClr val="FFFFFF">
                    <a:alpha val="6000"/>
                  </a:srgbClr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9212761" y="3819525"/>
              <a:ext cx="81497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chemeClr val="accent2"/>
                  </a:solidFill>
                  <a:latin typeface="Inter"/>
                  <a:ea typeface="Microsoft YaHei"/>
                  <a:cs typeface="Inter"/>
                </a:rPr>
                <a:t>6 份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160192" y="4307681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完整比赛文档</a:t>
              </a:r>
            </a:p>
          </p:txBody>
        </p:sp>
        <p:sp>
          <p:nvSpPr>
            <p:cNvPr id="78" name="Line 78"/>
            <p:cNvSpPr/>
            <p:nvPr/>
          </p:nvSpPr>
          <p:spPr>
            <a:xfrm>
              <a:off x="8477250" y="45720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752299" y="4733449"/>
              <a:ext cx="1735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项目说明书 · 系统开发说明书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732610" y="4942999"/>
              <a:ext cx="17752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测试 · 部署 · 手册 · 开源说明</a:t>
              </a:r>
            </a:p>
          </p:txBody>
        </p:sp>
      </p:grpSp>
      <p:sp>
        <p:nvSpPr>
          <p:cNvPr id="82" name="TextBox 82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22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905000"/>
          </a:xfrm>
          <a:prstGeom prst="rect">
            <a:avLst/>
          </a:prstGeom>
          <a:gradFill>
            <a:gsLst>
              <a:gs pos="0">
                <a:schemeClr val="accent1">
                  <a:alpha val="3000"/>
                </a:schemeClr>
              </a:gs>
              <a:gs pos="100000">
                <a:schemeClr val="lt1">
                  <a:alpha val="0"/>
                </a:schemeClr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0" y="3333750"/>
            <a:ext cx="12858750" cy="4286250"/>
            <a:chOff x="0" y="3333750"/>
            <a:chExt cx="12858750" cy="4286250"/>
          </a:xfrm>
        </p:grpSpPr>
        <p:sp>
          <p:nvSpPr>
            <p:cNvPr id="4" name="Ellipse 4"/>
            <p:cNvSpPr/>
            <p:nvPr/>
          </p:nvSpPr>
          <p:spPr>
            <a:xfrm>
              <a:off x="10001250" y="4762500"/>
              <a:ext cx="2857500" cy="2857500"/>
            </a:xfrm>
            <a:prstGeom prst="ellipse">
              <a:avLst/>
            </a:prstGeom>
            <a:solidFill>
              <a:schemeClr val="accent1">
                <a:alpha val="3000"/>
              </a:schemeClr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3333750"/>
              <a:ext cx="12192000" cy="9525"/>
            </a:xfrm>
            <a:prstGeom prst="rect">
              <a:avLst/>
            </a:prstGeom>
            <a:solidFill>
              <a:schemeClr val="accent1">
                <a:alpha val="3000"/>
              </a:schemeClr>
            </a:solidFill>
            <a:ln>
              <a:noFill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757238" y="283845"/>
            <a:ext cx="20961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225" dirty="0">
                <a:solidFill>
                  <a:schemeClr val="accent2"/>
                </a:solidFill>
                <a:latin typeface="Inter"/>
                <a:ea typeface="Inter"/>
                <a:cs typeface="Inter"/>
              </a:rPr>
              <a:t>07 · APPLICATION VALUE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1332" y="582930"/>
            <a:ext cx="200025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1"/>
                </a:solidFill>
                <a:latin typeface="Inter"/>
                <a:ea typeface="Microsoft YaHei"/>
                <a:cs typeface="Inter"/>
              </a:rPr>
              <a:t>完整的项目交付</a:t>
            </a:r>
          </a:p>
        </p:txBody>
      </p:sp>
      <p:sp>
        <p:nvSpPr>
          <p:cNvPr id="9" name="Line 9"/>
          <p:cNvSpPr/>
          <p:nvPr/>
        </p:nvSpPr>
        <p:spPr>
          <a:xfrm>
            <a:off x="762000" y="95250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20" name="Group 20"/>
          <p:cNvGrpSpPr/>
          <p:nvPr/>
        </p:nvGrpSpPr>
        <p:grpSpPr>
          <a:xfrm>
            <a:off x="762000" y="1333500"/>
            <a:ext cx="3238500" cy="1047750"/>
            <a:chOff x="762000" y="1333500"/>
            <a:chExt cx="3238500" cy="1047750"/>
          </a:xfrm>
        </p:grpSpPr>
        <p:sp>
          <p:nvSpPr>
            <p:cNvPr id="10" name="Rectangle 10"/>
            <p:cNvSpPr/>
            <p:nvPr/>
          </p:nvSpPr>
          <p:spPr>
            <a:xfrm>
              <a:off x="762000" y="1333500"/>
              <a:ext cx="3238500" cy="104775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333500"/>
              <a:ext cx="57150" cy="1047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3524250" y="1524000"/>
              <a:ext cx="285750" cy="361950"/>
              <a:chOff x="3524250" y="1524000"/>
              <a:chExt cx="285750" cy="3619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524250" y="1524000"/>
                <a:ext cx="285750" cy="361950"/>
              </a:xfrm>
              <a:prstGeom prst="roundRect">
                <a:avLst>
                  <a:gd name="adj" fmla="val 6667"/>
                </a:avLst>
              </a:prstGeom>
              <a:solidFill>
                <a:schemeClr val="accent1">
                  <a:alpha val="8000"/>
                </a:schemeClr>
              </a:solidFill>
              <a:ln>
                <a:noFill/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3562350" y="1600200"/>
                <a:ext cx="209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9525">
                    <a:moveTo>
                      <a:pt x="0" y="0"/>
                    </a:moveTo>
                    <a:lnTo>
                      <a:pt x="209550" y="0"/>
                    </a:lnTo>
                  </a:path>
                </a:pathLst>
              </a:custGeom>
              <a:noFill/>
              <a:ln w="14288">
                <a:solidFill>
                  <a:srgbClr val="FFFFFF">
                    <a:alpha val="8000"/>
                  </a:srgbClr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3562350" y="167640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4288">
                <a:solidFill>
                  <a:srgbClr val="FFFFFF">
                    <a:alpha val="8000"/>
                  </a:srgbClr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3562350" y="1752600"/>
                <a:ext cx="209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9525">
                    <a:moveTo>
                      <a:pt x="0" y="0"/>
                    </a:moveTo>
                    <a:lnTo>
                      <a:pt x="209550" y="0"/>
                    </a:lnTo>
                  </a:path>
                </a:pathLst>
              </a:custGeom>
              <a:noFill/>
              <a:ln w="14288">
                <a:solidFill>
                  <a:srgbClr val="FFFFFF">
                    <a:alpha val="8000"/>
                  </a:srgbClr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984123" y="1557814"/>
              <a:ext cx="11114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01 项目说明书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5647" y="1847374"/>
              <a:ext cx="2503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项目背景、目标用户、创新价值、技术实现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5838" y="2074545"/>
              <a:ext cx="27113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涵盖五大痛点分析 · 目标用户定义 · 赛题对应关系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81500" y="1333500"/>
            <a:ext cx="3238500" cy="1047750"/>
            <a:chOff x="4381500" y="1333500"/>
            <a:chExt cx="3238500" cy="1047750"/>
          </a:xfrm>
        </p:grpSpPr>
        <p:sp>
          <p:nvSpPr>
            <p:cNvPr id="21" name="Rectangle 21"/>
            <p:cNvSpPr/>
            <p:nvPr/>
          </p:nvSpPr>
          <p:spPr>
            <a:xfrm>
              <a:off x="4381500" y="1333500"/>
              <a:ext cx="3238500" cy="104775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381500" y="1333500"/>
              <a:ext cx="57150" cy="10477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143750" y="1524000"/>
              <a:ext cx="285750" cy="361950"/>
              <a:chOff x="7143750" y="1524000"/>
              <a:chExt cx="285750" cy="3619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7143750" y="1524000"/>
                <a:ext cx="285750" cy="361950"/>
              </a:xfrm>
              <a:prstGeom prst="roundRect">
                <a:avLst>
                  <a:gd name="adj" fmla="val 6667"/>
                </a:avLst>
              </a:prstGeom>
              <a:solidFill>
                <a:schemeClr val="accent2">
                  <a:alpha val="8000"/>
                </a:schemeClr>
              </a:solidFill>
              <a:ln>
                <a:noFill/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7181850" y="1600200"/>
                <a:ext cx="209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9525">
                    <a:moveTo>
                      <a:pt x="0" y="0"/>
                    </a:moveTo>
                    <a:lnTo>
                      <a:pt x="209550" y="0"/>
                    </a:lnTo>
                  </a:path>
                </a:pathLst>
              </a:custGeom>
              <a:noFill/>
              <a:ln w="14288">
                <a:solidFill>
                  <a:srgbClr val="FFFFFF">
                    <a:alpha val="8000"/>
                  </a:srgbClr>
                </a:solidFill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7181850" y="1676400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4288">
                <a:solidFill>
                  <a:srgbClr val="FFFFFF">
                    <a:alpha val="8000"/>
                  </a:srgbClr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7181850" y="175260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4288">
                <a:solidFill>
                  <a:srgbClr val="FFFFFF">
                    <a:alpha val="8000"/>
                  </a:srgbClr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4603623" y="1557814"/>
              <a:ext cx="1454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02 系统开发说明书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05147" y="1847374"/>
              <a:ext cx="2503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架构设计、分层职责、模块说明、目录结构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05338" y="2074545"/>
              <a:ext cx="2211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9 层架构 · 16 API 路由 · 20+ 服务模块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001000" y="1333500"/>
            <a:ext cx="3238500" cy="1047750"/>
            <a:chOff x="8001000" y="1333500"/>
            <a:chExt cx="3238500" cy="1047750"/>
          </a:xfrm>
        </p:grpSpPr>
        <p:sp>
          <p:nvSpPr>
            <p:cNvPr id="32" name="Rectangle 32"/>
            <p:cNvSpPr/>
            <p:nvPr/>
          </p:nvSpPr>
          <p:spPr>
            <a:xfrm>
              <a:off x="8001000" y="1333500"/>
              <a:ext cx="3238500" cy="104775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8001000" y="1333500"/>
              <a:ext cx="57150" cy="1047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10763250" y="1524000"/>
              <a:ext cx="285750" cy="361950"/>
              <a:chOff x="10763250" y="1524000"/>
              <a:chExt cx="285750" cy="3619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10763250" y="1524000"/>
                <a:ext cx="285750" cy="361950"/>
              </a:xfrm>
              <a:prstGeom prst="roundRect">
                <a:avLst>
                  <a:gd name="adj" fmla="val 6667"/>
                </a:avLst>
              </a:prstGeom>
              <a:solidFill>
                <a:schemeClr val="accent1">
                  <a:alpha val="8000"/>
                </a:schemeClr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0853383" y="1632585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>
                        <a:alphaMod val="8000"/>
                      </a:srgbClr>
                    </a:solidFill>
                    <a:latin typeface="Inter"/>
                    <a:ea typeface="Inter"/>
                    <a:cs typeface="Inter"/>
                  </a:rPr>
                  <a:t>✓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23123" y="1557814"/>
              <a:ext cx="11114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03 测试说明书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24647" y="1847374"/>
              <a:ext cx="23724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测试策略、测试用例、执行结果、覆盖率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24838" y="2074545"/>
              <a:ext cx="18753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188 pytest passed · 32 测试文件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62000" y="2619375"/>
            <a:ext cx="3238500" cy="1047750"/>
            <a:chOff x="762000" y="2619375"/>
            <a:chExt cx="3238500" cy="1047750"/>
          </a:xfrm>
        </p:grpSpPr>
        <p:sp>
          <p:nvSpPr>
            <p:cNvPr id="41" name="Rectangle 41"/>
            <p:cNvSpPr/>
            <p:nvPr/>
          </p:nvSpPr>
          <p:spPr>
            <a:xfrm>
              <a:off x="762000" y="2619375"/>
              <a:ext cx="3238500" cy="104775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62000" y="2619375"/>
              <a:ext cx="57150" cy="10477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3524250" y="2809875"/>
              <a:ext cx="285750" cy="361950"/>
              <a:chOff x="3524250" y="2809875"/>
              <a:chExt cx="285750" cy="36195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3524250" y="2809875"/>
                <a:ext cx="285750" cy="361950"/>
              </a:xfrm>
              <a:prstGeom prst="roundRect">
                <a:avLst>
                  <a:gd name="adj" fmla="val 6667"/>
                </a:avLst>
              </a:prstGeom>
              <a:solidFill>
                <a:schemeClr val="accent2">
                  <a:alpha val="8000"/>
                </a:schemeClr>
              </a:solidFill>
              <a:ln>
                <a:noFill/>
              </a:ln>
            </p:spPr>
          </p:sp>
          <p:sp>
            <p:nvSpPr>
              <p:cNvPr id="44" name="Ellipse 44"/>
              <p:cNvSpPr/>
              <p:nvPr/>
            </p:nvSpPr>
            <p:spPr>
              <a:xfrm>
                <a:off x="3619500" y="2905125"/>
                <a:ext cx="95250" cy="95250"/>
              </a:xfrm>
              <a:prstGeom prst="ellipse">
                <a:avLst/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</p:sp>
          <p:sp>
            <p:nvSpPr>
              <p:cNvPr id="45" name="Line 45"/>
              <p:cNvSpPr/>
              <p:nvPr/>
            </p:nvSpPr>
            <p:spPr>
              <a:xfrm>
                <a:off x="3600450" y="2952750"/>
                <a:ext cx="1333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0">
                    <a:moveTo>
                      <a:pt x="0" y="95250"/>
                    </a:moveTo>
                    <a:lnTo>
                      <a:pt x="133350" y="0"/>
                    </a:lnTo>
                  </a:path>
                </a:pathLst>
              </a:custGeom>
              <a:noFill/>
              <a:ln w="14288">
                <a:solidFill>
                  <a:srgbClr val="FFFFFF">
                    <a:alpha val="8000"/>
                  </a:srgbClr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984123" y="2843689"/>
              <a:ext cx="11114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04 部署说明书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5647" y="3133249"/>
              <a:ext cx="2503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部署架构、环境要求、启动方式、配置说明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85838" y="3360420"/>
              <a:ext cx="20186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Windows 一键启动 · 前后端分离部署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381500" y="2619375"/>
            <a:ext cx="3238500" cy="1047750"/>
            <a:chOff x="4381500" y="2619375"/>
            <a:chExt cx="3238500" cy="1047750"/>
          </a:xfrm>
        </p:grpSpPr>
        <p:sp>
          <p:nvSpPr>
            <p:cNvPr id="51" name="Rectangle 51"/>
            <p:cNvSpPr/>
            <p:nvPr/>
          </p:nvSpPr>
          <p:spPr>
            <a:xfrm>
              <a:off x="4381500" y="2619375"/>
              <a:ext cx="3238500" cy="104775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4381500" y="2619375"/>
              <a:ext cx="57150" cy="1047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143750" y="2809875"/>
              <a:ext cx="285750" cy="361950"/>
              <a:chOff x="7143750" y="2809875"/>
              <a:chExt cx="285750" cy="36195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7143750" y="2809875"/>
                <a:ext cx="285750" cy="361950"/>
              </a:xfrm>
              <a:prstGeom prst="roundRect">
                <a:avLst>
                  <a:gd name="adj" fmla="val 6667"/>
                </a:avLst>
              </a:prstGeom>
              <a:solidFill>
                <a:schemeClr val="accent1">
                  <a:alpha val="8000"/>
                </a:schemeClr>
              </a:solidFill>
              <a:ln>
                <a:noFill/>
              </a:ln>
            </p:spPr>
          </p:sp>
          <p:sp>
            <p:nvSpPr>
              <p:cNvPr id="54" name="Line 54"/>
              <p:cNvSpPr/>
              <p:nvPr/>
            </p:nvSpPr>
            <p:spPr>
              <a:xfrm>
                <a:off x="7219950" y="2924175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4288">
                <a:solidFill>
                  <a:srgbClr val="FFFFFF">
                    <a:alpha val="8000"/>
                  </a:srgbClr>
                </a:solidFill>
              </a:ln>
            </p:spPr>
          </p:sp>
          <p:sp>
            <p:nvSpPr>
              <p:cNvPr id="55" name="Line 55"/>
              <p:cNvSpPr/>
              <p:nvPr/>
            </p:nvSpPr>
            <p:spPr>
              <a:xfrm>
                <a:off x="7219950" y="3000375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4288">
                <a:solidFill>
                  <a:srgbClr val="FFFFFF">
                    <a:alpha val="8000"/>
                  </a:srgbClr>
                </a:solidFill>
              </a:ln>
            </p:spPr>
          </p:sp>
          <p:sp>
            <p:nvSpPr>
              <p:cNvPr id="56" name="Line 56"/>
              <p:cNvSpPr/>
              <p:nvPr/>
            </p:nvSpPr>
            <p:spPr>
              <a:xfrm>
                <a:off x="7219950" y="3076575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4288">
                <a:solidFill>
                  <a:srgbClr val="FFFFFF">
                    <a:alpha val="8000"/>
                  </a:srgbClr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4603623" y="2843689"/>
              <a:ext cx="12830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05 用户操作手册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605147" y="3133249"/>
              <a:ext cx="2503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功能说明、操作步骤、常见问题、系统截图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605338" y="3360420"/>
              <a:ext cx="18329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30+ 页面 · 70+ 组件完整操作指南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8001000" y="2619375"/>
            <a:ext cx="3238500" cy="1047750"/>
            <a:chOff x="8001000" y="2619375"/>
            <a:chExt cx="3238500" cy="1047750"/>
          </a:xfrm>
        </p:grpSpPr>
        <p:sp>
          <p:nvSpPr>
            <p:cNvPr id="62" name="Rectangle 62"/>
            <p:cNvSpPr/>
            <p:nvPr/>
          </p:nvSpPr>
          <p:spPr>
            <a:xfrm>
              <a:off x="8001000" y="2619375"/>
              <a:ext cx="3238500" cy="104775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8001000" y="2619375"/>
              <a:ext cx="57150" cy="10477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10810875" y="2857500"/>
              <a:ext cx="190500" cy="285750"/>
              <a:chOff x="10810875" y="2857500"/>
              <a:chExt cx="190500" cy="28575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10810875" y="2857500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95250"/>
                    </a:moveTo>
                    <a:lnTo>
                      <a:pt x="95250" y="0"/>
                    </a:lnTo>
                    <a:lnTo>
                      <a:pt x="190500" y="95250"/>
                    </a:lnTo>
                  </a:path>
                </a:pathLst>
              </a:custGeom>
              <a:noFill/>
              <a:ln w="19050">
                <a:solidFill>
                  <a:schemeClr val="accent2">
                    <a:alpha val="8000"/>
                  </a:schemeClr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10810875" y="3048000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0"/>
                    </a:moveTo>
                    <a:lnTo>
                      <a:pt x="95250" y="95250"/>
                    </a:ln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chemeClr val="accent2">
                    <a:alpha val="8000"/>
                  </a:schemeClr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8223123" y="2843689"/>
              <a:ext cx="13277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06 开源与AI说明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224647" y="3133249"/>
              <a:ext cx="19534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第三方依赖、AI Coding 使用说明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224838" y="3360420"/>
              <a:ext cx="22690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THIRD_PARTY_LICENSES · 开发工具声明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762000" y="4000500"/>
            <a:ext cx="10668000" cy="841057"/>
            <a:chOff x="762000" y="4000500"/>
            <a:chExt cx="10668000" cy="841057"/>
          </a:xfrm>
        </p:grpSpPr>
        <p:sp>
          <p:nvSpPr>
            <p:cNvPr id="71" name="Rectangle 71"/>
            <p:cNvSpPr/>
            <p:nvPr/>
          </p:nvSpPr>
          <p:spPr>
            <a:xfrm>
              <a:off x="762000" y="4000500"/>
              <a:ext cx="10668000" cy="809625"/>
            </a:xfrm>
            <a:prstGeom prst="roundRect">
              <a:avLst>
                <a:gd name="adj" fmla="val 941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762000" y="4000500"/>
              <a:ext cx="57150" cy="80962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84885" y="4164806"/>
              <a:ext cx="7686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Inter"/>
                  <a:ea typeface="Microsoft YaHei"/>
                  <a:cs typeface="Inter"/>
                </a:rPr>
                <a:t>技术栈总览</a:t>
              </a:r>
            </a:p>
          </p:txBody>
        </p:sp>
        <p:sp>
          <p:nvSpPr>
            <p:cNvPr id="74" name="Line 74"/>
            <p:cNvSpPr/>
            <p:nvPr/>
          </p:nvSpPr>
          <p:spPr>
            <a:xfrm>
              <a:off x="990600" y="4400550"/>
              <a:ext cx="10248900" cy="9525"/>
            </a:xfrm>
            <a:custGeom>
              <a:avLst/>
              <a:gdLst/>
              <a:ahLst/>
              <a:cxnLst/>
              <a:rect l="l" t="t" r="r" b="b"/>
              <a:pathLst>
                <a:path w="10248900" h="9525">
                  <a:moveTo>
                    <a:pt x="0" y="0"/>
                  </a:moveTo>
                  <a:lnTo>
                    <a:pt x="102489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85838" y="4522470"/>
              <a:ext cx="423787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前端：Vue 3 + TypeScript + Element Plus + CodeMirror + Mermaid + D3.js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85838" y="4665345"/>
              <a:ext cx="57274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Inter"/>
                  <a:ea typeface="Microsoft YaHei"/>
                  <a:cs typeface="Inter"/>
                </a:rPr>
                <a:t>后端：FastAPI + Python + SQLAlchemy 2.0 | AI：讯飞星火 + 自研 DAG | OJ：subprocess + GDB + AST</a:t>
              </a:r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1140035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23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5962650" y="0"/>
            <a:ext cx="266700" cy="6858000"/>
          </a:xfrm>
          <a:custGeom>
            <a:avLst/>
            <a:gdLst/>
            <a:ahLst/>
            <a:cxnLst/>
            <a:rect l="l" t="t" r="r" b="b"/>
            <a:pathLst>
              <a:path w="266700" h="6858000">
                <a:moveTo>
                  <a:pt x="0" y="0"/>
                </a:moveTo>
                <a:lnTo>
                  <a:pt x="266700" y="0"/>
                </a:lnTo>
                <a:lnTo>
                  <a:pt x="2667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742950" y="1451610"/>
            <a:ext cx="2867854" cy="1968246"/>
            <a:chOff x="742950" y="1451610"/>
            <a:chExt cx="2867854" cy="1968246"/>
          </a:xfrm>
        </p:grpSpPr>
        <p:sp>
          <p:nvSpPr>
            <p:cNvPr id="5" name="TextBox 5"/>
            <p:cNvSpPr txBox="1"/>
            <p:nvPr/>
          </p:nvSpPr>
          <p:spPr>
            <a:xfrm>
              <a:off x="742950" y="1451610"/>
              <a:ext cx="286785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Thank You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55142" y="2283142"/>
              <a:ext cx="1918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Inter"/>
                  <a:ea typeface="Microsoft YaHei"/>
                  <a:cs typeface="Inter"/>
                </a:rPr>
                <a:t>AlgoPilot — 算法领航员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26670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5904" y="2918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从不会到掌握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5904" y="3185160"/>
              <a:ext cx="25476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Inter"/>
                  <a:ea typeface="Microsoft YaHei"/>
                  <a:cs typeface="Inter"/>
                </a:rPr>
                <a:t>AlgoPilot 陪每个学习者走过每一步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56666" y="5792152"/>
            <a:ext cx="15116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2"/>
                </a:solidFill>
                <a:latin typeface="Inter"/>
                <a:ea typeface="Microsoft YaHei"/>
                <a:cs typeface="Inter"/>
              </a:rPr>
              <a:t>软件杯 A3 赛题 · 2026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8191500" y="1524000"/>
            <a:ext cx="2286000" cy="2286000"/>
            <a:chOff x="8191500" y="1524000"/>
            <a:chExt cx="2286000" cy="2286000"/>
          </a:xfrm>
        </p:grpSpPr>
        <p:sp>
          <p:nvSpPr>
            <p:cNvPr id="12" name="Ellipse 12"/>
            <p:cNvSpPr/>
            <p:nvPr/>
          </p:nvSpPr>
          <p:spPr>
            <a:xfrm>
              <a:off x="8191500" y="1524000"/>
              <a:ext cx="2286000" cy="2286000"/>
            </a:xfrm>
            <a:prstGeom prst="ellipse">
              <a:avLst/>
            </a:prstGeom>
            <a:noFill/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8572500" y="1905000"/>
              <a:ext cx="1524000" cy="1524000"/>
            </a:xfrm>
            <a:prstGeom prst="ellipse">
              <a:avLst/>
            </a:prstGeom>
            <a:noFill/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8953500" y="2286000"/>
              <a:ext cx="762000" cy="762000"/>
            </a:xfrm>
            <a:prstGeom prst="ellipse">
              <a:avLst/>
            </a:prstGeom>
            <a:noFill/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9191625" y="2524125"/>
              <a:ext cx="285750" cy="285750"/>
            </a:xfrm>
            <a:prstGeom prst="ellipse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8191500" y="26670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4762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9334500" y="15240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4762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0115550" y="3448050"/>
              <a:ext cx="57150" cy="5715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8496300" y="3448050"/>
              <a:ext cx="57150" cy="5715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0115550" y="1828800"/>
              <a:ext cx="57150" cy="5715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8496300" y="1828800"/>
              <a:ext cx="57150" cy="5715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11019358" y="6427470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24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E2024"/>
      </a:dk1>
      <a:lt1>
        <a:srgbClr val="F7F8FA"/>
      </a:lt1>
      <a:dk2>
        <a:srgbClr val="6B7280"/>
      </a:dk2>
      <a:lt2>
        <a:srgbClr val="EDF0F5"/>
      </a:lt2>
      <a:accent1>
        <a:srgbClr val="1B2A4A"/>
      </a:accent1>
      <a:accent2>
        <a:srgbClr val="2D7DD2"/>
      </a:accent2>
      <a:accent3>
        <a:srgbClr val="4A9FE5"/>
      </a:accent3>
      <a:accent4>
        <a:srgbClr val="D1D5DB"/>
      </a:accent4>
      <a:accent5>
        <a:srgbClr val="9CA3AF"/>
      </a:accent5>
      <a:accent6>
        <a:srgbClr val="10B981"/>
      </a:accent6>
      <a:hlink>
        <a:srgbClr val="2D7DD2"/>
      </a:hlink>
      <a:folHlink>
        <a:srgbClr val="4A9FE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2026-07-12T10:13:54Z</dcterms:created>
  <dcterms:modified xsi:type="dcterms:W3CDTF">2026-07-12T10:13:54Z</dcterms:modified>
  <cp:category/>
  <cp:contentStatus/>
</cp:coreProperties>
</file>